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al Día 3 y marcar el giro temático: del reconocimiento pasivo (Sesiones 2-4) al manejo responsable de evidencias.
NOTAS DETALLADAS DEL EXPOSITOR:
Esta sesión abre el Día 3, que también incluye el inicio de la Sesión 6 (Burp Suite) en la tarde; la Sesión 6 cierra al día siguiente (Día 4, mañana) con la Evaluación Formativa 3. A diferencia de las tres sesiones anteriores, hoy el objeto de estudio no es infraestructura de red sino el historial de un sistema de control de versiones (Git) — pero se mantiene exactamente la misma disciplina de documentación con fuente, fecha y nivel de confianza practicada en OSINT y subdominios.
EJEMPLO O ANALOGÍA:
Ninguno; es la portada de apertura.
PREGUNTA DE PARTICIPACIÓN:
¿Alguien ha usado Git antes? ¿Para qué lo ha usado?
TRANSICIÓN A LA SIGUIENTE DIAPOSITIVA:
Pasar a la agenda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mental de la jornada más corta del curso antes de entrar en materia.
NOTAS DETALLADAS DEL EXPOSITOR:
Con solo 3 horas disponibles, la pausa se acorta a 10 minutos (frente a los 15 de sesiones anteriores) para dejar más tiempo al bloque práctico, que es denso: cinco comandos de Git distintos más la Evaluación Formativa 2.
EJEMPLO O ANALOGÍA:
No aplica.
PREGUNTA DE PARTICIPACIÓN:
¿Alguna pregunta logística antes de comenzar?
TRANSICIÓN A LA SIGUIENTE DIAPOSITIVA:
Iniciar con la recuperación de dudas de la Sesión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dudas pendientes de la Sesión 4 antes de construir sobre esa base.
NOTAS DETALLADAS DEL EXPOSITOR:
Usar el registro de la encuesta de comprensión y bitácora de la Sesión 4 como insumo real. Conectar explícitamente: la disciplina de documentar fuente y fecha vista en OSINT y subdominios se aplica hoy a cada commit examinado en el historial de Git.
EJEMPLO O ANALOGÍA:
No aplica.
PREGUNTA DE PARTICIPACIÓN:
¿Qué fue lo que registraron como duda pendiente sobre subdominios?
TRANSICIÓN A LA SIGUIENTE DIAPOSITIVA:
Entrar de lleno a los conceptos básicos de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el vocabulario básico de Git, contenido obligatorio de la Fase 2, Sesión 5, necesario para entender todo lo que sigue.
NOTAS DETALLADAS DEL EXPOSITOR:
Concepto obligatorio de la Fase 2, Sesión 5. Este curso no enseña Git como herramienta de desarrollo colaborativo (merge, pull requests, resolución de conflictos): el uso aquí es exclusivamente forense/analítico, para examinar qué información quedó registrada en un historial ya existente.
EJEMPLO O ANALOGÍA:
El working directory es el escritorio donde trabajas; el staging es la caja donde separas lo que vas a enviar; el commit es el paquete ya sellado y archivado con fecha.
PREGUNTA DE PARTICIPACIÓN:
Si guardan un archivo en su computadora pero no hacen 'git add' ni 'git commit', ¿ese cambio queda en el historial?
TRANSICIÓN A LA SIGUIENTE DIAPOSITIVA:
Ver ahora un matiz crítico: qué pasa cuando un archivo se 'elimina' de un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el concepto central de la sesión: eliminar un archivo del estado actual no lo elimina del historial de commits, contenido obligatorio de la Fase 2.
NOTAS DETALLADAS DEL EXPOSITOR:
Pregunta difícil del banco de la Fase 2 (P1 y P3 de Sesión 5): si el secreto ya no está en el archivo actual, sigue siendo un problema mientras el commit que lo contiene siga en el historial (y no se haya purgado y forzado a todos los clones); el .gitignore solo evita el rastreo a partir de ese momento, no borra lo ya registrado en commits anteriores. Este es exactamente el escenario que se practicará con el repositorio académico: un .env agregado accidentalmente y luego 'eliminado' sin limpiar el historial.
EJEMPLO O ANALOGÍA:
Es como arrancar una página de un cuaderno pero dejar todas las fotocopias anteriores archivadas: la página ya no está en el cuaderno actual, pero sigue existiendo en las copias.
PREGUNTA DE PARTICIPACIÓN:
Ver la comprobación rápida en la siguiente diapositiva.
TRANSICIÓN A LA SIGUIENTE DIAPOSITIVA:
Comprobar la comprensión de este concepto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que el grupo internalizó el concepto central antes de avanzar a metadatos y tipos de secretos.
NOTAS DETALLADAS DEL EXPOSITOR:
Respuesta correcta: B. .gitignore es una instrucción hacia adelante, no una operación retroactiva sobre el historial ya registrado. Si algún participante duda, remitir a la diapositiva anterior (Commit 4 del repositorio de práctica hace exactamente esto).
EJEMPLO O ANALOGÍA:
No aplica.
PREGUNTA DE PARTICIPACIÓN:
No aplica.
TRANSICIÓN A LA SIGUIENTE DIAPOSITIVA:
Ver ahora qué información adicional puede filtrar el metadato de cada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Mostrar que la fuga de información en un repositorio no se limita al contenido de los archivos: los metadatos del commit también son una fuente de reconocimiento.
NOTAS DETALLADAS DEL EXPOSITOR:
Concepto obligatorio de la Fase 2, Sesión 5. Vincular con la Sesión 3 (OSINT): un correo de autor filtrado en metadatos de commit es, en esencia, el mismo tipo de hallazgo de infraestructura/organización que se buscaba con WHOIS, pero obtenido de una fuente distinta.
EJEMPLO O ANALOGÍA:
Es como el membrete y la firma de una carta: aunque el contenido sea inocuo, el remitente y la fecha ya revelan información.
PREGUNTA DE PARTICIPACIÓN:
¿Qué podría inferir alguien si ve que todos los commits de un repositorio se hacen entre la 1 y las 4 de la madrugada?
TRANSICIÓN A LA SIGUIENTE DIAPOSITIVA:
Ver ahora los tipos de secretos que más comúnmente aparecen expuestos en un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los tipos de secretos y sus ubicaciones típicas, contenido obligatorio de la Fase 2, Sesión 5, que se buscarán en el repositorio de práctica.
NOTAS DETALLADAS DEL EXPOSITOR:
Concepto obligatorio de la Fase 2, Sesión 5. El repositorio académico del Laboratorio 4 (Fase 4) incluye exactamente estos dos casos: un archivo .env con DB_PASSWORD y API_KEY ficticios, y una segunda credencial (STRIPE_TEST_KEY) en la rama feature/pagos — ambos con valores explícitamente marcados como FAKE para uso exclusivamente académico.
EJEMPLO O ANALOGÍA:
Un archivo .env es como una libreta con las llaves de la casa escrita adentro, guardada por accidente junto con documentos que sí se comparten públicamente.
PREGUNTA DE PARTICIPACIÓN:
¿Por qué un archivo .env es un lugar tan común para que esto ocurra por accidente?
TRANSICIÓN A LA SIGUIENTE DIAPOSITIVA:
Antes de buscar estos secretos, establecer el límite ético de qué hacer con lo que se encuentra.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Activar la discusión sobre el límite ético central de la sesión antes de presentarlo de forma explícita.
NOTAS DETALLADAS DEL EXPOSITOR:
Respuesta de referencia: validar una credencial implica interactuar activamente con un sistema (posiblemente productivo o fuera de alcance autorizado), lo cual excede el rol de documentar un hallazgo. El principio general del curso (Sesión 1: alcance autorizado) aplica igual aquí — descubrir no es lo mismo que explotar.
EJEMPLO O ANALOGÍA:
Es como encontrar una llave olvidada en una cerradura ajena: se reporta que está ahí, no se prueba si abre la puerta.
PREGUNTA DE PARTICIPACIÓN:
Ver la diapositiva.
TRANSICIÓN A LA SIGUIENTE DIAPOSITIVA:
Formalizar esta distinción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el límite ético central de la sesión: la diferencia entre documentar un hallazgo y explotarlo o difundirlo, contenido obligatorio de la Fase 2.
NOTAS DETALLADAS DEL EXPOSITOR:
Pregunta difícil del banco de la Fase 2 (P4 y P5 de Sesión 5): si esto ocurriera con credenciales reales fuera del aula, se reporta de inmediato por el canal formal correspondiente, sin usarla ni divulgarla — mismo principio de manejo responsable ya discutido.
EJEMPLO O ANALOGÍA:
No aplica; ya cubierto en la discusión anterior.
PREGUNTA DE PARTICIPACIÓN:
No aplica.
TRANSICIÓN A LA SIGUIENTE DIAPOSITIVA:
Ver ahora qué se hace una vez que un secreto expuesto ha sido confirmado: el concepto de saneamiento.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las tres acciones de saneamiento (rotar, purgar, prevenir) como complementarias, no intercambiables, contenido obligatorio de la Fase 2.
NOTAS DETALLADAS DEL EXPOSITOR:
Pregunta difícil del banco de la Fase 2 (P2 de Sesión 5): rotar y limpiar el historial son ambas necesarias — rotar neutraliza el riesgo inmediato, limpiar el historial reduce la exposición futura, pero no revierte que la credencial antigua ya pudo haber sido vista. git filter-repo o BFG Repo-Cleaner no bastan por sí solos porque reescriben el historial local, pero no invalidan la credencial ya expuesta ni alcanzan clones ya distribuidos sin una reescritura forzada coordinada.
EJEMPLO O ANALOGÍA:
Cambiar la cerradura (rotar) sin buscar todas las copias de la llave vieja en circulación (purgar) deja el riesgo a medias; y ninguna de las dos evita que vuelva a pasar sin un control preventivo (.gitignore, hooks).
PREGUNTA DE PARTICIPACIÓN:
¿Por qué 'solo purgar el historial' sin rotar la credencial sigue siendo insuficiente?
TRANSICIÓN A LA SIGUIENTE DIAPOSITIVA:
Pausa antes de la demostración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descanso breve entre el bloque conceptual y la demostración práctica, ajustado a la jornada más corta de 3 horas.
NOTAS DETALLADAS DEL EXPOSITOR:
Aprovechar para verificar que el repositorio académico portal-activos-bacci-demo (construido según el diseño de la Fase 4, sección 1.2, con al menos 6 commits en main y la rama feature/pagos) está clonado y accesible en todas las VM.
PREGUNTA DE PARTICIPACIÓN:
No aplica durante la pausa.
TRANSICIÓN A LA SIGUIENTE DIAPOSITIVA:
Retomar con la demostración de comandos de exploración de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los cinco comandos de exploración de historial del Laboratorio 4 (Fase 4), sobre el repositorio académico.
NOTAS DETALLADAS DEL EXPOSITOR:
Contenido obligatorio de la Fase 2, Sesión 5 (bloque práctico), alineado exactamente con los comandos del Laboratorio 4. Error común documentado en Fase 2 a anticipar explícitamente: ejecutar estos comandos en el repositorio equivocado, mezclando el repo real del instructor con el de laboratorio — verificar siempre con git remote -v y pwd antes de empezar la demo. git log -S (conocido como 'pickaxe') es la herramienta más directa para encontrar cuándo un secreto entró o salió del código.
EJEMPLO O ANALOGÍA:
git log -S es como buscar en un archivo de correspondencia completo la única carta donde se mencionó por primera (o última) vez una palabra específica.
COMANDO / DEMOSTRACIÓN:
git log --oneline --all &amp;&amp; git log --all -- .env &amp;&amp; git show &lt;commit&gt;:.env &amp;&amp; git branch -a &amp;&amp; git log -S"API_KEY" --all
PREGUNTA DE PARTICIPACIÓN:
Ver la comprobación rápida en unas diapositivas.
TRANSICIÓN A LA SIGUIENTE DIAPOSITIVA:
Antes del ejercicio, conocer cómo está construido el repositorio de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la construcción intencional del repositorio de práctica (al menos 6 commits en main + rama feature/pagos, según el Laboratorio 4), para que el grupo entienda qué está buscando antes del ejercicio.
NOTAS DETALLADAS DEL EXPOSITOR:
El repositorio se construye según el diseño exacto de la Fase 4 (sección 1.2). El instructor debe haberlo construido y resuelto personalmente antes del curso, cronometrando el tiempo, y verificado exhaustivamente que ningún dato real quede mezclado con los datos ficticios.
EJEMPLO O ANALOGÍA:
Es el mismo tipo de caso controlado que el dataset de subdominios de la Sesión 4: errores reales del mundo profesional, reproducidos deliberadamente en un entorno cien por ciento seguro.
PREGUNTA DE PARTICIPACIÓN:
¿Por qué el commit que agrega .env a .gitignore NO resuelve el problema del commit 3?
TRANSICIÓN A LA SIGUIENTE DIAPOSITIVA:
Ver ahora cómo se documenta correctamente el hallazgo una vez localizado.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Formalizar en una plantilla el principio de evidencia responsable ya visto: documentar sin exponer el secreto completo, incluyendo el impacto potencial que evalúa la rúbrica de EF2.
NOTAS DETALLADAS DEL EXPOSITOR:
Esta plantilla aplica el mismo criterio de cadena de evidencia visto en la Sesión 3 (fuente, fecha, verificabilidad), adaptado a hallazgos de código: aquí la 'fuente' es el hash del commit exacto, que es tan preciso y verificable como una URL. La rúbrica de la Fase 6 (EF2) califica explícitamente 'Clasificación de impacto' como un criterio independiente de la localización.
EJEMPLO O ANALOGÍA:
Es como redactar un reporte de un objeto perdido con número de serie parcialmente oculto: suficiente para identificarlo con certeza, sin publicar el dato completo.
PREGUNTA DE PARTICIPACIÓN:
¿Por qué registrar el hash del commit es más preciso que solo decir 'el secreto está en el archivo .env'?
TRANSICIÓN A LA SIGUIENTE DIAPOSITIVA:
Comprobar la comprensión antes de pasar a los errores comunes.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Confirmar que el grupo distingue cuándo usar cada comando según qué pista tienen disponible, antes del ejercicio evaluado.
NOTAS DETALLADAS DEL EXPOSITOR:
Respuesta correcta: B. git log --all -- .env es el comando más directo cuando ya se conoce el nombre del archivo: muestra todos los commits que lo tocaron en cualquier rama. git log -S es más útil cuando se busca un patrón de texto sin saber en qué archivo está.
EJEMPLO O ANALOGÍA:
No aplica.
PREGUNTA DE PARTICIPACIÓN:
No aplica.
TRANSICIÓN A LA SIGUIENTE DIAPOSITIVA:
Repasar los errores comunes antes de la evaluación formativa.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Repasar explícitamente los errores comunes documentados en la Fase 2 antes de que el grupo trabaje de forma autónoma en la EF2.
NOTAS DETALLADAS DEL EXPOSITOR:
Los primeros tres errores están tomados directamente del banco de errores comunes de la Fase 2, Sesión 5; el cuarto proviene del Laboratorio 4 (Fase 4): 'Recalcar que --all es obligatorio para revisar todas las ramas, no solo la actual.'
EJEMPLO O ANALOGÍA:
No aplica.
PREGUNTA DE PARTICIPACIÓN:
¿Por qué alguien que clona el repositorio hoy, por primera vez, igual podría encontrar el secreto del commit 3?
TRANSICIÓN A LA SIGUIENTE DIAPOSITIVA:
Practicar individualmente antes del ejercicio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Asegurar que cada participante, no solo cada pareja, sabe ejecutar los comandos básicos antes de la actividad evaluada, siguiendo el patrón de práctica individual ya usado en sesiones anteriores.
NOTAS DETALLADAS DEL EXPOSITOR:
Si algún participante no ve la rama feature/pagos o el conteo de commits no coincide con lo esperado (6+ en main), es señal de un clon incompleto — resolver antes de avanzar a la EF2 para no perder tiempo de evaluación por un problema de entorno.
EJEMPLO O ANALOGÍA:
No aplica.
PREGUNTA DE PARTICIPACIÓN:
(La verificación es la actividad misma.)
TRANSICIÓN A LA SIGUIENTE DIAPOSITIVA:
Formar parejas para la Evaluación Formativa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Evaluación Formativa 2 prevista en el documento fuente (Tabla 4), sobre el repositorio construido en la Fase 4 (Laboratorio 4).
NOTAS DETALLADAS DEL EXPOSITOR:
Esta actividad se califica con la rúbrica de EF2 definida en la Fase 6 (Localización del hallazgo, Manejo responsable, Clasificación de impacto, Ruta de reporte), dentro del 25 % de 'Evaluaciones prácticas formativas'. Circular resolviendo dudas puntuales sin dar la respuesta completa de inmediato — recordar que esta práctica es exclusivamente sobre el repositorio académico, nunca sobre repositorios públicos reales de Internet.
EJEMPLO O ANALOGÍA:
El primer secreto (DB_PASSWORD y API_KEY) está en el commit 3 de la rama main; el segundo (STRIPE_TEST_KEY) está en un commit de la rama feature/pagos.
PREGUNTA DE PARTICIPACIÓN:
(La pregunta de participación de este bloque es la actividad misma; se retoma en la socialización.)
TRANSICIÓN A LA SIGUIENTE DIAPOSITIVA:
Iniciar el tiempo de trabajo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 para la EF2.
NOTAS DETALLADAS DEL EXPOSITOR:
Durante este tiempo, hacer preguntas guía en vez de dar respuestas directas: '¿en qué commit cambió por última vez ese archivo?', '¿ya revisaron si hay una segunda rama?'. Avisar cuando falten 10 minutos.
PREGUNTA DE PARTICIPACIÓN:
No aplica; es tiempo de trabajo autónomo.
TRANSICIÓN A LA SIGUIENTE DIAPOSITIVA:
Al cumplirse el tiempo, pasar a la socialización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la EF2 con una puesta en común, reforzando el aprendizaje de forma colectiva.
NOTAS DETALLADAS DEL EXPOSITOR:
No es necesario que todas las parejas presenten. Es un buen momento para preguntar explícitamente si alguna pareja probó activamente si una credencial 'funcionaba' — y si es así, retomar con calma el límite ético visto en la diapositiva 9, sin generar sanción, solo reforzando el criterio.
EJEMPLO O ANALOGÍA:
No aplica.
PREGUNTA DE PARTICIPACIÓN:
¿Alguna pareja tardó más en encontrar el segundo secreto que el primero? ¿Por qué?
TRANSICIÓN A LA SIGUIENTE DIAPOSITIVA:
Pasar al cierre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cierre previsto en el documento fuente (Tabla 7): encuesta de comprensión y bitácora de conceptos, y dar orientación directa hacia la Sesión 6, que ocurre la misma tarde y cierra al día siguiente.
NOTAS DETALLADAS DEL EXPOSITOR:
Con esta sesión se cierra el eje de reconocimiento pasivo y manejo de evidencias (Sesiones 2 a 5). La Sesión 6 da un giro hacia intercepción activa y controlada de tráfico con Burp Suite — mantiene el mismo marco ético de alcance autorizado, pero introduce una técnica nueva (MITM autorizado sobre tráfico propio). La Sesión 6 se extiende hasta la mañana del Día 4 para dar tiempo suficiente a Burp Suite, cerrando con la Evaluación Formativa 3.
EJEMPLO O ANALOGÍA:
No aplica.
PREGUNTA DE PARTICIPACIÓN:
¿Qué comando de Git de hoy sienten que van a recordar usar más adelante en su trabajo?
TRANSICIÓN A LA SIGUIENTE DIAPOSITIVA:
Fin de la Sesión 5. (Última diapositiva del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5</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Repositorios expuestos y manejo responsable de evidencias</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3 de 5, mañana · 8:00 a. m. – 11:00 a. m. · Comparte la jornada con la Sesión 6</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5 · AGENDA DE LA MAÑANA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jornada de 3 horas</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8:00 · Recuperación de dudas</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Git y secretos</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Conceptos y ética</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Pausa</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10 min</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Demostración</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log, show, branch, log -S</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EF2</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Localizar el secreto</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Encuesta y bitácora</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5 · AGENDA DE LA MAÑANA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Recuperación: dudas de la Sesión 4</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Revisemos las dudas registradas en la encuesta/bitácora de ayer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instructor prioriza las 2-3 más recurrentes sobre la EF1 de subdominios.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Repaso relámpago: cadena de evidencia y documentación de hallazgos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30 segundos por concepto; hoy se aplica esa misma disciplina a un historial de Git.</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bloque de recuperación es corto (10 min): el objetivo es cerrar huecos puntuales antes de entrar en Git.</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GIT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Conceptos básicos de Git</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Estructura del proyecto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Repositorio — el proyecto completo con todo su historial</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Commit — una fotografía guardada de los cambios</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Historial — la secuencia completa de commits</a:t>
            </a:r>
            <a:endParaRPr lang="en-US" sz="1300" dirty="0"/>
          </a:p>
        </p:txBody>
      </p:sp>
      <p:sp>
        <p:nvSpPr>
          <p:cNvPr id="16" name="Shape 14"/>
          <p:cNvSpPr/>
          <p:nvPr/>
        </p:nvSpPr>
        <p:spPr>
          <a:xfrm>
            <a:off x="822960" y="4416552"/>
            <a:ext cx="82296" cy="82296"/>
          </a:xfrm>
          <a:prstGeom prst="ellipse">
            <a:avLst/>
          </a:prstGeom>
          <a:solidFill>
            <a:srgbClr val="E2231A"/>
          </a:solidFill>
          <a:ln/>
        </p:spPr>
      </p:sp>
      <p:sp>
        <p:nvSpPr>
          <p:cNvPr id="17" name="Text 15"/>
          <p:cNvSpPr/>
          <p:nvPr/>
        </p:nvSpPr>
        <p:spPr>
          <a:xfrm>
            <a:off x="1005840" y="4306824"/>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Rama (branch) — una línea de desarrollo paralela</a:t>
            </a:r>
            <a:endParaRPr lang="en-US" sz="1300" dirty="0"/>
          </a:p>
        </p:txBody>
      </p:sp>
      <p:sp>
        <p:nvSpPr>
          <p:cNvPr id="18" name="Shape 16"/>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9" name="Shape 17"/>
          <p:cNvSpPr/>
          <p:nvPr/>
        </p:nvSpPr>
        <p:spPr>
          <a:xfrm>
            <a:off x="6263640" y="1691640"/>
            <a:ext cx="5212080" cy="685800"/>
          </a:xfrm>
          <a:prstGeom prst="roundRect">
            <a:avLst>
              <a:gd name="adj" fmla="val 10667"/>
            </a:avLst>
          </a:prstGeom>
          <a:solidFill>
            <a:srgbClr val="1A1A1A"/>
          </a:solidFill>
          <a:ln/>
        </p:spPr>
      </p:sp>
      <p:sp>
        <p:nvSpPr>
          <p:cNvPr id="20" name="Shape 18"/>
          <p:cNvSpPr/>
          <p:nvPr/>
        </p:nvSpPr>
        <p:spPr>
          <a:xfrm>
            <a:off x="6263640" y="2148840"/>
            <a:ext cx="5212080" cy="228600"/>
          </a:xfrm>
          <a:prstGeom prst="rect">
            <a:avLst/>
          </a:prstGeom>
          <a:solidFill>
            <a:srgbClr val="1A1A1A"/>
          </a:solidFill>
          <a:ln/>
        </p:spPr>
      </p:sp>
      <p:sp>
        <p:nvSpPr>
          <p:cNvPr id="21" name="Text 19"/>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Los tres estados de un cambio</a:t>
            </a:r>
            <a:endParaRPr lang="en-US" sz="1600" dirty="0"/>
          </a:p>
        </p:txBody>
      </p:sp>
      <p:sp>
        <p:nvSpPr>
          <p:cNvPr id="22" name="Shape 20"/>
          <p:cNvSpPr/>
          <p:nvPr/>
        </p:nvSpPr>
        <p:spPr>
          <a:xfrm>
            <a:off x="6537960" y="2715768"/>
            <a:ext cx="82296" cy="82296"/>
          </a:xfrm>
          <a:prstGeom prst="ellipse">
            <a:avLst/>
          </a:prstGeom>
          <a:solidFill>
            <a:srgbClr val="1A1A1A"/>
          </a:solidFill>
          <a:ln/>
        </p:spPr>
      </p:sp>
      <p:sp>
        <p:nvSpPr>
          <p:cNvPr id="23" name="Text 21"/>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Working directory — archivos tal como están en disco</a:t>
            </a:r>
            <a:endParaRPr lang="en-US" sz="1300" dirty="0"/>
          </a:p>
        </p:txBody>
      </p:sp>
      <p:sp>
        <p:nvSpPr>
          <p:cNvPr id="24" name="Shape 22"/>
          <p:cNvSpPr/>
          <p:nvPr/>
        </p:nvSpPr>
        <p:spPr>
          <a:xfrm>
            <a:off x="6537960" y="3282696"/>
            <a:ext cx="82296" cy="82296"/>
          </a:xfrm>
          <a:prstGeom prst="ellipse">
            <a:avLst/>
          </a:prstGeom>
          <a:solidFill>
            <a:srgbClr val="1A1A1A"/>
          </a:solidFill>
          <a:ln/>
        </p:spPr>
      </p:sp>
      <p:sp>
        <p:nvSpPr>
          <p:cNvPr id="25" name="Text 23"/>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Staging (git add) — cambios marcados para el próximo commit</a:t>
            </a:r>
            <a:endParaRPr lang="en-US" sz="1300" dirty="0"/>
          </a:p>
        </p:txBody>
      </p:sp>
      <p:sp>
        <p:nvSpPr>
          <p:cNvPr id="26" name="Shape 24"/>
          <p:cNvSpPr/>
          <p:nvPr/>
        </p:nvSpPr>
        <p:spPr>
          <a:xfrm>
            <a:off x="6537960" y="3849624"/>
            <a:ext cx="82296" cy="82296"/>
          </a:xfrm>
          <a:prstGeom prst="ellipse">
            <a:avLst/>
          </a:prstGeom>
          <a:solidFill>
            <a:srgbClr val="1A1A1A"/>
          </a:solidFill>
          <a:ln/>
        </p:spPr>
      </p:sp>
      <p:sp>
        <p:nvSpPr>
          <p:cNvPr id="27" name="Text 25"/>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Commit (git commit) — cambios guardados permanentemente en el historial</a:t>
            </a:r>
            <a:endParaRPr lang="en-US" sz="1300" dirty="0"/>
          </a:p>
        </p:txBody>
      </p:sp>
      <p:sp>
        <p:nvSpPr>
          <p:cNvPr id="28" name="Shape 26"/>
          <p:cNvSpPr/>
          <p:nvPr/>
        </p:nvSpPr>
        <p:spPr>
          <a:xfrm rot="2700000">
            <a:off x="502920" y="6501384"/>
            <a:ext cx="82296" cy="82296"/>
          </a:xfrm>
          <a:prstGeom prst="rect">
            <a:avLst/>
          </a:prstGeom>
          <a:solidFill>
            <a:srgbClr val="E2231A"/>
          </a:solidFill>
          <a:ln/>
        </p:spPr>
      </p:sp>
      <p:sp>
        <p:nvSpPr>
          <p:cNvPr id="29" name="Text 2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GIT</a:t>
            </a:r>
            <a:endParaRPr lang="en-US" sz="800" dirty="0"/>
          </a:p>
        </p:txBody>
      </p:sp>
      <p:sp>
        <p:nvSpPr>
          <p:cNvPr id="30" name="Text 2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GIT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"Eliminar" un archivo no lo borra del historial</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Un nuevo commit que elimina un archivo solo cambia el estado actual</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working directory ya no lo muestra.</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Los commits anteriores, donde el archivo sí existía, permanecen intactos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Cualquiera con acceso de lectura al historial puede recuperarlo.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Este es el concepto más importante de toda la sesión</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Es la base de por qué se puede encontrar un secreto "eliminado" hace tiempo.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GIT</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Si alguien agrega .env a .gitignore hoy, ¿eso borra el archivo de los commits de hace tres meses?</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Sí — .gitignore elimina automáticamente el archivo de todo el historial.</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No — el archivo sigue existiendo en los commits anteriores; .gitignore solo evita que se rastree a partir de ahora.</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Solo si además se hace un nuevo commit vacío inmediatamente después.</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Depende del proveedor de hosting del repositorio (GitHub, GitLab, etc.).</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GIT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Metadatos de un commit: qué pueden filtrar</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Autor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Nombre y correo electrónico configurados en el equipo que hizo el commit.</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Fecha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Momento exacto del cambio, útil para reconstruir una línea de tiempo.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Mensaje</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contener contexto operativo no destinado a ser público (ej. "fix temporal, revisar antes de producción").</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GIT</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SECRETOS EXPUESTOS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Tipos comunes de secretos expuestos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Credenciales de acceso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API keys</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Contraseñas de bases de datos</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Tokens de autenticación</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Dónde suelen aparecer</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Archivos de configuración (ej. config/settings.py)</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Archivos .env agregados por accidente</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Variables hardcodeadas directamente en el código</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SECRETOS EXPUESTOS</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¿Por qué probar si una API key encontrada "funciona" ya cruza la línea de lo permitido en este curso?</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ÉTICA Y MANEJO RESPONSABLE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Evidencia a documentar vs. contenido que no debe extraerse</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 documenta: que el secreto existe, dónde, y en qué commit</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Suficiente para reportar y priorizar la remediación.</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se hace: usar, validar activamente ni divulgar el secreto real</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Nunca circular el valor completo más allá de lo estrictamente necesario.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Se enmascara parcialmente al documentar</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 API_KEY=sk_test_FAKE12... en vez del valor completo.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ÉTICA Y MANEJO RESPONSABLE</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REMEDIACIÓN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Saneamiento: tres acciones, no una sola</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Reactivo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Rotar — invalidar la credencial expuesta y emitir una nueva</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Purgar — reescribir el historial para eliminar el commit (ej. git filter-repo)</a:t>
            </a:r>
            <a:endParaRPr lang="en-US" sz="1300" dirty="0"/>
          </a:p>
        </p:txBody>
      </p:sp>
      <p:sp>
        <p:nvSpPr>
          <p:cNvPr id="14" name="Shape 12"/>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5" name="Shape 13"/>
          <p:cNvSpPr/>
          <p:nvPr/>
        </p:nvSpPr>
        <p:spPr>
          <a:xfrm>
            <a:off x="6263640" y="1691640"/>
            <a:ext cx="5212080" cy="685800"/>
          </a:xfrm>
          <a:prstGeom prst="roundRect">
            <a:avLst>
              <a:gd name="adj" fmla="val 10667"/>
            </a:avLst>
          </a:prstGeom>
          <a:solidFill>
            <a:srgbClr val="1A1A1A"/>
          </a:solidFill>
          <a:ln/>
        </p:spPr>
      </p:sp>
      <p:sp>
        <p:nvSpPr>
          <p:cNvPr id="16" name="Shape 14"/>
          <p:cNvSpPr/>
          <p:nvPr/>
        </p:nvSpPr>
        <p:spPr>
          <a:xfrm>
            <a:off x="6263640" y="2148840"/>
            <a:ext cx="5212080" cy="228600"/>
          </a:xfrm>
          <a:prstGeom prst="rect">
            <a:avLst/>
          </a:prstGeom>
          <a:solidFill>
            <a:srgbClr val="1A1A1A"/>
          </a:solidFill>
          <a:ln/>
        </p:spPr>
      </p:sp>
      <p:sp>
        <p:nvSpPr>
          <p:cNvPr id="17" name="Text 15"/>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Preventivo</a:t>
            </a:r>
            <a:endParaRPr lang="en-US" sz="1600" dirty="0"/>
          </a:p>
        </p:txBody>
      </p:sp>
      <p:sp>
        <p:nvSpPr>
          <p:cNvPr id="18" name="Shape 16"/>
          <p:cNvSpPr/>
          <p:nvPr/>
        </p:nvSpPr>
        <p:spPr>
          <a:xfrm>
            <a:off x="6537960" y="2715768"/>
            <a:ext cx="82296" cy="82296"/>
          </a:xfrm>
          <a:prstGeom prst="ellipse">
            <a:avLst/>
          </a:prstGeom>
          <a:solidFill>
            <a:srgbClr val="1A1A1A"/>
          </a:solidFill>
          <a:ln/>
        </p:spPr>
      </p:sp>
      <p:sp>
        <p:nvSpPr>
          <p:cNvPr id="19" name="Text 17"/>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.gitignore configurado desde el primer commit, no después</a:t>
            </a:r>
            <a:endParaRPr lang="en-US" sz="1300" dirty="0"/>
          </a:p>
        </p:txBody>
      </p:sp>
      <p:sp>
        <p:nvSpPr>
          <p:cNvPr id="20" name="Shape 18"/>
          <p:cNvSpPr/>
          <p:nvPr/>
        </p:nvSpPr>
        <p:spPr>
          <a:xfrm>
            <a:off x="6537960" y="3282696"/>
            <a:ext cx="82296" cy="82296"/>
          </a:xfrm>
          <a:prstGeom prst="ellipse">
            <a:avLst/>
          </a:prstGeom>
          <a:solidFill>
            <a:srgbClr val="1A1A1A"/>
          </a:solidFill>
          <a:ln/>
        </p:spPr>
      </p:sp>
      <p:sp>
        <p:nvSpPr>
          <p:cNvPr id="21" name="Text 19"/>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Pre-commit hooks de escaneo de secretos (ej. gitleaks) — buena práctica recomendada, no exigida por el plan</a:t>
            </a:r>
            <a:endParaRPr lang="en-US" sz="130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REMEDIACIÓN</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10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demostración en vivo explorando el historial de un repositorio con Git.</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Explorar el historial: log, show, branch y log -S</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Repositorio académico portal-activos-bacci-demo (datos completamente ficticios, construido para este curso).</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git log --oneline --all</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Mapear todos los commits de todas las ramas, en una línea</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git log --all -- .env</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 en qué commits aparece un archivo específico</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git show &lt;commit&gt;:.env</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Ver el contenido histórico exacto de ese archivo en ese commit</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git branch -a</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Listar todas las ramas, incluida feature/pagos</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git log -S"API_KEY" --all</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Buscar el commit donde aparece o desaparece un patrón de texto ("pickaxe")</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EN VIVO SOBRE KALI</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EL REPOSITORIO DE PRÁCTICA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construido portal-activos-bacci-demo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Commits 1-2: estructura inicial y configuración normal</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README, .gitignore inicial (sin .env todavía), config/settings.py.</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Commit 3: .env agregado por accidente con credenciales ficticias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DB_PASSWORD y API_KEY, ambos con valores marcados como FAKE.</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Commits 4-6: el error típico a enseñar</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.env se agrega a .gitignore y se quita del tracking, pero el historial ya lo conserva.</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Rama feature/pagos: un segundo secreto ficticio distinto</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STRIPE_TEST_KEY, para practicar exploración de ramas además de la principal.</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EL REPOSITORIO DE PRÁCTICA</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DOCUMENTACIÓN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Documentar el hallazgo con el secreto enmascarado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Commit y hash exacto donde aparece el secreto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Identificador único y verificable del hallazgo.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Tipo de secreto, ubicación (archivo) e impacto potencial</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 API key en .env, línea 2 — impacto: acceso no autorizado si fuera real.</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Valor enmascarado, nunca completo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 sk_test_FAKE12... — suficiente para identificarlo, insuficiente para usarlo.</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DOCUMENTACIÓN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Solo tienen el nombre del archivo sospechoso (.env) y ninguna otra pista. ¿Qué comando usarían primero?</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git log -S"API_KEY" --all</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git log --all -- .env</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git branch -a</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git show &lt;commit&gt;:.env</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 LA EF2 · ERRORES COMUNES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Errores frecuentes a evitar</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Ejecutar comandos de Git en el repositorio equivocado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Mezclar el repo real del instructor con el de laboratorio — verificar siempre con git remote -v antes de empezar.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Mostrar sin querer un secreto real en pantalla compartida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Revisar el propio entorno antes de proyectar cualquier terminal.</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explicar que el historial completo se puede clonar aunque el archivo ya no exista en main</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clon reciente trae todo el historial, no solo el estado actual.</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Olvidar --all y revisar solo la rama actual</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Sin --all no se detecta el segundo secreto en feature/pagos.</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 LA EF2 · ERRORES COMUNES</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PRÁCTICA INDIVIDUAL · ANTES DE LA EF2</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Confirma tu propio clon del repositorio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Repetir en solitario los primeros comandos de exploración para confirmar que tu copia del repositorio está completa antes de trabajar en parejas.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0-3 — Clona o accede a tu copia individual de portal-activos-bacci-demo.</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3-6 — Ejecuta git log --oneline --all y cuenta cuántos commits ves en total (main + ramas).</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6-9 — Ejecuta git branch -a y confirma que ves la rama feature/pagos listada.</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9-12 — Ejecuta git log --all -- .env y anota cuántos commits tocan ese archivo.</a:t>
            </a:r>
            <a:endParaRPr lang="en-US" sz="1300" dirty="0"/>
          </a:p>
        </p:txBody>
      </p:sp>
      <p:sp>
        <p:nvSpPr>
          <p:cNvPr id="21" name="Shape 19"/>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2" name="Shape 20"/>
          <p:cNvSpPr/>
          <p:nvPr/>
        </p:nvSpPr>
        <p:spPr>
          <a:xfrm>
            <a:off x="548640" y="5623560"/>
            <a:ext cx="7680960" cy="64008"/>
          </a:xfrm>
          <a:prstGeom prst="rect">
            <a:avLst/>
          </a:prstGeom>
          <a:solidFill>
            <a:srgbClr val="E2231A"/>
          </a:solidFill>
          <a:ln/>
        </p:spPr>
      </p:sp>
      <p:sp>
        <p:nvSpPr>
          <p:cNvPr id="23" name="Text 21"/>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Confirmación individual (verbal o en bitácora) de que tu clon está completo y accesible antes de iniciar la EF2 en parejas.</a:t>
            </a:r>
            <a:endParaRPr lang="en-US" sz="1200" dirty="0"/>
          </a:p>
        </p:txBody>
      </p:sp>
      <p:sp>
        <p:nvSpPr>
          <p:cNvPr id="24" name="Shape 22"/>
          <p:cNvSpPr/>
          <p:nvPr/>
        </p:nvSpPr>
        <p:spPr>
          <a:xfrm>
            <a:off x="8412480" y="5623560"/>
            <a:ext cx="3200400" cy="685800"/>
          </a:xfrm>
          <a:prstGeom prst="roundRect">
            <a:avLst>
              <a:gd name="adj" fmla="val 10667"/>
            </a:avLst>
          </a:prstGeom>
          <a:solidFill>
            <a:srgbClr val="E2231A"/>
          </a:solidFill>
          <a:ln/>
        </p:spPr>
      </p:sp>
      <p:sp>
        <p:nvSpPr>
          <p:cNvPr id="25" name="Text 23"/>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12 min</a:t>
            </a:r>
            <a:endParaRPr lang="en-US" sz="14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PRÁCTICA INDIVIDUAL · ANTES DE LA EF2</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EVALUACIÓN FORMATIVA 2 (EF2) · ACTIVIDAD GUIADA Y EVALUADA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EF2: localizar y documentar los secretos del repositorio académico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Ejecutar el flujo completo de exploración de historial para localizar, confirmar y documentar de forma responsable ambos secretos ficticios del repositorio — Evaluación Formativa 2 prevista en el documento fuente.</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0-8 — En parejas, confirmen con ls -la que .env no está en el working directory actual; ejecuten git log --all -- .env para ver en qué commits aparece.</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8-16 — Ejecuten git show &lt;commit&gt;:.env sobre el commit hallado para ver el contenido histórico exacto (DB_PASSWORD y API_KEY).</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16-24 — Cambien a la rama secundaria (git checkout feature/pagos) y repitan git log --all -- &lt;archivo&gt; para localizar el segundo secreto (STRIPE_TEST_KEY).</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24-32 — Documenten ambos hallazgos en la plantilla de evidencia: hash de commit, archivo, tipo de secreto enmascarado e impacto potencial.</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32-38 — Revisen entre parejas que ningún valor completo del secreto quede visible en la bitácora antes de entregar.</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Plantilla de evidencia completa para los dos secretos (hash de commit, ubicación, valor enmascarado e impacto), evaluada con la rúbrica de la Fase 6 — EF2.</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38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EVALUACIÓN FORMATIVA 2 (EF2) · ACTIVIDAD GUIADA Y EVALUADA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 · EF2</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38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cómo localizaron cada secreto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Qué comando de Git resultó más útil en cada caso.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comenta sobre la rama feature/pagos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 todos se les ocurrió revisar ramas distintas de main?</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reforzando rotar + purgar + prevenir</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Ningún hallazgo de hoy se resuelve con una sola de las tres acciones.</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5</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Esta tarde: Intercepción de tráfico y Burp Suite (inicia)</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Cierre del eje de reconocimiento y evidencias (Sesiones 2 a 5)</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EF2 completada: localización y documentación de secretos en Git</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Inicio del eje de intercepción de tráfico web con proxies (Sesión 6, tarde)</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Continuidad directa: el mismo criterio de manejo responsable aplica a lo que se intercepte con Burp</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Encuesta de comprensión y bitácora de conceptos: registrar los 3 aprendizajes clave y 1 duda antes de almorzar.</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5 — Repositorios expuestos y manejo responsable de evidencias</dc:title>
  <dc:subject>PptxGenJS Presentation</dc:subject>
  <dc:creator>REDNEET — Capacitación 40 horas CENAC Telemática</dc:creator>
  <cp:lastModifiedBy>REDNEET — Capacitación 40 horas CENAC Telemática</cp:lastModifiedBy>
  <cp:revision>1</cp:revision>
  <dcterms:created xsi:type="dcterms:W3CDTF">2026-08-20T00:33:55Z</dcterms:created>
  <dcterms:modified xsi:type="dcterms:W3CDTF">2026-08-20T00:33:55Z</dcterms:modified>
</cp:coreProperties>
</file>