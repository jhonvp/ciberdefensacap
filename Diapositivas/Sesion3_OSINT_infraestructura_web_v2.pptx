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la bienvenida al Día 2 y presentar OSINT como la primera etapa práctica de reconocimiento del curso.
NOTAS DETALLADAS DEL EXPOSITOR:
Esta sesión dura 4 horas y comparte el Día 2 con la Sesión 4 (Subdominios) en la tarde — ambas construyen sobre el mismo eje de reconocimiento pasivo. Recordar al grupo que todo lo aprendido en DNS y HTTP/TLS (Sesión 2) es prerrequisito directo: hoy se usa ese conocimiento para interpretar fuentes públicas reales. Si el grupo necesita más tiempo del previsto, el cierre puede correrse dentro del mismo día sin problema.
EJEMPLO O ANALOGÍA:
Ninguno; es la portada de apertura.
PREGUNTA DE PARTICIPACIÓN:
¿Alguien ya usó alguna vez WHOIS o una búsqueda avanzada en Google para investigar un dominio, aunque no supiera que eso se llama OSINT?
TRANSICIÓN A LA SIGUIENTE DIAPOSITIVA:
Pasar a la agenda del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mapa mental de la jornada matutina antes de entrar en materia.
NOTAS DETALLADAS DEL EXPOSITOR:
Jornada más corta que la del Día 1 (4 h vs. 8 h), por lo que solo hay una pausa larga. El bloque conceptual agrupa metodología, fuentes y ética en un solo tramo continuo antes de la pausa; después de la pausa el énfasis es completamente práctico (demostración + aplicación), dejando la parte teórica más densa para la primera mitad, cuando el grupo está más fresco.
EJEMPLO O ANALOGÍA:
No aplica.
PREGUNTA DE PARTICIPACIÓN:
¿Alguna pregunta logística antes de comenzar?
TRANSICIÓN A LA SIGUIENTE DIAPOSITIVA:
Iniciar con la recuperación de dudas de la Sesión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dudas pendientes de la Sesión 2 antes de construir sobre esa base.
NOTAS DETALLADAS DEL EXPOSITOR:
Usar el registro de la encuesta de comprensión y bitácora de la Sesión 2 (diapositiva 30 de esa sesión) como insumo real. Conectar explícitamente: hoy no se aprende protocolo nuevo, se aprende a usar el DNS y los certificados TLS ya vistos como fuentes de información pública.
EJEMPLO O ANALOGÍA:
No aplica.
PREGUNTA DE PARTICIPACIÓN:
¿Qué concepto de DNS, HTTP o TLS registraron como pendiente de repaso?
TRANSICIÓN A LA SIGUIENTE DIAPOSITIVA:
Entrar de lleno a la definición y alcance de OSINT.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Establecer la definición formal de OSINT y delimitar explícitamente el alcance del curso (contenido obligatorio de la Fase 2, Sesión 3).
NOTAS DETALLADAS DEL EXPOSITOR:
Pregunta difícil del banco de la Fase 2 (P1 de Sesión 3): OSINT no es lo mismo que 'hacer una búsqueda en Google' — es un proceso estructurado con las seis fases listadas; una búsqueda aislada es solo una técnica dentro de ese proceso. Enfatizar desde el inicio que este curso NO cubre OSINT sobre personas (redes sociales de empleados, por ejemplo): eso queda fuera de alcance por consideraciones éticas y legales adicionales no cubiertas aquí (ver banco de preguntas, respuesta a P7).
EJEMPLO O ANALOGÍA:
Es como el trabajo de un analista de inteligencia que solo usa prensa, registros públicos y archivos abiertos — nunca infiltración ni vigilancia encubierta.
PREGUNTA DE PARTICIPACIÓN:
¿Por qué creen que este curso limita OSINT a infraestructura web y no incluye personas?
TRANSICIÓN A LA SIGUIENTE DIAPOSITIVA:
Ver ahora la diferencia entre reconocimiento pasivo y 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con precisión la frontera entre reconocimiento pasivo y activo, base de la disciplina ética del curso.
NOTAS DETALLADAS DEL EXPOSITOR:
Concepto obligatorio de la Fase 2, Sesión 3. Pregunta difícil del banco (P10): el límite práctico es si la acción genera tráfico dirigido al objetivo buscando una respuesta directa (ej. escaneo de puertos) frente a consultar a un tercero que ya tiene esa información indexada (ej. crt.sh, un motor de búsqueda). Esta sesión se mantiene deliberadamente en el lado pasivo; el reconocimiento activo no forma parte del alcance de este curso.
EJEMPLO O ANALOGÍA:
Pasivo es preguntarle al vecino qué sabe de una casa; activo es tocar la puerta de esa casa directamente.
PREGUNTA DE PARTICIPACIÓN:
(Se comprueba con una pregunta rápida a continuación.)
TRANSICIÓN A LA SIGUIENTE DIAPOSITIVA:
Comprobar la comprensión de esta frontera con un quiz antes de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distingue correctamente pasivo de activo antes de entrar a las fuentes públicas específicas del curso.
NOTAS DETALLADAS DEL EXPOSITOR:
Pregunta de elaboración propia basada en la pregunta de la diapositiva anterior (¿WHOIS es pasivo o activo? ¿y un ping?). El ping SÍ toca el objetivo directamente (genera tráfico dirigido buscando una respuesta), por lo que es activo, aunque parezca inofensivo — es el error de clasificación más común en este tema.
PREGUNTA DE PARTICIPACIÓN:
(La pregunta de participación de este bloque es el quiz mismo.)
RESPUESTA CORRECTA Y POR QUÉ:
C — WHOIS y Certificate Transparency son consultas a terceros que ya tienen la información indexada; ninguna de las dos genera tráfico dirigido hacia el objetivo. El ping (opción B) sí toca el objetivo directamente y por lo tanto es activo, fuera del alcance de esta sesión.
TRANSICIÓN A LA SIGUIENTE DIAPOSITIVA:
Ver ahora las categorías de fuentes públicas que se usarán en 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Presentar las categorías de fuentes obligatorias del curso (contenido obligatorio de la Fase 2, Sesión 3), que se practicarán en la demostración y el ejercicio.
NOTAS DETALLADAS DEL EXPOSITOR:
DNS y WHOIS ya fueron introducidos conceptualmente en la Sesión 2 y hoy se usan como fuente OSINT, no solo como protocolo. Certificate Transparency es la fuente más nueva para el grupo y merece más tiempo — se profundiza más adelante y en la demostración.
EJEMPLO O ANALOGÍA:
Es como distinguir entre consultar el registro de propiedad de un inmueble (infraestructura técnica) y buscar noticias o documentos públicos que lo mencionen (contenido e indexación).
PREGUNTA DE PARTICIPACIÓN:
¿Cuál de estas fuentes creen que expone información que ni siquiera el propio administrador del dominio recuerda que es pública?
TRANSICIÓN A LA SIGUIENTE DIAPOSITIVA:
Antes de usarlas, establecer cómo se evalúa si una fuente es confiable.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el criterio operativo de tres puntos para evaluar cualquier fuente OSINT, aplicable durante la demostración y el ejercicio.
NOTAS DETALLADAS DEL EXPOSITOR:
Pregunta difícil del banco de la Fase 2 (P8 de Sesión 3): se prueba que una fuente pública es 'oficial' revisando si proviene directamente del operador del recurso frente a un agregador de terceros que solo replica esa información con posible desfase. Este criterio de tres puntos se retomará explícitamente en la ficha de superficie web más adelante.
EJEMPLO O ANALOGÍA:
Es el mismo criterio periodístico de verificar una noticia: quién la publicó primero, cuándo, y si otra fuente independiente la confirma.
PREGUNTA DE PARTICIPACIÓN:
Si crt.sh y un buscador dan resultados distintos para el mismo subdominio, ¿cuál criterio de los tres ayuda a decidir en cuál confiar más?
TRANSICIÓN A LA SIGUIENTE DIAPOSITIVA:
Ver ahora por qué la fecha de un hallazgo OSINT es tan importante como el hallazgo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Conectar el concepto de TTL/caché visto en la Sesión 2 con la temporalidad de la información en OSINT.
NOTAS DETALLADAS DEL EXPOSITOR:
Pregunta difícil del banco de la Fase 2 (P4 de Sesión 3): la vida útil de un hallazgo depende del tipo de dato — DNS cambia en minutos, un certificado dura meses, un documento indexado puede persistir años en caché de un buscador aunque la página original ya no exista. Vincular explícitamente con el TTL de DNS visto en la Sesión 2 (diapositiva 7): un hallazgo DNS de hoy puede reflejar una configuración ya modificada si el TTL era alto.
EJEMPLO O ANALOGÍA:
Es como leer un directorio telefónico impreso hace tres años: puede seguir siendo útil, pero hay que asumir que algunos números ya cambiaron.
PREGUNTA DE PARTICIPACIÓN:
Si encuentran un subdominio en Certificate Transparency que ya no responde a ningún ping, ¿qué les dice eso sobre la temporalidad del hallazgo?
TRANSICIÓN A LA SIGUIENTE DIAPOSITIVA:
Esa necesidad de documentar fecha nos lleva directo al concepto de cadena de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Adaptar el concepto de cadena de custodia (visto de forma introductoria en la Sesión 1) al contexto específico de OSINT.
NOTAS DETALLADAS DEL EXPOSITOR:
Pregunta difícil del banco de la Fase 2 (P9 de Sesión 3): si no hay custodia física de nada, la cadena de evidencia en OSINT consiste en registrar de forma verificable qué se consultó, cuándo, con qué herramienta o URL exacta, y guardar una captura o exportación del resultado. Esta práctica es la que se formaliza en la ficha de superficie web que se completará en el ejercicio.
EJEMPLO O ANALOGÍA:
Es el equivalente digital de fechar y firmar una fotografía tomada como evidencia en un peritaje.
PREGUNTA DE PARTICIPACIÓN:
¿Por qué una captura de pantalla sin fecha visible es una evidencia OSINT débil?
TRANSICIÓN A LA SIGUIENTE DIAPOSITIVA:
Antes de cerrar el bloque, proyectar una pregunta difícil para discutir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Llevar a pantalla, para discusión visible de todo el grupo, la pregunta de participación que antes solo vivía en las notas del expositor.
NOTAS DETALLADAS DEL EXPOSITOR:
Pregunta difícil del banco de la Fase 2 (P3 de Sesión 3). Dar 2 minutos de comentario en parejas antes de pedir 1-2 respuestas al grupo completo.
EJEMPLO O ANALOGÍA:
Es la misma lógica del hallazgo accidental visto en la Sesión 1: se reporta, no se investiga por cuenta propia más allá de lo autorizado.
PREGUNTA DE PARTICIPACIÓN:
(Es la pregunta central de esta diapositiva.)
RESPUESTA CORRECTA Y POR QUÉ:
No se descarga, comparte ni analiza en profundidad el contenido sensible; se documenta la existencia y ubicación general del hallazgo sin extraer el contenido, y se reporta de inmediato al responsable. El procedimiento completo de manejo responsable de evidencias se detalla en la Sesión 5.
TRANSICIÓN A LA SIGUIENTE DIAPOSITIVA:
Con la respuesta de referencia dada, fijar los límites legales y éticos completos de OSINT.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Fijar sin ambigüedad los límites legales y éticos de OSINT, reforzando el marco de alcance autorizado establecido en la Sesión 1.
NOTAS DETALLADAS DEL EXPOSITOR:
Contenido obligatorio de la Fase 2, Sesión 3. Pregunta difícil (P3, continuación): automatizar consultas masivas contra un motor de búsqueda o API pública puede violar sus términos de servicio y, según el caso, tener implicaciones legales — de ahí la prohibición de scraping agresivo.
EJEMPLO O ANALOGÍA:
Es la diferencia entre leer un cartel público en la calle y forzar la entrada a un edificio para leer un documento interno.
PREGUNTA DE PARTICIPACIÓN:
¿Qué otras actividades se les ocurre que deberían estar prohibidas en este curso, aunque no estén en esta lista?
TRANSICIÓN A LA SIGUIENTE DIAPOSITIVA:
Pausa antes de la demostración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Dar un descanso programado entre el bloque conceptual y la demostración práctica.
NOTAS DETALLADAS DEL EXPOSITOR:
Aprovechar para verificar que todas las VM tienen salida a Internet, ya que la demostración de crt.sh y WHOIS requiere conectividad real hacia servicios externos legítimos.
PREGUNTA DE PARTICIPACIÓN:
No aplica durante la pausa.
TRANSICIÓN A LA SIGUIENTE DIAPOSITIVA:
Retomar con el panorama de Certificate Transparency antes de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Explicar el fundamento técnico de Certificate Transparency antes de verlo en vivo, para que la demostración se entienda y no solo se observe.
NOTAS DETALLADAS DEL EXPOSITOR:
Pregunta difícil del banco de la Fase 2 (P1 de Sesión 3, técnica): Certificate Transparency (RFC 6962) expone subdominios ausentes del DNS público porque cualquier CA que emite un certificado está obligada a publicarlo en logs públicos auditables — el registro del certificado, no el registro DNS, es lo que se hace visible. Advertir el error común documentado en Fase 2: interpretar cualquier entrada de Certificate Transparency como un servicio 'activo' sin validar — un subdominio con certificado puede llevar meses sin responder.
EJEMPLO O ANALOGÍA:
Es como si cada vez que alguien tramita un documento de identidad, ese trámite quedara en un registro público auditable, aunque la persona no aparezca en la guía telefónica.
PREGUNTA DE PARTICIPACIÓN:
(Se comprueba con un quiz antes de pasar a la demostración en vivo.)
TRANSICIÓN A LA SIGUIENTE DIAPOSITIVA:
Comprobar la comprensión de Certificate Transparency antes de la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Comprobar que el grupo entendió por qué CT revela infraestructura que DNS público no revela, antes de verlo confirmado en vivo.
NOTAS DETALLADAS DEL EXPOSITOR:
Pregunta de elaboración propia sobre el concepto de la diapositiva anterior. Es habitual que un equipo levante un subdominio de staging con TLS (para pruebas internas) sin publicarlo en el DNS público que consulta cualquiera — pero el certificado sí queda registrado en los logs de CT.
PREGUNTA DE PARTICIPACIÓN:
(La pregunta de participación de este bloque es el quiz mismo.)
RESPUESTA CORRECTA Y POR QUÉ:
B — la obligación de registro en logs auditables (RFC 6962) aplica a la emisión del certificado, no a la publicación DNS. Por eso CT puede revelar un subdominio de staging que nunca apareció en un registro DNS público.
TRANSICIÓN A LA SIGUIENTE DIAPOSITIVA:
Pasar a la demostración guiada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en vivo las tres consultas OSINT presentadas en el bloque conceptual, sobre el dominio de laboratorio example.com — pasos 2 a 4 del procedimiento del Laboratorio 2 (Fase 4) — con un plan de contingencia explícito si crt.sh falla durante la demostración.
NOTAS DETALLADAS DEL EXPOSITOR:
Se usa example.com por ser un dominio reservado por IANA para documentación y ejemplos (RFC 2606) — no pertenece a un tercero real y evita el riesgo de tocar infraestructura ajena no autorizada (ver nota completa del Laboratorio 2, Fase 4). Error común documentado en Fase 2 a anticipar explícitamente: mezclar accidentalmente resultados de un dominio real de Internet con el dominio de laboratorio durante la demo en vivo. crt.sh es un servicio gratuito con caídas 502 "Bad Gateway" documentadas y recurrentes (reportadas de forma repetida en los foros de la comunidad de Let's Encrypt) — no es un problema de la VM ni de la red del curso. Plan de 3 capas si falla en vivo: (1) reintentar tras 1-2 minutos, (2) usar certspotter.com como fuente alterna con el mismo tipo de dato, (3) si ambas fallan, mostrar la captura de respaldo que el instructor preparó de antemano (ver ficha del Laboratorio 2 sobre cómo prepararla).
EJEMPLO O ANALOGÍA:
Es como consultar tres directorios distintos sobre la misma dirección: el registro de certificados, el registro de propiedad (WHOIS) y un índice de documentos públicos relacionados.
COMANDO / DEMOSTRACIÓN:
curl -s 'https://crt.sh/?q=example.com&amp;output=json' | jq &amp;&amp; whois example.com   (más el operador site:example.com filetype:pdf en el navegador; si crt.sh falla: curl -s 'https://api.certspotter.com/v1/issuances?domain=example.com&amp;include_subdomains=true&amp;expand=dns_names' | jq)
PREGUNTA DE PARTICIPACIÓN:
¿Qué información obtuvieron de WHOIS que no habría aparecido en Certificate Transparency, y viceversa?
TRANSICIÓN A LA SIGUIENTE DIAPOSITIVA:
Ahora que se vieron los resultados, ver cómo se documentan correctamente estos hallazgos.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Formalizar en una plantilla los conceptos de cadena de evidencia y evaluación de confiabilidad ya vistos, aplicándolos al hallazgo recién demostrado — paso 5 del procedimiento del Laboratorio 2.
NOTAS DETALLADAS DEL EXPOSITOR:
Esta ficha es la que se usará en el Laboratorio 2 (inventario OSINT) y es el entregable central del ejercicio de esta sesión. El instructor debe completar personalmente una ficha de ejemplo antes de la sesión (práctica previa documentada en Fase 2) para mostrarla como modelo antes de que el grupo la use.
EJEMPLO O ANALOGÍA:
Es el mismo principio que una bitácora de laboratorio científico: cada dato registrado con su origen, momento y nivel de certeza.
PREGUNTA DE PARTICIPACIÓN:
Si un hallazgo tiene alta oficialidad pero baja actualidad (ej. un WHOIS de hace dos años), ¿qué nivel de confianza le asignarían?
TRANSICIÓN A LA SIGUIENTE DIAPOSITIVA:
Ver ahora por qué un solo hallazgo aislado no basta.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ciclo metodológico exigiendo verificación cruzada antes de dar un hallazgo por confirmado.
NOTAS DETALLADAS DEL EXPOSITOR:
Pregunta difícil del banco de la Fase 2 (P6 de Sesión 3): si dos fuentes distintas dan información contradictoria sobre el mismo activo, se documentan ambas, se anota el nivel de confianza de cada una según su origen y fecha, y se busca una tercera fuente cuando sea posible — nunca se descarta una sin registro. Este es el requisito que se pedirá explícitamente en el ejercicio de aplicación: correlación manual de al menos dos fuentes.
EJEMPLO O ANALOGÍA:
Es como confirmar una noticia con una segunda fuente antes de darla por cierta, en vez de repetir el primer rumor que se escuchó.
PREGUNTA DE PARTICIPACIÓN:
En la demostración, ¿qué hallazgo de crt.sh podríamos intentar confirmar con una segunda fuente distinta?
TRANSICIÓN A LA SIGUIENTE DIAPOSITIVA:
Antes del ejercicio, repasar los errores más comunes al hacer este tipo de correlación.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Repasar explícitamente los tres errores comunes documentados en la Fase 2 antes de que el grupo trabaje de forma autónoma.
NOTAS DETALLADAS DEL EXPOSITOR:
Estos tres errores están tomados directamente del banco de errores comunes de la Fase 2, Sesión 3, y del Laboratorio 2 (Fase 4, secciones 13-14), con el plan de contingencia de crt.sh ampliado a 3 capas (reintento, certspotter, captura de respaldo) tras confirmarse que las caídas 502 de crt.sh son un problema externo real y recurrente, no un problema del entorno del curso. Mencionarlos justo antes del ejercicio reduce la probabilidad de que aparezcan durante el trabajo en parejas.
EJEMPLO O ANALOGÍA:
No aplica.
PREGUNTA DE PARTICIPACIÓN:
¿Cuál de estos tres errores les parece más fácil de cometer sin darse cuenta?
TRANSICIÓN A LA SIGUIENTE DIAPOSITIVA:
Antes del ejercicio en parejas, cada quien repite individualmente las consultas.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Consolidar la demostración en vivo con repetición individual antes del ejercicio en parejas, siguiendo el mismo principio ya establecido en las Sesiones 1 y 2.
NOTAS DETALLADAS DEL EXPOSITOR:
El instructor circula resolviendo problemas puntuales (conectividad, sintaxis de jq, caídas 502 de crt.sh) sin ejecutar el comando por el participante. Con 8 personas consultando crt.sh al mismo tiempo, la probabilidad de un 502 por carga aumenta — recordar el plan B (certspotter) antes de empezar este bloque.
EJEMPLO O ANALOGÍA:
Es la misma lógica de "yo lo hago, tú lo haces" usada en las sesiones anteriores.
COMANDO / DEMOSTRACIÓN:
curl -s 'https://crt.sh/?q=example.com&amp;output=json' | jq &amp;&amp; whois example.com   (plan B si crt.sh falla: curl -s 'https://api.certspotter.com/v1/issuances?domain=example.com&amp;include_subdomains=true&amp;expand=dns_names' | jq)
PREGUNTA DE PARTICIPACIÓN:
(No hay pregunta de participación grupal en este bloque individual; las dudas se recogen para el ejercicio en parejas.)
TRANSICIÓN A LA SIGUIENTE DIAPOSITIVA:
Iniciar el ejercicio de aplicación en parejas.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la actividad guiada prevista en el documento fuente para el bloque de aplicación/evaluación de la Sesión 3, integrando todo lo visto en la jornada.
NOTAS DETALLADAS DEL EXPOSITOR:
Este ejercicio es una versión guiada y acotada en tiempo del Laboratorio 2 completo (Fase 4 del proyecto, 90-100 minutos si se profundiza fuera de esta sesión). Pasos con minutaje en pantalla, igual que en las Sesiones 1 y 2. Circular resolviendo dudas puntuales sin dar la respuesta completa de inmediato; recordar constantemente el límite de alcance: solo example.com, ninguna otra infraestructura. Con 4 parejas consultando crt.sh a la vez en el minuto 3-15, es el momento de mayor probabilidad de un 502 por carga — tener presente el plan de 3 capas (reintento, certspotter, captura de respaldo del instructor).
EJEMPLO O ANALOGÍA:
Un hallazgo típico esperado: un subdominio de prueba (ej. www.example.com) visible en Certificate Transparency y confirmable con una consulta dig directa.
PREGUNTA DE PARTICIPACIÓN:
(La pregunta de participación de este bloque es la actividad misma; se retoma en la socialización.)
TRANSICIÓN A LA SIGUIENTE DIAPOSITIVA:
Iniciar el tiempo de trabajo en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Marcar visualmente el tiempo de trabajo autónomo en parejas.
NOTAS DETALLADAS DEL EXPOSITOR:
Durante este tiempo, hacer preguntas guía en vez de dar respuestas directas: '¿esa fuente es oficial o un agregador?', '¿cómo confirmarían ese hallazgo con otra fuente?'. Avisar cuando falten 10 minutos, dado que el bloque es más largo que en sesiones anteriores.
PREGUNTA DE PARTICIPACIÓN:
No aplica; es tiempo de trabajo autónomo.
TRANSICIÓN A LA SIGUIENTE DIAPOSITIVA:
Al cumplirse el tiempo, pasar a la socialización de resultados.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Cerrar el bloque de aplicación con una puesta en común, reforzando el aprendizaje de forma colectiva y anticipando la Sesión 4.
NOTAS DETALLADAS DEL EXPOSITOR:
No es necesario que todas las parejas presenten. El cierre del instructor debe conectar explícitamente los subdominios hallados hoy con el trabajo de organización y validación responsable de subdominios que se hará en la Sesión 4, esta misma tarde.
EJEMPLO O ANALOGÍA:
No aplica.
PREGUNTA DE PARTICIPACIÓN:
¿Algún hallazgo del ejercicio les hizo cambiar de opinión sobre la confiabilidad de alguna fuente?
TRANSICIÓN A LA SIGUIENTE DIAPOSITIVA:
Pasar al cierre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DIAPOSITIVA:
Ejecutar el cierre previsto en el documento fuente (Tabla 7): encuesta de comprensión y bitácora de conceptos, y dar orientación directa hacia la Sesión 4, que ocurre la misma tarde.
NOTAS DETALLADAS DEL EXPOSITOR:
A diferencia de la Sesión 2 (cierre del Día 1), aquí el cierre no despide al grupo hasta el día siguiente sino hasta después del almuerzo, ya que la Sesión 4 comparte el mismo Día 2. Aprovechar para recordar que deben conservar sus fichas de superficie web: son el insumo de entrada de la Sesión 4. Si el grupo no alcanzó a completar el bloque de aplicación, no hay problema en cerrarlo brevemente al inicio de la Sesión 4 — no es obligatorio que la Sesión 3 termine exactamente a las 12:00.
EJEMPLO O ANALOGÍA:
No aplica.
PREGUNTA DE PARTICIPACIÓN:
¿Qué concepto de OSINT sienten que necesita más repaso antes de continuar esta tarde con subdominios?
TRANSICIÓN A LA SIGUIENTE DIAPOSITIVA:
Fin de la Sesión 3. (Última diapositiva del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99832" y="0"/>
            <a:ext cx="4389120" cy="6858000"/>
          </a:xfrm>
          <a:prstGeom prst="rect">
            <a:avLst/>
          </a:prstGeom>
          <a:solidFill>
            <a:srgbClr val="E2231A"/>
          </a:solidFill>
          <a:ln/>
        </p:spPr>
      </p:sp>
      <p:sp>
        <p:nvSpPr>
          <p:cNvPr id="3" name="Shape 1"/>
          <p:cNvSpPr/>
          <p:nvPr/>
        </p:nvSpPr>
        <p:spPr>
          <a:xfrm>
            <a:off x="8686800" y="457200"/>
            <a:ext cx="1234440" cy="1234440"/>
          </a:xfrm>
          <a:prstGeom prst="ellipse">
            <a:avLst/>
          </a:prstGeom>
          <a:solidFill>
            <a:srgbClr val="FFFFFF">
              <a:alpha val="18000"/>
            </a:srgbClr>
          </a:solidFill>
          <a:ln/>
        </p:spPr>
      </p:sp>
      <p:sp>
        <p:nvSpPr>
          <p:cNvPr id="4" name="Shape 2"/>
          <p:cNvSpPr/>
          <p:nvPr/>
        </p:nvSpPr>
        <p:spPr>
          <a:xfrm>
            <a:off x="10607040" y="5120640"/>
            <a:ext cx="1828800" cy="1828800"/>
          </a:xfrm>
          <a:prstGeom prst="ellipse">
            <a:avLst/>
          </a:prstGeom>
          <a:solidFill>
            <a:srgbClr val="A81810">
              <a:alpha val="75000"/>
            </a:srgbClr>
          </a:solidFill>
          <a:ln/>
        </p:spPr>
      </p:sp>
      <p:sp>
        <p:nvSpPr>
          <p:cNvPr id="5" name="Shape 3"/>
          <p:cNvSpPr/>
          <p:nvPr/>
        </p:nvSpPr>
        <p:spPr>
          <a:xfrm>
            <a:off x="137160" y="6172200"/>
            <a:ext cx="365760" cy="365760"/>
          </a:xfrm>
          <a:prstGeom prst="ellipse">
            <a:avLst/>
          </a:prstGeom>
          <a:solidFill>
            <a:srgbClr val="E2231A"/>
          </a:solidFill>
          <a:ln/>
        </p:spPr>
      </p:sp>
      <p:sp>
        <p:nvSpPr>
          <p:cNvPr id="6" name="Shape 4"/>
          <p:cNvSpPr/>
          <p:nvPr/>
        </p:nvSpPr>
        <p:spPr>
          <a:xfrm>
            <a:off x="649224" y="566928"/>
            <a:ext cx="256032" cy="0"/>
          </a:xfrm>
          <a:prstGeom prst="line">
            <a:avLst/>
          </a:prstGeom>
          <a:noFill/>
          <a:ln w="20320">
            <a:solidFill>
              <a:srgbClr val="E2231A"/>
            </a:solidFill>
            <a:prstDash val="solid"/>
          </a:ln>
        </p:spPr>
      </p:sp>
      <p:sp>
        <p:nvSpPr>
          <p:cNvPr id="7" name="Shape 5"/>
          <p:cNvSpPr/>
          <p:nvPr/>
        </p:nvSpPr>
        <p:spPr>
          <a:xfrm rot="2700000">
            <a:off x="649224" y="566928"/>
            <a:ext cx="256032" cy="0"/>
          </a:xfrm>
          <a:prstGeom prst="line">
            <a:avLst/>
          </a:prstGeom>
          <a:noFill/>
          <a:ln w="20320">
            <a:solidFill>
              <a:srgbClr val="E2231A"/>
            </a:solidFill>
            <a:prstDash val="solid"/>
          </a:ln>
        </p:spPr>
      </p:sp>
      <p:sp>
        <p:nvSpPr>
          <p:cNvPr id="8" name="Shape 6"/>
          <p:cNvSpPr/>
          <p:nvPr/>
        </p:nvSpPr>
        <p:spPr>
          <a:xfrm rot="5400000">
            <a:off x="649224" y="566928"/>
            <a:ext cx="256032" cy="0"/>
          </a:xfrm>
          <a:prstGeom prst="line">
            <a:avLst/>
          </a:prstGeom>
          <a:noFill/>
          <a:ln w="20320">
            <a:solidFill>
              <a:srgbClr val="E2231A"/>
            </a:solidFill>
            <a:prstDash val="solid"/>
          </a:ln>
        </p:spPr>
      </p:sp>
      <p:sp>
        <p:nvSpPr>
          <p:cNvPr id="9" name="Shape 7"/>
          <p:cNvSpPr/>
          <p:nvPr/>
        </p:nvSpPr>
        <p:spPr>
          <a:xfrm rot="8100000">
            <a:off x="649224" y="566928"/>
            <a:ext cx="256032" cy="0"/>
          </a:xfrm>
          <a:prstGeom prst="line">
            <a:avLst/>
          </a:prstGeom>
          <a:noFill/>
          <a:ln w="20320">
            <a:solidFill>
              <a:srgbClr val="E2231A"/>
            </a:solidFill>
            <a:prstDash val="solid"/>
          </a:ln>
        </p:spPr>
      </p:sp>
      <p:sp>
        <p:nvSpPr>
          <p:cNvPr id="10" name="Text 8"/>
          <p:cNvSpPr/>
          <p:nvPr/>
        </p:nvSpPr>
        <p:spPr>
          <a:xfrm>
            <a:off x="960120" y="438912"/>
            <a:ext cx="3657600" cy="274320"/>
          </a:xfrm>
          <a:prstGeom prst="rect">
            <a:avLst/>
          </a:prstGeom>
          <a:noFill/>
          <a:ln/>
        </p:spPr>
        <p:txBody>
          <a:bodyPr wrap="square" rtlCol="0" anchor="ctr"/>
          <a:lstStyle/>
          <a:p>
            <a:pPr indent="0" marL="0">
              <a:buNone/>
            </a:pPr>
            <a:r>
              <a:rPr lang="en-US" sz="1200" b="1" dirty="0">
                <a:solidFill>
                  <a:srgbClr val="1A1A1A"/>
                </a:solidFill>
                <a:latin typeface="Roboto" pitchFamily="34" charset="0"/>
                <a:ea typeface="Roboto" pitchFamily="34" charset="-122"/>
                <a:cs typeface="Roboto" pitchFamily="34" charset="-120"/>
              </a:rPr>
              <a:t>BACCI · CIBERDEFENSA</a:t>
            </a:r>
            <a:endParaRPr lang="en-US" sz="1200" dirty="0"/>
          </a:p>
        </p:txBody>
      </p:sp>
      <p:sp>
        <p:nvSpPr>
          <p:cNvPr id="11" name="Text 9"/>
          <p:cNvSpPr/>
          <p:nvPr/>
        </p:nvSpPr>
        <p:spPr>
          <a:xfrm>
            <a:off x="960120" y="694944"/>
            <a:ext cx="3657600" cy="228600"/>
          </a:xfrm>
          <a:prstGeom prst="rect">
            <a:avLst/>
          </a:prstGeom>
          <a:noFill/>
          <a:ln/>
        </p:spPr>
        <p:txBody>
          <a:bodyPr wrap="square" rtlCol="0" anchor="ctr"/>
          <a:lstStyle/>
          <a:p>
            <a:pPr indent="0" marL="0">
              <a:buNone/>
            </a:pPr>
            <a:r>
              <a:rPr lang="en-US" sz="900" dirty="0">
                <a:solidFill>
                  <a:srgbClr val="6B6B6B"/>
                </a:solidFill>
                <a:latin typeface="Roboto" pitchFamily="34" charset="0"/>
                <a:ea typeface="Roboto" pitchFamily="34" charset="-122"/>
                <a:cs typeface="Roboto" pitchFamily="34" charset="-120"/>
              </a:rPr>
              <a:t>Capacitación 2026</a:t>
            </a:r>
            <a:endParaRPr lang="en-US" sz="900" dirty="0"/>
          </a:p>
        </p:txBody>
      </p:sp>
      <p:sp>
        <p:nvSpPr>
          <p:cNvPr id="12" name="Text 10"/>
          <p:cNvSpPr/>
          <p:nvPr/>
        </p:nvSpPr>
        <p:spPr>
          <a:xfrm>
            <a:off x="822960" y="1737360"/>
            <a:ext cx="6766560" cy="365760"/>
          </a:xfrm>
          <a:prstGeom prst="rect">
            <a:avLst/>
          </a:prstGeom>
          <a:noFill/>
          <a:ln/>
        </p:spPr>
        <p:txBody>
          <a:bodyPr wrap="square" rtlCol="0" anchor="ctr"/>
          <a:lstStyle/>
          <a:p>
            <a:pPr indent="0" marL="0">
              <a:buNone/>
            </a:pPr>
            <a:r>
              <a:rPr lang="en-US" sz="1250" b="1" spc="120" kern="0" dirty="0">
                <a:solidFill>
                  <a:srgbClr val="E2231A"/>
                </a:solidFill>
                <a:latin typeface="Roboto" pitchFamily="34" charset="0"/>
                <a:ea typeface="Roboto" pitchFamily="34" charset="-122"/>
                <a:cs typeface="Roboto" pitchFamily="34" charset="-120"/>
              </a:rPr>
              <a:t>CAPACITACIÓN EN CIBERDEFENSA Y CIBERSEGURIDAD · 40 HORAS · BACCI</a:t>
            </a:r>
            <a:endParaRPr lang="en-US" sz="1250" dirty="0"/>
          </a:p>
        </p:txBody>
      </p:sp>
      <p:sp>
        <p:nvSpPr>
          <p:cNvPr id="13" name="Text 11"/>
          <p:cNvSpPr/>
          <p:nvPr/>
        </p:nvSpPr>
        <p:spPr>
          <a:xfrm>
            <a:off x="822960" y="2148840"/>
            <a:ext cx="6766560" cy="1828800"/>
          </a:xfrm>
          <a:prstGeom prst="rect">
            <a:avLst/>
          </a:prstGeom>
          <a:noFill/>
          <a:ln/>
        </p:spPr>
        <p:txBody>
          <a:bodyPr wrap="square" rtlCol="0" anchor="ctr"/>
          <a:lstStyle/>
          <a:p>
            <a:pPr indent="0" marL="0">
              <a:buNone/>
            </a:pPr>
            <a:r>
              <a:rPr lang="en-US" sz="3600" b="1" dirty="0">
                <a:solidFill>
                  <a:srgbClr val="1A1A1A"/>
                </a:solidFill>
                <a:latin typeface="Roboto" pitchFamily="34" charset="0"/>
                <a:ea typeface="Roboto" pitchFamily="34" charset="-122"/>
                <a:cs typeface="Roboto" pitchFamily="34" charset="-120"/>
              </a:rPr>
              <a:t>Sesión 3</a:t>
            </a:r>
            <a:endParaRPr lang="en-US" sz="3600" dirty="0"/>
          </a:p>
          <a:p>
            <a:pPr indent="0" marL="0">
              <a:buNone/>
            </a:pPr>
            <a:r>
              <a:rPr lang="en-US" sz="3600" b="1" dirty="0">
                <a:solidFill>
                  <a:srgbClr val="1A1A1A"/>
                </a:solidFill>
                <a:latin typeface="Roboto" pitchFamily="34" charset="0"/>
                <a:ea typeface="Roboto" pitchFamily="34" charset="-122"/>
                <a:cs typeface="Roboto" pitchFamily="34" charset="-120"/>
              </a:rPr>
              <a:t>OSINT aplicado a infraestructura web</a:t>
            </a:r>
            <a:endParaRPr lang="en-US" sz="3600" dirty="0"/>
          </a:p>
        </p:txBody>
      </p:sp>
      <p:sp>
        <p:nvSpPr>
          <p:cNvPr id="14" name="Text 12"/>
          <p:cNvSpPr/>
          <p:nvPr/>
        </p:nvSpPr>
        <p:spPr>
          <a:xfrm>
            <a:off x="822960" y="3977640"/>
            <a:ext cx="6583680" cy="822960"/>
          </a:xfrm>
          <a:prstGeom prst="rect">
            <a:avLst/>
          </a:prstGeom>
          <a:noFill/>
          <a:ln/>
        </p:spPr>
        <p:txBody>
          <a:bodyPr wrap="square" rtlCol="0" anchor="ctr"/>
          <a:lstStyle/>
          <a:p>
            <a:pPr indent="0" marL="0">
              <a:buNone/>
            </a:pPr>
            <a:r>
              <a:rPr lang="en-US" sz="1500" dirty="0">
                <a:solidFill>
                  <a:srgbClr val="6B6B6B"/>
                </a:solidFill>
                <a:latin typeface="Roboto" pitchFamily="34" charset="0"/>
                <a:ea typeface="Roboto" pitchFamily="34" charset="-122"/>
                <a:cs typeface="Roboto" pitchFamily="34" charset="-120"/>
              </a:rPr>
              <a:t>Día 2 de 5, mañana · 8:00 a. m. – 12:00 m. · Comparte jornada con Sesión 4</a:t>
            </a:r>
            <a:endParaRPr lang="en-US" sz="1500" dirty="0"/>
          </a:p>
        </p:txBody>
      </p:sp>
      <p:sp>
        <p:nvSpPr>
          <p:cNvPr id="15" name="Text 13"/>
          <p:cNvSpPr/>
          <p:nvPr/>
        </p:nvSpPr>
        <p:spPr>
          <a:xfrm>
            <a:off x="822960" y="5989320"/>
            <a:ext cx="6675120" cy="548640"/>
          </a:xfrm>
          <a:prstGeom prst="rect">
            <a:avLst/>
          </a:prstGeom>
          <a:noFill/>
          <a:ln/>
        </p:spPr>
        <p:txBody>
          <a:bodyPr wrap="square" rtlCol="0" anchor="ctr"/>
          <a:lstStyle/>
          <a:p>
            <a:pPr indent="0" marL="0">
              <a:buNone/>
            </a:pPr>
            <a:r>
              <a:rPr lang="en-US" sz="1050" i="1" dirty="0">
                <a:solidFill>
                  <a:srgbClr val="6B6B6B"/>
                </a:solidFill>
                <a:latin typeface="Roboto" pitchFamily="34" charset="0"/>
                <a:ea typeface="Roboto" pitchFamily="34" charset="-122"/>
                <a:cs typeface="Roboto" pitchFamily="34" charset="-120"/>
              </a:rPr>
              <a:t>Renovación del sistema de análisis de vulnerabilidades — Contrato 035 CENAC Telemática 2026</a:t>
            </a:r>
            <a:endParaRPr lang="en-US" sz="1050" dirty="0"/>
          </a:p>
        </p:txBody>
      </p:sp>
      <p:sp>
        <p:nvSpPr>
          <p:cNvPr id="16" name="Text 14"/>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FFFFFF"/>
                </a:solidFill>
                <a:latin typeface="Roboto" pitchFamily="34" charset="0"/>
                <a:ea typeface="Roboto" pitchFamily="34" charset="-122"/>
                <a:cs typeface="Roboto"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SESIÓN 3 · AGENDA DE LA MAÑANA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Cómo está organizada esta mañana de 4 horas</a:t>
            </a:r>
            <a:endParaRPr lang="en-US" sz="2500" dirty="0"/>
          </a:p>
        </p:txBody>
      </p:sp>
      <p:sp>
        <p:nvSpPr>
          <p:cNvPr id="6" name="Shape 4"/>
          <p:cNvSpPr/>
          <p:nvPr/>
        </p:nvSpPr>
        <p:spPr>
          <a:xfrm>
            <a:off x="548640" y="2743200"/>
            <a:ext cx="1645920" cy="1371600"/>
          </a:xfrm>
          <a:prstGeom prst="roundRect">
            <a:avLst>
              <a:gd name="adj" fmla="val 5333"/>
            </a:avLst>
          </a:prstGeom>
          <a:solidFill>
            <a:srgbClr val="E2231A"/>
          </a:solidFill>
          <a:ln/>
        </p:spPr>
      </p:sp>
      <p:sp>
        <p:nvSpPr>
          <p:cNvPr id="7" name="Text 5"/>
          <p:cNvSpPr/>
          <p:nvPr/>
        </p:nvSpPr>
        <p:spPr>
          <a:xfrm>
            <a:off x="62179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Apertura</a:t>
            </a:r>
            <a:endParaRPr lang="en-US" sz="1250" dirty="0"/>
          </a:p>
        </p:txBody>
      </p:sp>
      <p:sp>
        <p:nvSpPr>
          <p:cNvPr id="8" name="Text 6"/>
          <p:cNvSpPr/>
          <p:nvPr/>
        </p:nvSpPr>
        <p:spPr>
          <a:xfrm>
            <a:off x="62179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8:00 · Recuperación de dudas</a:t>
            </a:r>
            <a:endParaRPr lang="en-US" sz="1000" dirty="0"/>
          </a:p>
        </p:txBody>
      </p:sp>
      <p:sp>
        <p:nvSpPr>
          <p:cNvPr id="9" name="Text 7"/>
          <p:cNvSpPr/>
          <p:nvPr/>
        </p:nvSpPr>
        <p:spPr>
          <a:xfrm>
            <a:off x="2194560"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0" name="Shape 8"/>
          <p:cNvSpPr/>
          <p:nvPr/>
        </p:nvSpPr>
        <p:spPr>
          <a:xfrm>
            <a:off x="2432304" y="2743200"/>
            <a:ext cx="1645920" cy="1371600"/>
          </a:xfrm>
          <a:prstGeom prst="roundRect">
            <a:avLst>
              <a:gd name="adj" fmla="val 5333"/>
            </a:avLst>
          </a:prstGeom>
          <a:solidFill>
            <a:srgbClr val="1A1A1A"/>
          </a:solidFill>
          <a:ln/>
        </p:spPr>
      </p:sp>
      <p:sp>
        <p:nvSpPr>
          <p:cNvPr id="11" name="Text 9"/>
          <p:cNvSpPr/>
          <p:nvPr/>
        </p:nvSpPr>
        <p:spPr>
          <a:xfrm>
            <a:off x="2505456"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Metodología OSINT</a:t>
            </a:r>
            <a:endParaRPr lang="en-US" sz="1250" dirty="0"/>
          </a:p>
        </p:txBody>
      </p:sp>
      <p:sp>
        <p:nvSpPr>
          <p:cNvPr id="12" name="Text 10"/>
          <p:cNvSpPr/>
          <p:nvPr/>
        </p:nvSpPr>
        <p:spPr>
          <a:xfrm>
            <a:off x="2505456"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Alcance, fuentes, ética</a:t>
            </a:r>
            <a:endParaRPr lang="en-US" sz="1000" dirty="0"/>
          </a:p>
        </p:txBody>
      </p:sp>
      <p:sp>
        <p:nvSpPr>
          <p:cNvPr id="13" name="Text 11"/>
          <p:cNvSpPr/>
          <p:nvPr/>
        </p:nvSpPr>
        <p:spPr>
          <a:xfrm>
            <a:off x="4078224"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4" name="Shape 12"/>
          <p:cNvSpPr/>
          <p:nvPr/>
        </p:nvSpPr>
        <p:spPr>
          <a:xfrm>
            <a:off x="4315968" y="2743200"/>
            <a:ext cx="1645920" cy="1371600"/>
          </a:xfrm>
          <a:prstGeom prst="roundRect">
            <a:avLst>
              <a:gd name="adj" fmla="val 5333"/>
            </a:avLst>
          </a:prstGeom>
          <a:solidFill>
            <a:srgbClr val="E2231A"/>
          </a:solidFill>
          <a:ln/>
        </p:spPr>
      </p:sp>
      <p:sp>
        <p:nvSpPr>
          <p:cNvPr id="15" name="Text 13"/>
          <p:cNvSpPr/>
          <p:nvPr/>
        </p:nvSpPr>
        <p:spPr>
          <a:xfrm>
            <a:off x="4389120"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Pausa</a:t>
            </a:r>
            <a:endParaRPr lang="en-US" sz="1250" dirty="0"/>
          </a:p>
        </p:txBody>
      </p:sp>
      <p:sp>
        <p:nvSpPr>
          <p:cNvPr id="16" name="Text 14"/>
          <p:cNvSpPr/>
          <p:nvPr/>
        </p:nvSpPr>
        <p:spPr>
          <a:xfrm>
            <a:off x="4389120"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15 min</a:t>
            </a:r>
            <a:endParaRPr lang="en-US" sz="1000" dirty="0"/>
          </a:p>
        </p:txBody>
      </p:sp>
      <p:sp>
        <p:nvSpPr>
          <p:cNvPr id="17" name="Text 15"/>
          <p:cNvSpPr/>
          <p:nvPr/>
        </p:nvSpPr>
        <p:spPr>
          <a:xfrm>
            <a:off x="5961888"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18" name="Shape 16"/>
          <p:cNvSpPr/>
          <p:nvPr/>
        </p:nvSpPr>
        <p:spPr>
          <a:xfrm>
            <a:off x="6199632" y="2743200"/>
            <a:ext cx="1645920" cy="1371600"/>
          </a:xfrm>
          <a:prstGeom prst="roundRect">
            <a:avLst>
              <a:gd name="adj" fmla="val 5333"/>
            </a:avLst>
          </a:prstGeom>
          <a:solidFill>
            <a:srgbClr val="1A1A1A"/>
          </a:solidFill>
          <a:ln/>
        </p:spPr>
      </p:sp>
      <p:sp>
        <p:nvSpPr>
          <p:cNvPr id="19" name="Text 17"/>
          <p:cNvSpPr/>
          <p:nvPr/>
        </p:nvSpPr>
        <p:spPr>
          <a:xfrm>
            <a:off x="6272784"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Demostración</a:t>
            </a:r>
            <a:endParaRPr lang="en-US" sz="1250" dirty="0"/>
          </a:p>
        </p:txBody>
      </p:sp>
      <p:sp>
        <p:nvSpPr>
          <p:cNvPr id="20" name="Text 18"/>
          <p:cNvSpPr/>
          <p:nvPr/>
        </p:nvSpPr>
        <p:spPr>
          <a:xfrm>
            <a:off x="6272784"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crt.sh, WHOIS, búsqueda</a:t>
            </a:r>
            <a:endParaRPr lang="en-US" sz="1000" dirty="0"/>
          </a:p>
        </p:txBody>
      </p:sp>
      <p:sp>
        <p:nvSpPr>
          <p:cNvPr id="21" name="Text 19"/>
          <p:cNvSpPr/>
          <p:nvPr/>
        </p:nvSpPr>
        <p:spPr>
          <a:xfrm>
            <a:off x="7845552"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2" name="Shape 20"/>
          <p:cNvSpPr/>
          <p:nvPr/>
        </p:nvSpPr>
        <p:spPr>
          <a:xfrm>
            <a:off x="8083296" y="2743200"/>
            <a:ext cx="1645920" cy="1371600"/>
          </a:xfrm>
          <a:prstGeom prst="roundRect">
            <a:avLst>
              <a:gd name="adj" fmla="val 5333"/>
            </a:avLst>
          </a:prstGeom>
          <a:solidFill>
            <a:srgbClr val="E2231A"/>
          </a:solidFill>
          <a:ln/>
        </p:spPr>
      </p:sp>
      <p:sp>
        <p:nvSpPr>
          <p:cNvPr id="23" name="Text 21"/>
          <p:cNvSpPr/>
          <p:nvPr/>
        </p:nvSpPr>
        <p:spPr>
          <a:xfrm>
            <a:off x="8156448"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Aplicación</a:t>
            </a:r>
            <a:endParaRPr lang="en-US" sz="1250" dirty="0"/>
          </a:p>
        </p:txBody>
      </p:sp>
      <p:sp>
        <p:nvSpPr>
          <p:cNvPr id="24" name="Text 22"/>
          <p:cNvSpPr/>
          <p:nvPr/>
        </p:nvSpPr>
        <p:spPr>
          <a:xfrm>
            <a:off x="8156448"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Inventario OSINT guiado</a:t>
            </a:r>
            <a:endParaRPr lang="en-US" sz="1000" dirty="0"/>
          </a:p>
        </p:txBody>
      </p:sp>
      <p:sp>
        <p:nvSpPr>
          <p:cNvPr id="25" name="Text 23"/>
          <p:cNvSpPr/>
          <p:nvPr/>
        </p:nvSpPr>
        <p:spPr>
          <a:xfrm>
            <a:off x="9729216" y="3108960"/>
            <a:ext cx="237744" cy="640080"/>
          </a:xfrm>
          <a:prstGeom prst="rect">
            <a:avLst/>
          </a:prstGeom>
          <a:noFill/>
          <a:ln/>
        </p:spPr>
        <p:txBody>
          <a:bodyPr wrap="square" rtlCol="0" anchor="ctr"/>
          <a:lstStyle/>
          <a:p>
            <a:pPr algn="ctr" indent="0" marL="0">
              <a:buNone/>
            </a:pPr>
            <a:r>
              <a:rPr lang="en-US" sz="2200" b="1" dirty="0">
                <a:solidFill>
                  <a:srgbClr val="E2231A"/>
                </a:solidFill>
                <a:latin typeface="Roboto" pitchFamily="34" charset="0"/>
                <a:ea typeface="Roboto" pitchFamily="34" charset="-122"/>
                <a:cs typeface="Roboto" pitchFamily="34" charset="-120"/>
              </a:rPr>
              <a:t>›</a:t>
            </a:r>
            <a:endParaRPr lang="en-US" sz="2200" dirty="0"/>
          </a:p>
        </p:txBody>
      </p:sp>
      <p:sp>
        <p:nvSpPr>
          <p:cNvPr id="26" name="Shape 24"/>
          <p:cNvSpPr/>
          <p:nvPr/>
        </p:nvSpPr>
        <p:spPr>
          <a:xfrm>
            <a:off x="9966960" y="2743200"/>
            <a:ext cx="1645920" cy="1371600"/>
          </a:xfrm>
          <a:prstGeom prst="roundRect">
            <a:avLst>
              <a:gd name="adj" fmla="val 5333"/>
            </a:avLst>
          </a:prstGeom>
          <a:solidFill>
            <a:srgbClr val="1A1A1A"/>
          </a:solidFill>
          <a:ln/>
        </p:spPr>
      </p:sp>
      <p:sp>
        <p:nvSpPr>
          <p:cNvPr id="27" name="Text 25"/>
          <p:cNvSpPr/>
          <p:nvPr/>
        </p:nvSpPr>
        <p:spPr>
          <a:xfrm>
            <a:off x="10040112" y="2834640"/>
            <a:ext cx="1499616" cy="457200"/>
          </a:xfrm>
          <a:prstGeom prst="rect">
            <a:avLst/>
          </a:prstGeom>
          <a:noFill/>
          <a:ln/>
        </p:spPr>
        <p:txBody>
          <a:bodyPr wrap="square" rtlCol="0" anchor="ctr"/>
          <a:lstStyle/>
          <a:p>
            <a:pPr algn="ctr" indent="0" marL="0">
              <a:buNone/>
            </a:pPr>
            <a:r>
              <a:rPr lang="en-US" sz="1250" b="1" dirty="0">
                <a:solidFill>
                  <a:srgbClr val="FFFFFF"/>
                </a:solidFill>
                <a:latin typeface="Roboto" pitchFamily="34" charset="0"/>
                <a:ea typeface="Roboto" pitchFamily="34" charset="-122"/>
                <a:cs typeface="Roboto" pitchFamily="34" charset="-120"/>
              </a:rPr>
              <a:t>Cierre</a:t>
            </a:r>
            <a:endParaRPr lang="en-US" sz="1250" dirty="0"/>
          </a:p>
        </p:txBody>
      </p:sp>
      <p:sp>
        <p:nvSpPr>
          <p:cNvPr id="28" name="Text 26"/>
          <p:cNvSpPr/>
          <p:nvPr/>
        </p:nvSpPr>
        <p:spPr>
          <a:xfrm>
            <a:off x="10040112" y="3310128"/>
            <a:ext cx="1499616" cy="731520"/>
          </a:xfrm>
          <a:prstGeom prst="rect">
            <a:avLst/>
          </a:prstGeom>
          <a:noFill/>
          <a:ln/>
        </p:spPr>
        <p:txBody>
          <a:bodyPr wrap="square" rtlCol="0" anchor="ctr"/>
          <a:lstStyle/>
          <a:p>
            <a:pPr algn="ctr" indent="0" marL="0">
              <a:buNone/>
            </a:pPr>
            <a:r>
              <a:rPr lang="en-US" sz="1000" dirty="0">
                <a:solidFill>
                  <a:srgbClr val="F1D9D8"/>
                </a:solidFill>
                <a:latin typeface="Roboto" pitchFamily="34" charset="0"/>
                <a:ea typeface="Roboto" pitchFamily="34" charset="-122"/>
                <a:cs typeface="Roboto" pitchFamily="34" charset="-120"/>
              </a:rPr>
              <a:t>Encuesta y bitácora</a:t>
            </a:r>
            <a:endParaRPr lang="en-US" sz="10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SESIÓN 3 · AGENDA DE LA MAÑANA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APERTURA · ACTIVACIÓN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Recuperación: dudas de la Sesión 2</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Revisemos las dudas registradas en la encuesta/bitácora de ayer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El instructor prioriza las 2-3 más recurrentes sobre DNS, HTTP o TLS.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Repaso relámpago: flujo DNS → IP → TCP → TLS → HTTP</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30 segundos por concepto; hoy se usa ese flujo para entender qué información expone cada capa.</a:t>
            </a:r>
            <a:endParaRPr lang="en-US" sz="1250" dirty="0"/>
          </a:p>
        </p:txBody>
      </p:sp>
      <p:sp>
        <p:nvSpPr>
          <p:cNvPr id="14" name="Shape 12"/>
          <p:cNvSpPr/>
          <p:nvPr/>
        </p:nvSpPr>
        <p:spPr>
          <a:xfrm>
            <a:off x="548640" y="5623560"/>
            <a:ext cx="11064240" cy="685800"/>
          </a:xfrm>
          <a:prstGeom prst="roundRect">
            <a:avLst>
              <a:gd name="adj" fmla="val 10667"/>
            </a:avLst>
          </a:prstGeom>
          <a:solidFill>
            <a:srgbClr val="FCEBEA"/>
          </a:solidFill>
          <a:ln/>
        </p:spPr>
      </p:sp>
      <p:sp>
        <p:nvSpPr>
          <p:cNvPr id="15" name="Shape 13"/>
          <p:cNvSpPr/>
          <p:nvPr/>
        </p:nvSpPr>
        <p:spPr>
          <a:xfrm>
            <a:off x="548640" y="5623560"/>
            <a:ext cx="54864" cy="685800"/>
          </a:xfrm>
          <a:prstGeom prst="rect">
            <a:avLst/>
          </a:prstGeom>
          <a:solidFill>
            <a:srgbClr val="E2231A"/>
          </a:solidFill>
          <a:ln/>
        </p:spPr>
      </p:sp>
      <p:sp>
        <p:nvSpPr>
          <p:cNvPr id="16" name="Text 14"/>
          <p:cNvSpPr/>
          <p:nvPr/>
        </p:nvSpPr>
        <p:spPr>
          <a:xfrm>
            <a:off x="822960" y="5623560"/>
            <a:ext cx="10607040" cy="685800"/>
          </a:xfrm>
          <a:prstGeom prst="rect">
            <a:avLst/>
          </a:prstGeom>
          <a:noFill/>
          <a:ln/>
        </p:spPr>
        <p:txBody>
          <a:bodyPr wrap="square" rtlCol="0" anchor="ctr"/>
          <a:lstStyle/>
          <a:p>
            <a:pPr indent="0" marL="0">
              <a:buNone/>
            </a:pPr>
            <a:r>
              <a:rPr lang="en-US" sz="1200" i="1" dirty="0">
                <a:solidFill>
                  <a:srgbClr val="7A0F0B"/>
                </a:solidFill>
                <a:latin typeface="Roboto" pitchFamily="34" charset="0"/>
                <a:ea typeface="Roboto" pitchFamily="34" charset="-122"/>
                <a:cs typeface="Roboto" pitchFamily="34" charset="-120"/>
              </a:rPr>
              <a:t>Este bloque de recuperación es corto (10-15 min): el objetivo es cerrar huecos puntuales antes de introducir OSINT.</a:t>
            </a:r>
            <a:endParaRPr lang="en-US" sz="1200" dirty="0"/>
          </a:p>
        </p:txBody>
      </p:sp>
      <p:sp>
        <p:nvSpPr>
          <p:cNvPr id="17" name="Shape 15"/>
          <p:cNvSpPr/>
          <p:nvPr/>
        </p:nvSpPr>
        <p:spPr>
          <a:xfrm rot="2700000">
            <a:off x="502920" y="6501384"/>
            <a:ext cx="82296" cy="82296"/>
          </a:xfrm>
          <a:prstGeom prst="rect">
            <a:avLst/>
          </a:prstGeom>
          <a:solidFill>
            <a:srgbClr val="E2231A"/>
          </a:solidFill>
          <a:ln/>
        </p:spPr>
      </p:sp>
      <p:sp>
        <p:nvSpPr>
          <p:cNvPr id="18" name="Text 1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APERTURA · ACTIVACIÓN</a:t>
            </a:r>
            <a:endParaRPr lang="en-US" sz="800" dirty="0"/>
          </a:p>
        </p:txBody>
      </p:sp>
      <p:sp>
        <p:nvSpPr>
          <p:cNvPr id="19" name="Text 1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Qué es OSINT y cuál es su alcance en este curso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OSINT — Open Source Intelligence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Inteligencia obtenida exclusivamente de fuentes públicas y lícitas: nada de acceso restringido ni credenciales ajenas.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Es una metodología, no una técnica aislada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Definir objetivo → identificar fuentes → recolectar → verificar → documentar → analizar.</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En este curso, aplicada a infraestructura web</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DNS, certificados, motores de búsqueda y WHOIS de un dominio de laboratorio — no personas ni redes sociales.</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Reconocimiento pasivo vs. activo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Pasivo (lo que se hace en OSINT)</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No toca el objetivo directamente</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Consulta terceros que ya tienen la información indexada</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Ej.: crt.sh, WHOIS, motores de búsqueda</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Activo (fuera de alcance de esta sesión)</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Interactúa directamente con el objetivo</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Genera tráfico dirigido buscando una respuesta</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Ej.: escaneo de puertos, fuerza bruta</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¿Cuáles de estas acciones son reconocimiento PASIVO (no tocan el objetivo directamente)?</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Solo consultar WHOIS del dominio.</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Solo hacer ping al servidor del dominio.</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Consultar WHOIS y revisar Certificate Transparency (crt.sh) — ninguna toca el objetivo directamente.</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Escanear los puertos abiertos del servidor con una herramienta de escaneo.</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Categorías de fuentes públicas</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Infraestructura técnica</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Registros DNS públicos</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Certificate Transparency (crt.sh)</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WHOIS del dominio</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Contenido e indexación</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Motores de búsqueda con operadores avanzados</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Metadatos públicos de documentos indexados</a:t>
            </a:r>
            <a:endParaRPr lang="en-US" sz="1300" dirty="0"/>
          </a:p>
        </p:txBody>
      </p:sp>
      <p:sp>
        <p:nvSpPr>
          <p:cNvPr id="24" name="Shape 22"/>
          <p:cNvSpPr/>
          <p:nvPr/>
        </p:nvSpPr>
        <p:spPr>
          <a:xfrm rot="2700000">
            <a:off x="502920" y="6501384"/>
            <a:ext cx="82296" cy="82296"/>
          </a:xfrm>
          <a:prstGeom prst="rect">
            <a:avLst/>
          </a:prstGeom>
          <a:solidFill>
            <a:srgbClr val="E2231A"/>
          </a:solidFill>
          <a:ln/>
        </p:spPr>
      </p:sp>
      <p:sp>
        <p:nvSpPr>
          <p:cNvPr id="25" name="Text 2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26" name="Text 2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Evaluación de confiabilidad de una fuente</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Oficialidad</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¿Proviene directamente del operador del recurso (registrador, CA, repositorio oficial) o de un agregador de terceros?</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Actualidad</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¿Cuándo se generó o actualizó por última vez esta información?</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Verificabilidad cruzada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¿Puede confirmarse el mismo hallazgo desde una segunda fuente independiente?</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Temporalidad: un hallazgo puede estar desactualizado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La vida útil de un dato varía según su tipo</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registro DNS cambia en minutos; un certificado dura meses; un documento indexado puede persistir años en caché.</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Por eso siempre se documenta la fecha exacta de consulta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Sin fecha, un hallazgo OSINT pierde valor de evidencia.</a:t>
            </a:r>
            <a:endParaRPr lang="en-US" sz="1250" dirty="0"/>
          </a:p>
        </p:txBody>
      </p:sp>
      <p:sp>
        <p:nvSpPr>
          <p:cNvPr id="14" name="Shape 12"/>
          <p:cNvSpPr/>
          <p:nvPr/>
        </p:nvSpPr>
        <p:spPr>
          <a:xfrm rot="2700000">
            <a:off x="502920" y="6501384"/>
            <a:ext cx="82296" cy="82296"/>
          </a:xfrm>
          <a:prstGeom prst="rect">
            <a:avLst/>
          </a:prstGeom>
          <a:solidFill>
            <a:srgbClr val="E2231A"/>
          </a:solidFill>
          <a:ln/>
        </p:spPr>
      </p:sp>
      <p:sp>
        <p:nvSpPr>
          <p:cNvPr id="15" name="Text 1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16" name="Text 1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METODOLOGÍA OSINT</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Cadena de evidencia aplicada a OSINT</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Qué se consultó</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Fuente exacta: URL, herramienta o comando utilizado.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Cuándo se consultó</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Fecha y hora exactas de la consulta.</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Cómo se preservó el resultado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Captura de pantalla o exportación del resultado original, sin edición.</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METODOLOGÍA OSINT</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1280160" y="4206240"/>
            <a:ext cx="3840480" cy="3840480"/>
          </a:xfrm>
          <a:prstGeom prst="ellipse">
            <a:avLst/>
          </a:prstGeom>
          <a:solidFill>
            <a:srgbClr val="A81810">
              <a:alpha val="70000"/>
            </a:srgbClr>
          </a:solidFill>
          <a:ln/>
        </p:spPr>
      </p:sp>
      <p:sp>
        <p:nvSpPr>
          <p:cNvPr id="3" name="Shape 1"/>
          <p:cNvSpPr/>
          <p:nvPr/>
        </p:nvSpPr>
        <p:spPr>
          <a:xfrm>
            <a:off x="10332720" y="-1371600"/>
            <a:ext cx="3108960" cy="3108960"/>
          </a:xfrm>
          <a:prstGeom prst="ellipse">
            <a:avLst/>
          </a:prstGeom>
          <a:solidFill>
            <a:srgbClr val="A81810">
              <a:alpha val="70000"/>
            </a:srgbClr>
          </a:solidFill>
          <a:ln/>
        </p:spPr>
      </p:sp>
      <p:sp>
        <p:nvSpPr>
          <p:cNvPr id="4" name="Text 2"/>
          <p:cNvSpPr/>
          <p:nvPr/>
        </p:nvSpPr>
        <p:spPr>
          <a:xfrm>
            <a:off x="640080" y="502920"/>
            <a:ext cx="2286000" cy="2011680"/>
          </a:xfrm>
          <a:prstGeom prst="rect">
            <a:avLst/>
          </a:prstGeom>
          <a:noFill/>
          <a:ln/>
        </p:spPr>
        <p:txBody>
          <a:bodyPr wrap="square" rtlCol="0" anchor="ctr"/>
          <a:lstStyle/>
          <a:p>
            <a:pPr indent="0" marL="0">
              <a:buNone/>
            </a:pPr>
            <a:r>
              <a:rPr lang="en-US" sz="13000" b="1" i="1" dirty="0">
                <a:solidFill>
                  <a:srgbClr val="A81810"/>
                </a:solidFill>
                <a:latin typeface="Georgia" pitchFamily="34" charset="0"/>
                <a:ea typeface="Georgia" pitchFamily="34" charset="-122"/>
                <a:cs typeface="Georgia" pitchFamily="34" charset="-120"/>
              </a:rPr>
              <a:t>”</a:t>
            </a:r>
            <a:endParaRPr lang="en-US" sz="13000" dirty="0"/>
          </a:p>
        </p:txBody>
      </p:sp>
      <p:sp>
        <p:nvSpPr>
          <p:cNvPr id="5" name="Text 3"/>
          <p:cNvSpPr/>
          <p:nvPr/>
        </p:nvSpPr>
        <p:spPr>
          <a:xfrm>
            <a:off x="914400" y="1965960"/>
            <a:ext cx="987552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PREGUNTA PARA DISCUTIR EN GRUPO</a:t>
            </a:r>
            <a:endParaRPr lang="en-US" sz="1300" dirty="0"/>
          </a:p>
        </p:txBody>
      </p:sp>
      <p:sp>
        <p:nvSpPr>
          <p:cNvPr id="6" name="Text 4"/>
          <p:cNvSpPr/>
          <p:nvPr/>
        </p:nvSpPr>
        <p:spPr>
          <a:xfrm>
            <a:off x="914400" y="2423160"/>
            <a:ext cx="10058400" cy="2377440"/>
          </a:xfrm>
          <a:prstGeom prst="rect">
            <a:avLst/>
          </a:prstGeom>
          <a:noFill/>
          <a:ln/>
        </p:spPr>
        <p:txBody>
          <a:bodyPr wrap="square" rtlCol="0" anchor="ctr"/>
          <a:lstStyle/>
          <a:p>
            <a:pPr indent="0" marL="0">
              <a:buNone/>
            </a:pPr>
            <a:r>
              <a:rPr lang="en-US" sz="2800" b="1" dirty="0">
                <a:solidFill>
                  <a:srgbClr val="FFFFFF"/>
                </a:solidFill>
                <a:latin typeface="Roboto" pitchFamily="34" charset="0"/>
                <a:ea typeface="Roboto" pitchFamily="34" charset="-122"/>
                <a:cs typeface="Roboto" pitchFamily="34" charset="-120"/>
              </a:rPr>
              <a:t>Si, buscando información sobre el dominio de laboratorio, aparece accidentalmente un dato que parece personal o sensible, ¿qué hacen?</a:t>
            </a:r>
            <a:endParaRPr lang="en-US" sz="2800" dirty="0"/>
          </a:p>
        </p:txBody>
      </p:sp>
      <p:sp>
        <p:nvSpPr>
          <p:cNvPr id="7" name="Text 5"/>
          <p:cNvSpPr/>
          <p:nvPr/>
        </p:nvSpPr>
        <p:spPr>
          <a:xfrm>
            <a:off x="914400" y="4937760"/>
            <a:ext cx="9601200" cy="731520"/>
          </a:xfrm>
          <a:prstGeom prst="rect">
            <a:avLst/>
          </a:prstGeom>
          <a:noFill/>
          <a:ln/>
        </p:spPr>
        <p:txBody>
          <a:bodyPr wrap="square" rtlCol="0" anchor="ctr"/>
          <a:lstStyle/>
          <a:p>
            <a:pPr indent="0" marL="0">
              <a:buNone/>
            </a:pPr>
            <a:r>
              <a:rPr lang="en-US" sz="1350" i="1" dirty="0">
                <a:solidFill>
                  <a:srgbClr val="FBDAD8"/>
                </a:solidFill>
                <a:latin typeface="Roboto" pitchFamily="34" charset="0"/>
                <a:ea typeface="Roboto" pitchFamily="34" charset="-122"/>
                <a:cs typeface="Roboto" pitchFamily="34" charset="-120"/>
              </a:rPr>
              <a:t>Coméntenlo con la persona de al lado (2 minutos) antes de que el instructor comparta la respuesta de referencia. Se retoma con más detalle en la Sesión 5.</a:t>
            </a:r>
            <a:endParaRPr lang="en-US" sz="1350" dirty="0"/>
          </a:p>
        </p:txBody>
      </p:sp>
      <p:sp>
        <p:nvSpPr>
          <p:cNvPr id="8" name="Shape 6"/>
          <p:cNvSpPr/>
          <p:nvPr/>
        </p:nvSpPr>
        <p:spPr>
          <a:xfrm rot="2700000">
            <a:off x="502920" y="6501384"/>
            <a:ext cx="82296" cy="82296"/>
          </a:xfrm>
          <a:prstGeom prst="rect">
            <a:avLst/>
          </a:prstGeom>
          <a:solidFill>
            <a:srgbClr val="FFFFFF"/>
          </a:solidFill>
          <a:ln/>
        </p:spPr>
      </p:sp>
      <p:sp>
        <p:nvSpPr>
          <p:cNvPr id="9" name="Text 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10" name="Text 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BLOQUE CONCEPTUAL · ÉTICA Y ALCANCE</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Límites legales y éticos: qué SÍ y qué NO</a:t>
            </a:r>
            <a:endParaRPr lang="en-US" sz="2500" dirty="0"/>
          </a:p>
        </p:txBody>
      </p:sp>
      <p:sp>
        <p:nvSpPr>
          <p:cNvPr id="6" name="Shape 4"/>
          <p:cNvSpPr/>
          <p:nvPr/>
        </p:nvSpPr>
        <p:spPr>
          <a:xfrm>
            <a:off x="548640" y="1691640"/>
            <a:ext cx="5212080" cy="4434840"/>
          </a:xfrm>
          <a:prstGeom prst="roundRect">
            <a:avLst>
              <a:gd name="adj" fmla="val 1649"/>
            </a:avLst>
          </a:prstGeom>
          <a:solidFill>
            <a:srgbClr val="F7F5F4"/>
          </a:solidFill>
          <a:ln w="9525">
            <a:solidFill>
              <a:srgbClr val="E7E1DF"/>
            </a:solidFill>
            <a:prstDash val="solid"/>
          </a:ln>
        </p:spPr>
      </p:sp>
      <p:sp>
        <p:nvSpPr>
          <p:cNvPr id="7" name="Shape 5"/>
          <p:cNvSpPr/>
          <p:nvPr/>
        </p:nvSpPr>
        <p:spPr>
          <a:xfrm>
            <a:off x="548640" y="1691640"/>
            <a:ext cx="5212080" cy="685800"/>
          </a:xfrm>
          <a:prstGeom prst="roundRect">
            <a:avLst>
              <a:gd name="adj" fmla="val 10667"/>
            </a:avLst>
          </a:prstGeom>
          <a:solidFill>
            <a:srgbClr val="E2231A"/>
          </a:solidFill>
          <a:ln/>
        </p:spPr>
      </p:sp>
      <p:sp>
        <p:nvSpPr>
          <p:cNvPr id="8" name="Shape 6"/>
          <p:cNvSpPr/>
          <p:nvPr/>
        </p:nvSpPr>
        <p:spPr>
          <a:xfrm>
            <a:off x="548640" y="2148840"/>
            <a:ext cx="5212080" cy="228600"/>
          </a:xfrm>
          <a:prstGeom prst="rect">
            <a:avLst/>
          </a:prstGeom>
          <a:solidFill>
            <a:srgbClr val="E2231A"/>
          </a:solidFill>
          <a:ln/>
        </p:spPr>
      </p:sp>
      <p:sp>
        <p:nvSpPr>
          <p:cNvPr id="9" name="Text 7"/>
          <p:cNvSpPr/>
          <p:nvPr/>
        </p:nvSpPr>
        <p:spPr>
          <a:xfrm>
            <a:off x="822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Permitido en este curso</a:t>
            </a:r>
            <a:endParaRPr lang="en-US" sz="1600" dirty="0"/>
          </a:p>
        </p:txBody>
      </p:sp>
      <p:sp>
        <p:nvSpPr>
          <p:cNvPr id="10" name="Shape 8"/>
          <p:cNvSpPr/>
          <p:nvPr/>
        </p:nvSpPr>
        <p:spPr>
          <a:xfrm>
            <a:off x="822960" y="2715768"/>
            <a:ext cx="82296" cy="82296"/>
          </a:xfrm>
          <a:prstGeom prst="ellipse">
            <a:avLst/>
          </a:prstGeom>
          <a:solidFill>
            <a:srgbClr val="E2231A"/>
          </a:solidFill>
          <a:ln/>
        </p:spPr>
      </p:sp>
      <p:sp>
        <p:nvSpPr>
          <p:cNvPr id="11" name="Text 9"/>
          <p:cNvSpPr/>
          <p:nvPr/>
        </p:nvSpPr>
        <p:spPr>
          <a:xfrm>
            <a:off x="1005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Consultar fuentes públicas ya indexadas</a:t>
            </a:r>
            <a:endParaRPr lang="en-US" sz="1300" dirty="0"/>
          </a:p>
        </p:txBody>
      </p:sp>
      <p:sp>
        <p:nvSpPr>
          <p:cNvPr id="12" name="Shape 10"/>
          <p:cNvSpPr/>
          <p:nvPr/>
        </p:nvSpPr>
        <p:spPr>
          <a:xfrm>
            <a:off x="822960" y="3282696"/>
            <a:ext cx="82296" cy="82296"/>
          </a:xfrm>
          <a:prstGeom prst="ellipse">
            <a:avLst/>
          </a:prstGeom>
          <a:solidFill>
            <a:srgbClr val="E2231A"/>
          </a:solidFill>
          <a:ln/>
        </p:spPr>
      </p:sp>
      <p:sp>
        <p:nvSpPr>
          <p:cNvPr id="13" name="Text 11"/>
          <p:cNvSpPr/>
          <p:nvPr/>
        </p:nvSpPr>
        <p:spPr>
          <a:xfrm>
            <a:off x="1005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Documentar hallazgos con fecha y fuente</a:t>
            </a:r>
            <a:endParaRPr lang="en-US" sz="1300" dirty="0"/>
          </a:p>
        </p:txBody>
      </p:sp>
      <p:sp>
        <p:nvSpPr>
          <p:cNvPr id="14" name="Shape 12"/>
          <p:cNvSpPr/>
          <p:nvPr/>
        </p:nvSpPr>
        <p:spPr>
          <a:xfrm>
            <a:off x="822960" y="3849624"/>
            <a:ext cx="82296" cy="82296"/>
          </a:xfrm>
          <a:prstGeom prst="ellipse">
            <a:avLst/>
          </a:prstGeom>
          <a:solidFill>
            <a:srgbClr val="E2231A"/>
          </a:solidFill>
          <a:ln/>
        </p:spPr>
      </p:sp>
      <p:sp>
        <p:nvSpPr>
          <p:cNvPr id="15" name="Text 13"/>
          <p:cNvSpPr/>
          <p:nvPr/>
        </p:nvSpPr>
        <p:spPr>
          <a:xfrm>
            <a:off x="1005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Correlacionar información de varias fuentes</a:t>
            </a:r>
            <a:endParaRPr lang="en-US" sz="1300" dirty="0"/>
          </a:p>
        </p:txBody>
      </p:sp>
      <p:sp>
        <p:nvSpPr>
          <p:cNvPr id="16" name="Shape 14"/>
          <p:cNvSpPr/>
          <p:nvPr/>
        </p:nvSpPr>
        <p:spPr>
          <a:xfrm>
            <a:off x="6263640" y="1691640"/>
            <a:ext cx="5212080" cy="4434840"/>
          </a:xfrm>
          <a:prstGeom prst="roundRect">
            <a:avLst>
              <a:gd name="adj" fmla="val 1649"/>
            </a:avLst>
          </a:prstGeom>
          <a:solidFill>
            <a:srgbClr val="F7F5F4"/>
          </a:solidFill>
          <a:ln w="9525">
            <a:solidFill>
              <a:srgbClr val="E7E1DF"/>
            </a:solidFill>
            <a:prstDash val="solid"/>
          </a:ln>
        </p:spPr>
      </p:sp>
      <p:sp>
        <p:nvSpPr>
          <p:cNvPr id="17" name="Shape 15"/>
          <p:cNvSpPr/>
          <p:nvPr/>
        </p:nvSpPr>
        <p:spPr>
          <a:xfrm>
            <a:off x="6263640" y="1691640"/>
            <a:ext cx="5212080" cy="685800"/>
          </a:xfrm>
          <a:prstGeom prst="roundRect">
            <a:avLst>
              <a:gd name="adj" fmla="val 10667"/>
            </a:avLst>
          </a:prstGeom>
          <a:solidFill>
            <a:srgbClr val="1A1A1A"/>
          </a:solidFill>
          <a:ln/>
        </p:spPr>
      </p:sp>
      <p:sp>
        <p:nvSpPr>
          <p:cNvPr id="18" name="Shape 16"/>
          <p:cNvSpPr/>
          <p:nvPr/>
        </p:nvSpPr>
        <p:spPr>
          <a:xfrm>
            <a:off x="6263640" y="2148840"/>
            <a:ext cx="5212080" cy="228600"/>
          </a:xfrm>
          <a:prstGeom prst="rect">
            <a:avLst/>
          </a:prstGeom>
          <a:solidFill>
            <a:srgbClr val="1A1A1A"/>
          </a:solidFill>
          <a:ln/>
        </p:spPr>
      </p:sp>
      <p:sp>
        <p:nvSpPr>
          <p:cNvPr id="19" name="Text 17"/>
          <p:cNvSpPr/>
          <p:nvPr/>
        </p:nvSpPr>
        <p:spPr>
          <a:xfrm>
            <a:off x="6537960" y="1691640"/>
            <a:ext cx="4663440" cy="685800"/>
          </a:xfrm>
          <a:prstGeom prst="rect">
            <a:avLst/>
          </a:prstGeom>
          <a:noFill/>
          <a:ln/>
        </p:spPr>
        <p:txBody>
          <a:bodyPr wrap="square" rtlCol="0" anchor="ctr"/>
          <a:lstStyle/>
          <a:p>
            <a:pPr indent="0" marL="0">
              <a:buNone/>
            </a:pPr>
            <a:r>
              <a:rPr lang="en-US" sz="1600" b="1" dirty="0">
                <a:solidFill>
                  <a:srgbClr val="FFFFFF"/>
                </a:solidFill>
                <a:latin typeface="Roboto" pitchFamily="34" charset="0"/>
                <a:ea typeface="Roboto" pitchFamily="34" charset="-122"/>
                <a:cs typeface="Roboto" pitchFamily="34" charset="-120"/>
              </a:rPr>
              <a:t>Prohibido en este curso</a:t>
            </a:r>
            <a:endParaRPr lang="en-US" sz="1600" dirty="0"/>
          </a:p>
        </p:txBody>
      </p:sp>
      <p:sp>
        <p:nvSpPr>
          <p:cNvPr id="20" name="Shape 18"/>
          <p:cNvSpPr/>
          <p:nvPr/>
        </p:nvSpPr>
        <p:spPr>
          <a:xfrm>
            <a:off x="6537960" y="2715768"/>
            <a:ext cx="82296" cy="82296"/>
          </a:xfrm>
          <a:prstGeom prst="ellipse">
            <a:avLst/>
          </a:prstGeom>
          <a:solidFill>
            <a:srgbClr val="1A1A1A"/>
          </a:solidFill>
          <a:ln/>
        </p:spPr>
      </p:sp>
      <p:sp>
        <p:nvSpPr>
          <p:cNvPr id="21" name="Text 19"/>
          <p:cNvSpPr/>
          <p:nvPr/>
        </p:nvSpPr>
        <p:spPr>
          <a:xfrm>
            <a:off x="6720840" y="2606040"/>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Ingeniería social</a:t>
            </a:r>
            <a:endParaRPr lang="en-US" sz="1300" dirty="0"/>
          </a:p>
        </p:txBody>
      </p:sp>
      <p:sp>
        <p:nvSpPr>
          <p:cNvPr id="22" name="Shape 20"/>
          <p:cNvSpPr/>
          <p:nvPr/>
        </p:nvSpPr>
        <p:spPr>
          <a:xfrm>
            <a:off x="6537960" y="3282696"/>
            <a:ext cx="82296" cy="82296"/>
          </a:xfrm>
          <a:prstGeom prst="ellipse">
            <a:avLst/>
          </a:prstGeom>
          <a:solidFill>
            <a:srgbClr val="1A1A1A"/>
          </a:solidFill>
          <a:ln/>
        </p:spPr>
      </p:sp>
      <p:sp>
        <p:nvSpPr>
          <p:cNvPr id="23" name="Text 21"/>
          <p:cNvSpPr/>
          <p:nvPr/>
        </p:nvSpPr>
        <p:spPr>
          <a:xfrm>
            <a:off x="6720840" y="3172968"/>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Acceso no autorizado a cualquier sistema</a:t>
            </a:r>
            <a:endParaRPr lang="en-US" sz="1300" dirty="0"/>
          </a:p>
        </p:txBody>
      </p:sp>
      <p:sp>
        <p:nvSpPr>
          <p:cNvPr id="24" name="Shape 22"/>
          <p:cNvSpPr/>
          <p:nvPr/>
        </p:nvSpPr>
        <p:spPr>
          <a:xfrm>
            <a:off x="6537960" y="3849624"/>
            <a:ext cx="82296" cy="82296"/>
          </a:xfrm>
          <a:prstGeom prst="ellipse">
            <a:avLst/>
          </a:prstGeom>
          <a:solidFill>
            <a:srgbClr val="1A1A1A"/>
          </a:solidFill>
          <a:ln/>
        </p:spPr>
      </p:sp>
      <p:sp>
        <p:nvSpPr>
          <p:cNvPr id="25" name="Text 23"/>
          <p:cNvSpPr/>
          <p:nvPr/>
        </p:nvSpPr>
        <p:spPr>
          <a:xfrm>
            <a:off x="6720840" y="3739896"/>
            <a:ext cx="4480560" cy="548640"/>
          </a:xfrm>
          <a:prstGeom prst="rect">
            <a:avLst/>
          </a:prstGeom>
          <a:noFill/>
          <a:ln/>
        </p:spPr>
        <p:txBody>
          <a:bodyPr wrap="square" rtlCol="0" anchor="t"/>
          <a:lstStyle/>
          <a:p>
            <a:pPr indent="0" marL="0">
              <a:buNone/>
            </a:pPr>
            <a:r>
              <a:rPr lang="en-US" sz="1300" dirty="0">
                <a:solidFill>
                  <a:srgbClr val="1A1A1A"/>
                </a:solidFill>
                <a:latin typeface="Roboto" pitchFamily="34" charset="0"/>
                <a:ea typeface="Roboto" pitchFamily="34" charset="-122"/>
                <a:cs typeface="Roboto" pitchFamily="34" charset="-120"/>
              </a:rPr>
              <a:t>Scraping agresivo o automatización masiva contra terceros</a:t>
            </a:r>
            <a:endParaRPr lang="en-US" sz="1300" dirty="0"/>
          </a:p>
        </p:txBody>
      </p:sp>
      <p:sp>
        <p:nvSpPr>
          <p:cNvPr id="26" name="Shape 24"/>
          <p:cNvSpPr/>
          <p:nvPr/>
        </p:nvSpPr>
        <p:spPr>
          <a:xfrm rot="2700000">
            <a:off x="502920" y="6501384"/>
            <a:ext cx="82296" cy="82296"/>
          </a:xfrm>
          <a:prstGeom prst="rect">
            <a:avLst/>
          </a:prstGeom>
          <a:solidFill>
            <a:srgbClr val="E2231A"/>
          </a:solidFill>
          <a:ln/>
        </p:spPr>
      </p:sp>
      <p:sp>
        <p:nvSpPr>
          <p:cNvPr id="27" name="Text 25"/>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BLOQUE CONCEPTUAL · ÉTICA Y ALCANCE</a:t>
            </a:r>
            <a:endParaRPr lang="en-US" sz="800" dirty="0"/>
          </a:p>
        </p:txBody>
      </p:sp>
      <p:sp>
        <p:nvSpPr>
          <p:cNvPr id="28" name="Text 26"/>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PAUSA</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15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Al volver: demostración en vivo con crt.sh, WHOIS y búsqueda avanzada.</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 LA DEMOSTRACIÓN · CERTIFICATE TRANSPARENCY</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Por qué Certificate Transparency expone subdominios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RFC 6962: todo certificado público queda registrado en logs abiertos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Cualquiera puede consultarlos, sin necesidad de acceso especial.</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Un subdominio que solicitó un certificado público queda visible ahí</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Aunque no aparezca en ningún registro DNS público consultado directamente.</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Es la fuente OSINT más reveladora de este curso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Y también la más citada como "sorpresa" por quienes la usan por primera vez.</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 LA DEMOSTRACIÓN · CERTIFICATE TRANSPARENCY</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COMPROBACIÓN RÁPIDA</a:t>
            </a:r>
            <a:endParaRPr lang="en-US" sz="1150" dirty="0"/>
          </a:p>
        </p:txBody>
      </p:sp>
      <p:sp>
        <p:nvSpPr>
          <p:cNvPr id="5" name="Text 3"/>
          <p:cNvSpPr/>
          <p:nvPr/>
        </p:nvSpPr>
        <p:spPr>
          <a:xfrm>
            <a:off x="548640" y="749808"/>
            <a:ext cx="10332720" cy="1234440"/>
          </a:xfrm>
          <a:prstGeom prst="rect">
            <a:avLst/>
          </a:prstGeom>
          <a:noFill/>
          <a:ln/>
        </p:spPr>
        <p:txBody>
          <a:bodyPr wrap="square" rtlCol="0" anchor="t"/>
          <a:lstStyle/>
          <a:p>
            <a:pPr indent="0" marL="0">
              <a:buNone/>
            </a:pPr>
            <a:r>
              <a:rPr lang="en-US" sz="2000" b="1" dirty="0">
                <a:solidFill>
                  <a:srgbClr val="1A1A1A"/>
                </a:solidFill>
                <a:latin typeface="Roboto" pitchFamily="34" charset="0"/>
                <a:ea typeface="Roboto" pitchFamily="34" charset="-122"/>
                <a:cs typeface="Roboto" pitchFamily="34" charset="-120"/>
              </a:rPr>
              <a:t>¿Por qué un subdominio de staging o pruebas podría aparecer en Certificate Transparency sin estar en ningún registro DNS público consultado directamente?</a:t>
            </a:r>
            <a:endParaRPr lang="en-US" sz="2000" dirty="0"/>
          </a:p>
        </p:txBody>
      </p:sp>
      <p:sp>
        <p:nvSpPr>
          <p:cNvPr id="6" name="Shape 4"/>
          <p:cNvSpPr/>
          <p:nvPr/>
        </p:nvSpPr>
        <p:spPr>
          <a:xfrm>
            <a:off x="548640" y="2240280"/>
            <a:ext cx="5349240" cy="1371600"/>
          </a:xfrm>
          <a:prstGeom prst="roundRect">
            <a:avLst>
              <a:gd name="adj" fmla="val 6000"/>
            </a:avLst>
          </a:prstGeom>
          <a:solidFill>
            <a:srgbClr val="F7F5F4"/>
          </a:solidFill>
          <a:ln w="9525">
            <a:solidFill>
              <a:srgbClr val="E7E1DF"/>
            </a:solidFill>
            <a:prstDash val="solid"/>
          </a:ln>
        </p:spPr>
      </p:sp>
      <p:sp>
        <p:nvSpPr>
          <p:cNvPr id="7" name="Shape 5"/>
          <p:cNvSpPr/>
          <p:nvPr/>
        </p:nvSpPr>
        <p:spPr>
          <a:xfrm>
            <a:off x="777240" y="2468880"/>
            <a:ext cx="420624" cy="420624"/>
          </a:xfrm>
          <a:prstGeom prst="ellipse">
            <a:avLst/>
          </a:prstGeom>
          <a:solidFill>
            <a:srgbClr val="E2231A"/>
          </a:solidFill>
          <a:ln/>
        </p:spPr>
      </p:sp>
      <p:sp>
        <p:nvSpPr>
          <p:cNvPr id="8" name="Text 6"/>
          <p:cNvSpPr/>
          <p:nvPr/>
        </p:nvSpPr>
        <p:spPr>
          <a:xfrm>
            <a:off x="77724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A</a:t>
            </a:r>
            <a:endParaRPr lang="en-US" sz="1500" dirty="0"/>
          </a:p>
        </p:txBody>
      </p:sp>
      <p:sp>
        <p:nvSpPr>
          <p:cNvPr id="9" name="Text 7"/>
          <p:cNvSpPr/>
          <p:nvPr/>
        </p:nvSpPr>
        <p:spPr>
          <a:xfrm>
            <a:off x="137160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A)  Porque Certificate Transparency y DNS son exactamente la misma base de datos.</a:t>
            </a:r>
            <a:endParaRPr lang="en-US" sz="1250" dirty="0"/>
          </a:p>
        </p:txBody>
      </p:sp>
      <p:sp>
        <p:nvSpPr>
          <p:cNvPr id="10" name="Shape 8"/>
          <p:cNvSpPr/>
          <p:nvPr/>
        </p:nvSpPr>
        <p:spPr>
          <a:xfrm>
            <a:off x="6217920" y="2240280"/>
            <a:ext cx="5349240" cy="1371600"/>
          </a:xfrm>
          <a:prstGeom prst="roundRect">
            <a:avLst>
              <a:gd name="adj" fmla="val 6000"/>
            </a:avLst>
          </a:prstGeom>
          <a:solidFill>
            <a:srgbClr val="F7F5F4"/>
          </a:solidFill>
          <a:ln w="9525">
            <a:solidFill>
              <a:srgbClr val="E7E1DF"/>
            </a:solidFill>
            <a:prstDash val="solid"/>
          </a:ln>
        </p:spPr>
      </p:sp>
      <p:sp>
        <p:nvSpPr>
          <p:cNvPr id="11" name="Shape 9"/>
          <p:cNvSpPr/>
          <p:nvPr/>
        </p:nvSpPr>
        <p:spPr>
          <a:xfrm>
            <a:off x="6446520" y="2468880"/>
            <a:ext cx="420624" cy="420624"/>
          </a:xfrm>
          <a:prstGeom prst="ellipse">
            <a:avLst/>
          </a:prstGeom>
          <a:solidFill>
            <a:srgbClr val="E2231A"/>
          </a:solidFill>
          <a:ln/>
        </p:spPr>
      </p:sp>
      <p:sp>
        <p:nvSpPr>
          <p:cNvPr id="12" name="Text 10"/>
          <p:cNvSpPr/>
          <p:nvPr/>
        </p:nvSpPr>
        <p:spPr>
          <a:xfrm>
            <a:off x="6446520" y="2468880"/>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B</a:t>
            </a:r>
            <a:endParaRPr lang="en-US" sz="1500" dirty="0"/>
          </a:p>
        </p:txBody>
      </p:sp>
      <p:sp>
        <p:nvSpPr>
          <p:cNvPr id="13" name="Text 11"/>
          <p:cNvSpPr/>
          <p:nvPr/>
        </p:nvSpPr>
        <p:spPr>
          <a:xfrm>
            <a:off x="7040880" y="2377440"/>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B)  Porque emitir un certificado público obliga a registrarlo en logs auditables, aunque el subdominio nunca se haya publicado en DNS público.</a:t>
            </a:r>
            <a:endParaRPr lang="en-US" sz="1250" dirty="0"/>
          </a:p>
        </p:txBody>
      </p:sp>
      <p:sp>
        <p:nvSpPr>
          <p:cNvPr id="14" name="Shape 12"/>
          <p:cNvSpPr/>
          <p:nvPr/>
        </p:nvSpPr>
        <p:spPr>
          <a:xfrm>
            <a:off x="548640" y="3867912"/>
            <a:ext cx="5349240" cy="1371600"/>
          </a:xfrm>
          <a:prstGeom prst="roundRect">
            <a:avLst>
              <a:gd name="adj" fmla="val 6000"/>
            </a:avLst>
          </a:prstGeom>
          <a:solidFill>
            <a:srgbClr val="F7F5F4"/>
          </a:solidFill>
          <a:ln w="9525">
            <a:solidFill>
              <a:srgbClr val="E7E1DF"/>
            </a:solidFill>
            <a:prstDash val="solid"/>
          </a:ln>
        </p:spPr>
      </p:sp>
      <p:sp>
        <p:nvSpPr>
          <p:cNvPr id="15" name="Shape 13"/>
          <p:cNvSpPr/>
          <p:nvPr/>
        </p:nvSpPr>
        <p:spPr>
          <a:xfrm>
            <a:off x="777240" y="4096512"/>
            <a:ext cx="420624" cy="420624"/>
          </a:xfrm>
          <a:prstGeom prst="ellipse">
            <a:avLst/>
          </a:prstGeom>
          <a:solidFill>
            <a:srgbClr val="E2231A"/>
          </a:solidFill>
          <a:ln/>
        </p:spPr>
      </p:sp>
      <p:sp>
        <p:nvSpPr>
          <p:cNvPr id="16" name="Text 14"/>
          <p:cNvSpPr/>
          <p:nvPr/>
        </p:nvSpPr>
        <p:spPr>
          <a:xfrm>
            <a:off x="77724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C</a:t>
            </a:r>
            <a:endParaRPr lang="en-US" sz="1500" dirty="0"/>
          </a:p>
        </p:txBody>
      </p:sp>
      <p:sp>
        <p:nvSpPr>
          <p:cNvPr id="17" name="Text 15"/>
          <p:cNvSpPr/>
          <p:nvPr/>
        </p:nvSpPr>
        <p:spPr>
          <a:xfrm>
            <a:off x="137160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C)  Porque los subdominios de staging no pueden tener certificados TLS válidos.</a:t>
            </a:r>
            <a:endParaRPr lang="en-US" sz="1250" dirty="0"/>
          </a:p>
        </p:txBody>
      </p:sp>
      <p:sp>
        <p:nvSpPr>
          <p:cNvPr id="18" name="Shape 16"/>
          <p:cNvSpPr/>
          <p:nvPr/>
        </p:nvSpPr>
        <p:spPr>
          <a:xfrm>
            <a:off x="6217920" y="3867912"/>
            <a:ext cx="5349240" cy="1371600"/>
          </a:xfrm>
          <a:prstGeom prst="roundRect">
            <a:avLst>
              <a:gd name="adj" fmla="val 6000"/>
            </a:avLst>
          </a:prstGeom>
          <a:solidFill>
            <a:srgbClr val="F7F5F4"/>
          </a:solidFill>
          <a:ln w="9525">
            <a:solidFill>
              <a:srgbClr val="E7E1DF"/>
            </a:solidFill>
            <a:prstDash val="solid"/>
          </a:ln>
        </p:spPr>
      </p:sp>
      <p:sp>
        <p:nvSpPr>
          <p:cNvPr id="19" name="Shape 17"/>
          <p:cNvSpPr/>
          <p:nvPr/>
        </p:nvSpPr>
        <p:spPr>
          <a:xfrm>
            <a:off x="6446520" y="4096512"/>
            <a:ext cx="420624" cy="420624"/>
          </a:xfrm>
          <a:prstGeom prst="ellipse">
            <a:avLst/>
          </a:prstGeom>
          <a:solidFill>
            <a:srgbClr val="E2231A"/>
          </a:solidFill>
          <a:ln/>
        </p:spPr>
      </p:sp>
      <p:sp>
        <p:nvSpPr>
          <p:cNvPr id="20" name="Text 18"/>
          <p:cNvSpPr/>
          <p:nvPr/>
        </p:nvSpPr>
        <p:spPr>
          <a:xfrm>
            <a:off x="6446520" y="4096512"/>
            <a:ext cx="420624" cy="420624"/>
          </a:xfrm>
          <a:prstGeom prst="rect">
            <a:avLst/>
          </a:prstGeom>
          <a:noFill/>
          <a:ln/>
        </p:spPr>
        <p:txBody>
          <a:bodyPr wrap="square" rtlCol="0" anchor="ctr"/>
          <a:lstStyle/>
          <a:p>
            <a:pPr algn="ctr" indent="0" marL="0">
              <a:buNone/>
            </a:pPr>
            <a:r>
              <a:rPr lang="en-US" sz="1500" b="1" dirty="0">
                <a:solidFill>
                  <a:srgbClr val="FFFFFF"/>
                </a:solidFill>
                <a:latin typeface="Roboto" pitchFamily="34" charset="0"/>
                <a:ea typeface="Roboto" pitchFamily="34" charset="-122"/>
                <a:cs typeface="Roboto" pitchFamily="34" charset="-120"/>
              </a:rPr>
              <a:t>D</a:t>
            </a:r>
            <a:endParaRPr lang="en-US" sz="1500" dirty="0"/>
          </a:p>
        </p:txBody>
      </p:sp>
      <p:sp>
        <p:nvSpPr>
          <p:cNvPr id="21" name="Text 19"/>
          <p:cNvSpPr/>
          <p:nvPr/>
        </p:nvSpPr>
        <p:spPr>
          <a:xfrm>
            <a:off x="7040880" y="4005072"/>
            <a:ext cx="4297680" cy="1097280"/>
          </a:xfrm>
          <a:prstGeom prst="rect">
            <a:avLst/>
          </a:prstGeom>
          <a:noFill/>
          <a:ln/>
        </p:spPr>
        <p:txBody>
          <a:bodyPr wrap="square" rtlCol="0" anchor="ctr"/>
          <a:lstStyle/>
          <a:p>
            <a:pPr indent="0" marL="0">
              <a:buNone/>
            </a:pPr>
            <a:r>
              <a:rPr lang="en-US" sz="1250" dirty="0">
                <a:solidFill>
                  <a:srgbClr val="1A1A1A"/>
                </a:solidFill>
                <a:latin typeface="Roboto" pitchFamily="34" charset="0"/>
                <a:ea typeface="Roboto" pitchFamily="34" charset="-122"/>
                <a:cs typeface="Roboto" pitchFamily="34" charset="-120"/>
              </a:rPr>
              <a:t>D)  Porque Certificate Transparency solo muestra subdominios que ya están indexados por buscadores.</a:t>
            </a:r>
            <a:endParaRPr lang="en-US" sz="1250" dirty="0"/>
          </a:p>
        </p:txBody>
      </p:sp>
      <p:sp>
        <p:nvSpPr>
          <p:cNvPr id="22" name="Text 20"/>
          <p:cNvSpPr/>
          <p:nvPr/>
        </p:nvSpPr>
        <p:spPr>
          <a:xfrm>
            <a:off x="548640" y="5541264"/>
            <a:ext cx="11064240" cy="365760"/>
          </a:xfrm>
          <a:prstGeom prst="rect">
            <a:avLst/>
          </a:prstGeom>
          <a:noFill/>
          <a:ln/>
        </p:spPr>
        <p:txBody>
          <a:bodyPr wrap="square" rtlCol="0" anchor="ctr"/>
          <a:lstStyle/>
          <a:p>
            <a:pPr indent="0" marL="0">
              <a:buNone/>
            </a:pPr>
            <a:r>
              <a:rPr lang="en-US" sz="1150" i="1" dirty="0">
                <a:solidFill>
                  <a:srgbClr val="6B6B6B"/>
                </a:solidFill>
                <a:latin typeface="Roboto" pitchFamily="34" charset="0"/>
                <a:ea typeface="Roboto" pitchFamily="34" charset="-122"/>
                <a:cs typeface="Roboto" pitchFamily="34" charset="-120"/>
              </a:rPr>
              <a:t>Elige tu respuesta antes de que el instructor revele la correcta.</a:t>
            </a:r>
            <a:endParaRPr lang="en-US" sz="1150" dirty="0"/>
          </a:p>
        </p:txBody>
      </p:sp>
      <p:sp>
        <p:nvSpPr>
          <p:cNvPr id="23" name="Shape 21"/>
          <p:cNvSpPr/>
          <p:nvPr/>
        </p:nvSpPr>
        <p:spPr>
          <a:xfrm rot="2700000">
            <a:off x="502920" y="6501384"/>
            <a:ext cx="82296" cy="82296"/>
          </a:xfrm>
          <a:prstGeom prst="rect">
            <a:avLst/>
          </a:prstGeom>
          <a:solidFill>
            <a:srgbClr val="E2231A"/>
          </a:solidFill>
          <a:ln/>
        </p:spPr>
      </p:sp>
      <p:sp>
        <p:nvSpPr>
          <p:cNvPr id="24" name="Text 22"/>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COMPROBACIÓN RÁPIDA</a:t>
            </a:r>
            <a:endParaRPr lang="en-US" sz="800" dirty="0"/>
          </a:p>
        </p:txBody>
      </p:sp>
      <p:sp>
        <p:nvSpPr>
          <p:cNvPr id="25" name="Text 23"/>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EN VIVO SOBRE KALI</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OSINT en vivo: Certificate Transparency, WHOIS y búsqueda</a:t>
            </a:r>
            <a:endParaRPr lang="en-US" sz="2500" dirty="0"/>
          </a:p>
        </p:txBody>
      </p:sp>
      <p:sp>
        <p:nvSpPr>
          <p:cNvPr id="6" name="Text 4"/>
          <p:cNvSpPr/>
          <p:nvPr/>
        </p:nvSpPr>
        <p:spPr>
          <a:xfrm>
            <a:off x="548640" y="1600200"/>
            <a:ext cx="11064240" cy="365760"/>
          </a:xfrm>
          <a:prstGeom prst="rect">
            <a:avLst/>
          </a:prstGeom>
          <a:noFill/>
          <a:ln/>
        </p:spPr>
        <p:txBody>
          <a:bodyPr wrap="square" rtlCol="0" anchor="ctr"/>
          <a:lstStyle/>
          <a:p>
            <a:pPr indent="0" marL="0">
              <a:buNone/>
            </a:pPr>
            <a:r>
              <a:rPr lang="en-US" sz="1300" dirty="0">
                <a:solidFill>
                  <a:srgbClr val="6B6B6B"/>
                </a:solidFill>
                <a:latin typeface="Roboto" pitchFamily="34" charset="0"/>
                <a:ea typeface="Roboto" pitchFamily="34" charset="-122"/>
                <a:cs typeface="Roboto" pitchFamily="34" charset="-120"/>
              </a:rPr>
              <a:t>Dominio de laboratorio: example.com (reservado por IANA para uso ilustrativo, RFC 2606). Ejecutar cada consulta y explicar la salida completa.</a:t>
            </a:r>
            <a:endParaRPr lang="en-US" sz="1300" dirty="0"/>
          </a:p>
        </p:txBody>
      </p:sp>
      <p:sp>
        <p:nvSpPr>
          <p:cNvPr id="7" name="Shape 5"/>
          <p:cNvSpPr/>
          <p:nvPr/>
        </p:nvSpPr>
        <p:spPr>
          <a:xfrm>
            <a:off x="548640" y="2103120"/>
            <a:ext cx="11064240" cy="566928"/>
          </a:xfrm>
          <a:prstGeom prst="roundRect">
            <a:avLst>
              <a:gd name="adj" fmla="val 8065"/>
            </a:avLst>
          </a:prstGeom>
          <a:solidFill>
            <a:srgbClr val="1A1A1A"/>
          </a:solidFill>
          <a:ln/>
        </p:spPr>
      </p:sp>
      <p:sp>
        <p:nvSpPr>
          <p:cNvPr id="8" name="Shape 6"/>
          <p:cNvSpPr/>
          <p:nvPr/>
        </p:nvSpPr>
        <p:spPr>
          <a:xfrm>
            <a:off x="548640" y="2103120"/>
            <a:ext cx="54864" cy="566928"/>
          </a:xfrm>
          <a:prstGeom prst="rect">
            <a:avLst/>
          </a:prstGeom>
          <a:solidFill>
            <a:srgbClr val="E2231A"/>
          </a:solidFill>
          <a:ln/>
        </p:spPr>
      </p:sp>
      <p:sp>
        <p:nvSpPr>
          <p:cNvPr id="9" name="Text 7"/>
          <p:cNvSpPr/>
          <p:nvPr/>
        </p:nvSpPr>
        <p:spPr>
          <a:xfrm>
            <a:off x="822960" y="2103120"/>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-s 'https://crt.sh/?q=example.com&amp;output=json' | jq</a:t>
            </a:r>
            <a:endParaRPr lang="en-US" sz="1300" dirty="0"/>
          </a:p>
        </p:txBody>
      </p:sp>
      <p:sp>
        <p:nvSpPr>
          <p:cNvPr id="10" name="Text 8"/>
          <p:cNvSpPr/>
          <p:nvPr/>
        </p:nvSpPr>
        <p:spPr>
          <a:xfrm>
            <a:off x="6949440" y="2103120"/>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Certificados emitidos y subdominios asociados</a:t>
            </a:r>
            <a:endParaRPr lang="en-US" sz="1100" dirty="0"/>
          </a:p>
        </p:txBody>
      </p:sp>
      <p:sp>
        <p:nvSpPr>
          <p:cNvPr id="11" name="Shape 9"/>
          <p:cNvSpPr/>
          <p:nvPr/>
        </p:nvSpPr>
        <p:spPr>
          <a:xfrm>
            <a:off x="548640" y="2798064"/>
            <a:ext cx="11064240" cy="566928"/>
          </a:xfrm>
          <a:prstGeom prst="roundRect">
            <a:avLst>
              <a:gd name="adj" fmla="val 8065"/>
            </a:avLst>
          </a:prstGeom>
          <a:solidFill>
            <a:srgbClr val="1A1A1A"/>
          </a:solidFill>
          <a:ln/>
        </p:spPr>
      </p:sp>
      <p:sp>
        <p:nvSpPr>
          <p:cNvPr id="12" name="Shape 10"/>
          <p:cNvSpPr/>
          <p:nvPr/>
        </p:nvSpPr>
        <p:spPr>
          <a:xfrm>
            <a:off x="548640" y="2798064"/>
            <a:ext cx="54864" cy="566928"/>
          </a:xfrm>
          <a:prstGeom prst="rect">
            <a:avLst/>
          </a:prstGeom>
          <a:solidFill>
            <a:srgbClr val="E2231A"/>
          </a:solidFill>
          <a:ln/>
        </p:spPr>
      </p:sp>
      <p:sp>
        <p:nvSpPr>
          <p:cNvPr id="13" name="Text 11"/>
          <p:cNvSpPr/>
          <p:nvPr/>
        </p:nvSpPr>
        <p:spPr>
          <a:xfrm>
            <a:off x="822960" y="2798064"/>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 si responde vacío, 502 o tarda mucho: espera ~1-2 min y repite el comando</a:t>
            </a:r>
            <a:endParaRPr lang="en-US" sz="1300" dirty="0"/>
          </a:p>
        </p:txBody>
      </p:sp>
      <p:sp>
        <p:nvSpPr>
          <p:cNvPr id="14" name="Text 12"/>
          <p:cNvSpPr/>
          <p:nvPr/>
        </p:nvSpPr>
        <p:spPr>
          <a:xfrm>
            <a:off x="6949440" y="2798064"/>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crt.sh tiene caídas 502 conocidas y documentadas — casi siempre se recupera solo</a:t>
            </a:r>
            <a:endParaRPr lang="en-US" sz="1100" dirty="0"/>
          </a:p>
        </p:txBody>
      </p:sp>
      <p:sp>
        <p:nvSpPr>
          <p:cNvPr id="15" name="Shape 13"/>
          <p:cNvSpPr/>
          <p:nvPr/>
        </p:nvSpPr>
        <p:spPr>
          <a:xfrm>
            <a:off x="548640" y="3493008"/>
            <a:ext cx="11064240" cy="566928"/>
          </a:xfrm>
          <a:prstGeom prst="roundRect">
            <a:avLst>
              <a:gd name="adj" fmla="val 8065"/>
            </a:avLst>
          </a:prstGeom>
          <a:solidFill>
            <a:srgbClr val="1A1A1A"/>
          </a:solidFill>
          <a:ln/>
        </p:spPr>
      </p:sp>
      <p:sp>
        <p:nvSpPr>
          <p:cNvPr id="16" name="Shape 14"/>
          <p:cNvSpPr/>
          <p:nvPr/>
        </p:nvSpPr>
        <p:spPr>
          <a:xfrm>
            <a:off x="548640" y="3493008"/>
            <a:ext cx="54864" cy="566928"/>
          </a:xfrm>
          <a:prstGeom prst="rect">
            <a:avLst/>
          </a:prstGeom>
          <a:solidFill>
            <a:srgbClr val="E2231A"/>
          </a:solidFill>
          <a:ln/>
        </p:spPr>
      </p:sp>
      <p:sp>
        <p:nvSpPr>
          <p:cNvPr id="17" name="Text 15"/>
          <p:cNvSpPr/>
          <p:nvPr/>
        </p:nvSpPr>
        <p:spPr>
          <a:xfrm>
            <a:off x="822960" y="3493008"/>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curl -s 'https://api.certspotter.com/v1/issuances?domain=example.com&amp;include_subdomains=true&amp;expand=dns_names' | jq</a:t>
            </a:r>
            <a:endParaRPr lang="en-US" sz="1300" dirty="0"/>
          </a:p>
        </p:txBody>
      </p:sp>
      <p:sp>
        <p:nvSpPr>
          <p:cNvPr id="18" name="Text 16"/>
          <p:cNvSpPr/>
          <p:nvPr/>
        </p:nvSpPr>
        <p:spPr>
          <a:xfrm>
            <a:off x="6949440" y="3493008"/>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Plan B si crt.sh sigue caído: misma fuente de datos (Certificate Transparency), otro proveedor</a:t>
            </a:r>
            <a:endParaRPr lang="en-US" sz="1100" dirty="0"/>
          </a:p>
        </p:txBody>
      </p:sp>
      <p:sp>
        <p:nvSpPr>
          <p:cNvPr id="19" name="Shape 17"/>
          <p:cNvSpPr/>
          <p:nvPr/>
        </p:nvSpPr>
        <p:spPr>
          <a:xfrm>
            <a:off x="548640" y="4187952"/>
            <a:ext cx="11064240" cy="566928"/>
          </a:xfrm>
          <a:prstGeom prst="roundRect">
            <a:avLst>
              <a:gd name="adj" fmla="val 8065"/>
            </a:avLst>
          </a:prstGeom>
          <a:solidFill>
            <a:srgbClr val="1A1A1A"/>
          </a:solidFill>
          <a:ln/>
        </p:spPr>
      </p:sp>
      <p:sp>
        <p:nvSpPr>
          <p:cNvPr id="20" name="Shape 18"/>
          <p:cNvSpPr/>
          <p:nvPr/>
        </p:nvSpPr>
        <p:spPr>
          <a:xfrm>
            <a:off x="548640" y="4187952"/>
            <a:ext cx="54864" cy="566928"/>
          </a:xfrm>
          <a:prstGeom prst="rect">
            <a:avLst/>
          </a:prstGeom>
          <a:solidFill>
            <a:srgbClr val="E2231A"/>
          </a:solidFill>
          <a:ln/>
        </p:spPr>
      </p:sp>
      <p:sp>
        <p:nvSpPr>
          <p:cNvPr id="21" name="Text 19"/>
          <p:cNvSpPr/>
          <p:nvPr/>
        </p:nvSpPr>
        <p:spPr>
          <a:xfrm>
            <a:off x="822960" y="4187952"/>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whois example.com</a:t>
            </a:r>
            <a:endParaRPr lang="en-US" sz="1300" dirty="0"/>
          </a:p>
        </p:txBody>
      </p:sp>
      <p:sp>
        <p:nvSpPr>
          <p:cNvPr id="22" name="Text 20"/>
          <p:cNvSpPr/>
          <p:nvPr/>
        </p:nvSpPr>
        <p:spPr>
          <a:xfrm>
            <a:off x="6949440" y="4187952"/>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Registrador, fechas de creación/expiración, servidores DNS</a:t>
            </a:r>
            <a:endParaRPr lang="en-US" sz="1100" dirty="0"/>
          </a:p>
        </p:txBody>
      </p:sp>
      <p:sp>
        <p:nvSpPr>
          <p:cNvPr id="23" name="Shape 21"/>
          <p:cNvSpPr/>
          <p:nvPr/>
        </p:nvSpPr>
        <p:spPr>
          <a:xfrm>
            <a:off x="548640" y="4882896"/>
            <a:ext cx="11064240" cy="566928"/>
          </a:xfrm>
          <a:prstGeom prst="roundRect">
            <a:avLst>
              <a:gd name="adj" fmla="val 8065"/>
            </a:avLst>
          </a:prstGeom>
          <a:solidFill>
            <a:srgbClr val="1A1A1A"/>
          </a:solidFill>
          <a:ln/>
        </p:spPr>
      </p:sp>
      <p:sp>
        <p:nvSpPr>
          <p:cNvPr id="24" name="Shape 22"/>
          <p:cNvSpPr/>
          <p:nvPr/>
        </p:nvSpPr>
        <p:spPr>
          <a:xfrm>
            <a:off x="548640" y="4882896"/>
            <a:ext cx="54864" cy="566928"/>
          </a:xfrm>
          <a:prstGeom prst="rect">
            <a:avLst/>
          </a:prstGeom>
          <a:solidFill>
            <a:srgbClr val="E2231A"/>
          </a:solidFill>
          <a:ln/>
        </p:spPr>
      </p:sp>
      <p:sp>
        <p:nvSpPr>
          <p:cNvPr id="25" name="Text 23"/>
          <p:cNvSpPr/>
          <p:nvPr/>
        </p:nvSpPr>
        <p:spPr>
          <a:xfrm>
            <a:off x="822960" y="4882896"/>
            <a:ext cx="6035040" cy="566928"/>
          </a:xfrm>
          <a:prstGeom prst="rect">
            <a:avLst/>
          </a:prstGeom>
          <a:noFill/>
          <a:ln/>
        </p:spPr>
        <p:txBody>
          <a:bodyPr wrap="square" rtlCol="0" anchor="ctr"/>
          <a:lstStyle/>
          <a:p>
            <a:pPr indent="0" marL="0">
              <a:buNone/>
            </a:pPr>
            <a:r>
              <a:rPr lang="en-US" sz="1300" dirty="0">
                <a:solidFill>
                  <a:srgbClr val="FEB126"/>
                </a:solidFill>
                <a:latin typeface="Courier New" pitchFamily="34" charset="0"/>
                <a:ea typeface="Courier New" pitchFamily="34" charset="-122"/>
                <a:cs typeface="Courier New" pitchFamily="34" charset="-120"/>
              </a:rPr>
              <a:t>[EN EL NAVEGADOR, no en la terminal] site:example.com filetype:pdf</a:t>
            </a:r>
            <a:endParaRPr lang="en-US" sz="1300" dirty="0"/>
          </a:p>
        </p:txBody>
      </p:sp>
      <p:sp>
        <p:nvSpPr>
          <p:cNvPr id="26" name="Text 24"/>
          <p:cNvSpPr/>
          <p:nvPr/>
        </p:nvSpPr>
        <p:spPr>
          <a:xfrm>
            <a:off x="6949440" y="4882896"/>
            <a:ext cx="4480560" cy="566928"/>
          </a:xfrm>
          <a:prstGeom prst="rect">
            <a:avLst/>
          </a:prstGeom>
          <a:noFill/>
          <a:ln/>
        </p:spPr>
        <p:txBody>
          <a:bodyPr wrap="square" rtlCol="0" anchor="ctr"/>
          <a:lstStyle/>
          <a:p>
            <a:pPr algn="l" indent="0" marL="0">
              <a:buNone/>
            </a:pPr>
            <a:r>
              <a:rPr lang="en-US" sz="1100" dirty="0">
                <a:solidFill>
                  <a:srgbClr val="D8D8D8"/>
                </a:solidFill>
                <a:latin typeface="Roboto" pitchFamily="34" charset="0"/>
                <a:ea typeface="Roboto" pitchFamily="34" charset="-122"/>
                <a:cs typeface="Roboto" pitchFamily="34" charset="-120"/>
              </a:rPr>
              <a:t>Escribe esto en la barra de Google — es un operador de búsqueda, no un comando</a:t>
            </a:r>
            <a:endParaRPr lang="en-US" sz="1100" dirty="0"/>
          </a:p>
        </p:txBody>
      </p:sp>
      <p:sp>
        <p:nvSpPr>
          <p:cNvPr id="27" name="Shape 25"/>
          <p:cNvSpPr/>
          <p:nvPr/>
        </p:nvSpPr>
        <p:spPr>
          <a:xfrm rot="2700000">
            <a:off x="502920" y="6501384"/>
            <a:ext cx="82296" cy="82296"/>
          </a:xfrm>
          <a:prstGeom prst="rect">
            <a:avLst/>
          </a:prstGeom>
          <a:solidFill>
            <a:srgbClr val="E2231A"/>
          </a:solidFill>
          <a:ln/>
        </p:spPr>
      </p:sp>
      <p:sp>
        <p:nvSpPr>
          <p:cNvPr id="28" name="Text 2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EN VIVO SOBRE KALI</a:t>
            </a:r>
            <a:endParaRPr lang="en-US" sz="800" dirty="0"/>
          </a:p>
        </p:txBody>
      </p:sp>
      <p:sp>
        <p:nvSpPr>
          <p:cNvPr id="29" name="Text 2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DOCUMENTACIÓN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Ficha de superficie web: cómo documentar un hallazgo</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Fuente</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URL o comando exacto utilizado (ej. https://crt.sh/?q=example.com).</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Fecha y hora de consulta</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Momento exacto en que se obtuvo el resultado.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Nivel de confianza</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Según los tres criterios vistos: oficialidad, actualidad, verificabilidad cruzada.</a:t>
            </a:r>
            <a:endParaRPr lang="en-US" sz="1250" dirty="0"/>
          </a:p>
        </p:txBody>
      </p:sp>
      <p:sp>
        <p:nvSpPr>
          <p:cNvPr id="18" name="Shape 16"/>
          <p:cNvSpPr/>
          <p:nvPr/>
        </p:nvSpPr>
        <p:spPr>
          <a:xfrm>
            <a:off x="640080" y="4572000"/>
            <a:ext cx="384048" cy="384048"/>
          </a:xfrm>
          <a:prstGeom prst="ellipse">
            <a:avLst/>
          </a:prstGeom>
          <a:solidFill>
            <a:srgbClr val="E2231A"/>
          </a:solidFill>
          <a:ln/>
        </p:spPr>
      </p:sp>
      <p:sp>
        <p:nvSpPr>
          <p:cNvPr id="19" name="Text 17"/>
          <p:cNvSpPr/>
          <p:nvPr/>
        </p:nvSpPr>
        <p:spPr>
          <a:xfrm>
            <a:off x="640080" y="457200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51713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Evidencia preservada</a:t>
            </a:r>
            <a:endParaRPr lang="en-US" sz="1600" dirty="0"/>
          </a:p>
        </p:txBody>
      </p:sp>
      <p:sp>
        <p:nvSpPr>
          <p:cNvPr id="21" name="Text 19"/>
          <p:cNvSpPr/>
          <p:nvPr/>
        </p:nvSpPr>
        <p:spPr>
          <a:xfrm>
            <a:off x="1234440" y="486460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Captura de pantalla o exportación del resultado original.</a:t>
            </a:r>
            <a:endParaRPr lang="en-US" sz="1250" dirty="0"/>
          </a:p>
        </p:txBody>
      </p:sp>
      <p:sp>
        <p:nvSpPr>
          <p:cNvPr id="22" name="Shape 20"/>
          <p:cNvSpPr/>
          <p:nvPr/>
        </p:nvSpPr>
        <p:spPr>
          <a:xfrm rot="2700000">
            <a:off x="502920" y="6501384"/>
            <a:ext cx="82296" cy="82296"/>
          </a:xfrm>
          <a:prstGeom prst="rect">
            <a:avLst/>
          </a:prstGeom>
          <a:solidFill>
            <a:srgbClr val="E2231A"/>
          </a:solidFill>
          <a:ln/>
        </p:spPr>
      </p:sp>
      <p:sp>
        <p:nvSpPr>
          <p:cNvPr id="23" name="Text 21"/>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DOCUMENTACIÓN</a:t>
            </a:r>
            <a:endParaRPr lang="en-US" sz="800" dirty="0"/>
          </a:p>
        </p:txBody>
      </p:sp>
      <p:sp>
        <p:nvSpPr>
          <p:cNvPr id="24" name="Text 22"/>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DEMOSTRACIÓN GUIADA · CORRELACIÓN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Correlación: por qué una sola fuente no basta</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Confirmar un hallazgo desde al menos dos fuentes distintas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Ej.: un subdominio visto en Certificate Transparency, confirmado también por una consulta DNS directa (paso 6 del laboratorio).</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Si dos fuentes contradicen, documentar ambas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Anotar el nivel de confianza de cada una según su origen y fecha, y buscar una tercera fuente si es posible.</a:t>
            </a:r>
            <a:endParaRPr lang="en-US" sz="1250" dirty="0"/>
          </a:p>
        </p:txBody>
      </p:sp>
      <p:sp>
        <p:nvSpPr>
          <p:cNvPr id="14" name="Shape 12"/>
          <p:cNvSpPr/>
          <p:nvPr/>
        </p:nvSpPr>
        <p:spPr>
          <a:xfrm rot="2700000">
            <a:off x="502920" y="6501384"/>
            <a:ext cx="82296" cy="82296"/>
          </a:xfrm>
          <a:prstGeom prst="rect">
            <a:avLst/>
          </a:prstGeom>
          <a:solidFill>
            <a:srgbClr val="E2231A"/>
          </a:solidFill>
          <a:ln/>
        </p:spPr>
      </p:sp>
      <p:sp>
        <p:nvSpPr>
          <p:cNvPr id="15" name="Text 13"/>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DEMOSTRACIÓN GUIADA · CORRELACIÓN</a:t>
            </a:r>
            <a:endParaRPr lang="en-US" sz="800" dirty="0"/>
          </a:p>
        </p:txBody>
      </p:sp>
      <p:sp>
        <p:nvSpPr>
          <p:cNvPr id="16" name="Text 14"/>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ANTES DEL EJERCICIO · ERRORES COMUNES</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Errores frecuentes a evitar en el inventario OSINT</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Dar por "activo" cualquier hallazgo de Certificate Transparency sin validar</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Un subdominio con certificado puede llevar meses sin responder.</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No tener plan B si crt.sh responde 502 o no está disponible</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Reintenta en 1-2 min; si sigue caído, usa certspotter.com (mismo tipo de dato); si ambos fallan, usa la captura de respaldo preparada de antemano.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Mezclar resultados de Internet real con el dominio de laboratorio</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Verificar siempre que cada hallazgo corresponde exactamente a example.com.</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ANTES DEL EJERCICIO · ERRORES COMUNES</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PRÁCTICA INDIVIDUAL · TRABAJO INDIVIDUAL</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Repite tú mismo las tres consultas OSINT</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Repetir individualmente, en tu propia VM, las tres consultas de la demostración sobre example.com — para pasar de "ver" a "hacer" antes de trabajar en parejas.</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curl -s 'https://crt.sh/?q=example.com&amp;output=json' | jq y observa al menos 3 nombres distintos en el resultado. Si responde vacío o con error, espera 1-2 min y repite.</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Si crt.sh sigue sin responder, usa el plan B: curl -s 'https://api.certspotter.com/v1/issuances?domain=example.com&amp;include_subdomains=true&amp;expand=dns_names' | jq.</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Ejecuta whois example.com e identifica el registrador y la fecha de creación del dominio.</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En tu navegador, ejecuta site:example.com filetype:pdf y observa qué aparece (puede no haber resultados; eso también es un hallazgo válido).</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Anota en tu bitácora cualquier diferencia frente a la demostración del instructor.</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Salida de las 3 consultas ejecutada individualmente, con al menos un dato de cada una anotado en la bitácora.</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15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PRÁCTICA INDIVIDUAL · TRABAJO INDIVIDUAL</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ACTIVIDAD GUIADA</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Ejercicio: inventario OSINT sobre el dominio de laboratorio</a:t>
            </a:r>
            <a:endParaRPr lang="en-US" sz="2500" dirty="0"/>
          </a:p>
        </p:txBody>
      </p:sp>
      <p:sp>
        <p:nvSpPr>
          <p:cNvPr id="6" name="Shape 4"/>
          <p:cNvSpPr/>
          <p:nvPr/>
        </p:nvSpPr>
        <p:spPr>
          <a:xfrm>
            <a:off x="548640" y="1645920"/>
            <a:ext cx="11064240" cy="777240"/>
          </a:xfrm>
          <a:prstGeom prst="roundRect">
            <a:avLst>
              <a:gd name="adj" fmla="val 9412"/>
            </a:avLst>
          </a:prstGeom>
          <a:solidFill>
            <a:srgbClr val="FCEBEA"/>
          </a:solidFill>
          <a:ln/>
        </p:spPr>
      </p:sp>
      <p:sp>
        <p:nvSpPr>
          <p:cNvPr id="7" name="Shape 5"/>
          <p:cNvSpPr/>
          <p:nvPr/>
        </p:nvSpPr>
        <p:spPr>
          <a:xfrm>
            <a:off x="548640" y="1645920"/>
            <a:ext cx="54864" cy="777240"/>
          </a:xfrm>
          <a:prstGeom prst="rect">
            <a:avLst/>
          </a:prstGeom>
          <a:solidFill>
            <a:srgbClr val="E2231A"/>
          </a:solidFill>
          <a:ln/>
        </p:spPr>
      </p:sp>
      <p:sp>
        <p:nvSpPr>
          <p:cNvPr id="8" name="Text 6"/>
          <p:cNvSpPr/>
          <p:nvPr/>
        </p:nvSpPr>
        <p:spPr>
          <a:xfrm>
            <a:off x="822960" y="1645920"/>
            <a:ext cx="10515600" cy="777240"/>
          </a:xfrm>
          <a:prstGeom prst="rect">
            <a:avLst/>
          </a:prstGeom>
          <a:noFill/>
          <a:ln/>
        </p:spPr>
        <p:txBody>
          <a:bodyPr wrap="square" rtlCol="0" anchor="ctr"/>
          <a:lstStyle/>
          <a:p>
            <a:pPr indent="0" marL="0">
              <a:buNone/>
            </a:pPr>
            <a:r>
              <a:rPr lang="en-US" sz="1300" b="1" dirty="0">
                <a:solidFill>
                  <a:srgbClr val="E2231A"/>
                </a:solidFill>
                <a:latin typeface="Roboto" pitchFamily="34" charset="0"/>
                <a:ea typeface="Roboto" pitchFamily="34" charset="-122"/>
                <a:cs typeface="Roboto" pitchFamily="34" charset="-120"/>
              </a:rPr>
              <a:t>Objetivo del ejercicio:  </a:t>
            </a:r>
            <a:pPr indent="0" marL="0">
              <a:buNone/>
            </a:pPr>
            <a:r>
              <a:rPr lang="en-US" sz="1300" dirty="0">
                <a:solidFill>
                  <a:srgbClr val="1A1A1A"/>
                </a:solidFill>
                <a:latin typeface="Roboto" pitchFamily="34" charset="0"/>
                <a:ea typeface="Roboto" pitchFamily="34" charset="-122"/>
                <a:cs typeface="Roboto" pitchFamily="34" charset="-120"/>
              </a:rPr>
              <a:t>Aplicar el ciclo completo de OSINT (fuentes, confiabilidad, documentación y correlación) sobre example.com — versión guiada y acotada del Laboratorio 2 (Fase 4).</a:t>
            </a:r>
            <a:endParaRPr lang="en-US" sz="1300" dirty="0"/>
          </a:p>
        </p:txBody>
      </p:sp>
      <p:sp>
        <p:nvSpPr>
          <p:cNvPr id="9" name="Shape 7"/>
          <p:cNvSpPr/>
          <p:nvPr/>
        </p:nvSpPr>
        <p:spPr>
          <a:xfrm>
            <a:off x="640080" y="2651760"/>
            <a:ext cx="384048" cy="384048"/>
          </a:xfrm>
          <a:prstGeom prst="ellipse">
            <a:avLst/>
          </a:prstGeom>
          <a:solidFill>
            <a:srgbClr val="E2231A"/>
          </a:solidFill>
          <a:ln/>
        </p:spPr>
      </p:sp>
      <p:sp>
        <p:nvSpPr>
          <p:cNvPr id="10" name="Text 8"/>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11" name="Text 9"/>
          <p:cNvSpPr/>
          <p:nvPr/>
        </p:nvSpPr>
        <p:spPr>
          <a:xfrm>
            <a:off x="1234440" y="2606040"/>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0-3 — En parejas, registren example.com como dominio autorizado, primer campo de la ficha.</a:t>
            </a:r>
            <a:endParaRPr lang="en-US" sz="1300" dirty="0"/>
          </a:p>
        </p:txBody>
      </p:sp>
      <p:sp>
        <p:nvSpPr>
          <p:cNvPr id="12" name="Shape 10"/>
          <p:cNvSpPr/>
          <p:nvPr/>
        </p:nvSpPr>
        <p:spPr>
          <a:xfrm>
            <a:off x="640080" y="3182112"/>
            <a:ext cx="384048" cy="384048"/>
          </a:xfrm>
          <a:prstGeom prst="ellipse">
            <a:avLst/>
          </a:prstGeom>
          <a:solidFill>
            <a:srgbClr val="E2231A"/>
          </a:solidFill>
          <a:ln/>
        </p:spPr>
      </p:sp>
      <p:sp>
        <p:nvSpPr>
          <p:cNvPr id="13" name="Text 11"/>
          <p:cNvSpPr/>
          <p:nvPr/>
        </p:nvSpPr>
        <p:spPr>
          <a:xfrm>
            <a:off x="640080" y="3182112"/>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4" name="Text 12"/>
          <p:cNvSpPr/>
          <p:nvPr/>
        </p:nvSpPr>
        <p:spPr>
          <a:xfrm>
            <a:off x="1234440" y="3136392"/>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3-15 — Consulten Certificate Transparency (crt.sh, o certspotter.com si crt.sh falla) sobre example.com y registren los hallazgos.</a:t>
            </a:r>
            <a:endParaRPr lang="en-US" sz="1300" dirty="0"/>
          </a:p>
        </p:txBody>
      </p:sp>
      <p:sp>
        <p:nvSpPr>
          <p:cNvPr id="15" name="Shape 13"/>
          <p:cNvSpPr/>
          <p:nvPr/>
        </p:nvSpPr>
        <p:spPr>
          <a:xfrm>
            <a:off x="640080" y="3712464"/>
            <a:ext cx="384048" cy="384048"/>
          </a:xfrm>
          <a:prstGeom prst="ellipse">
            <a:avLst/>
          </a:prstGeom>
          <a:solidFill>
            <a:srgbClr val="E2231A"/>
          </a:solidFill>
          <a:ln/>
        </p:spPr>
      </p:sp>
      <p:sp>
        <p:nvSpPr>
          <p:cNvPr id="16" name="Text 14"/>
          <p:cNvSpPr/>
          <p:nvPr/>
        </p:nvSpPr>
        <p:spPr>
          <a:xfrm>
            <a:off x="640080" y="3712464"/>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7" name="Text 15"/>
          <p:cNvSpPr/>
          <p:nvPr/>
        </p:nvSpPr>
        <p:spPr>
          <a:xfrm>
            <a:off x="1234440" y="3666744"/>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15-25 — Consulten WHOIS y ejecuten una búsqueda avanzada (site:example.com); registren cada hallazgo con fuente, fecha y nivel de confianza.</a:t>
            </a:r>
            <a:endParaRPr lang="en-US" sz="1300" dirty="0"/>
          </a:p>
        </p:txBody>
      </p:sp>
      <p:sp>
        <p:nvSpPr>
          <p:cNvPr id="18" name="Shape 16"/>
          <p:cNvSpPr/>
          <p:nvPr/>
        </p:nvSpPr>
        <p:spPr>
          <a:xfrm>
            <a:off x="640080" y="4242816"/>
            <a:ext cx="384048" cy="384048"/>
          </a:xfrm>
          <a:prstGeom prst="ellipse">
            <a:avLst/>
          </a:prstGeom>
          <a:solidFill>
            <a:srgbClr val="E2231A"/>
          </a:solidFill>
          <a:ln/>
        </p:spPr>
      </p:sp>
      <p:sp>
        <p:nvSpPr>
          <p:cNvPr id="19" name="Text 17"/>
          <p:cNvSpPr/>
          <p:nvPr/>
        </p:nvSpPr>
        <p:spPr>
          <a:xfrm>
            <a:off x="640080" y="4242816"/>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a:t>
            </a:r>
            <a:endParaRPr lang="en-US" sz="1400" dirty="0"/>
          </a:p>
        </p:txBody>
      </p:sp>
      <p:sp>
        <p:nvSpPr>
          <p:cNvPr id="20" name="Text 18"/>
          <p:cNvSpPr/>
          <p:nvPr/>
        </p:nvSpPr>
        <p:spPr>
          <a:xfrm>
            <a:off x="1234440" y="4197096"/>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25-35 — Confirmen al menos uno de esos hallazgos con una segunda fuente distinta (correlación).</a:t>
            </a:r>
            <a:endParaRPr lang="en-US" sz="1300" dirty="0"/>
          </a:p>
        </p:txBody>
      </p:sp>
      <p:sp>
        <p:nvSpPr>
          <p:cNvPr id="21" name="Shape 19"/>
          <p:cNvSpPr/>
          <p:nvPr/>
        </p:nvSpPr>
        <p:spPr>
          <a:xfrm>
            <a:off x="640080" y="4773168"/>
            <a:ext cx="384048" cy="384048"/>
          </a:xfrm>
          <a:prstGeom prst="ellipse">
            <a:avLst/>
          </a:prstGeom>
          <a:solidFill>
            <a:srgbClr val="E2231A"/>
          </a:solidFill>
          <a:ln/>
        </p:spPr>
      </p:sp>
      <p:sp>
        <p:nvSpPr>
          <p:cNvPr id="22" name="Text 20"/>
          <p:cNvSpPr/>
          <p:nvPr/>
        </p:nvSpPr>
        <p:spPr>
          <a:xfrm>
            <a:off x="640080" y="4773168"/>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5</a:t>
            </a:r>
            <a:endParaRPr lang="en-US" sz="1400" dirty="0"/>
          </a:p>
        </p:txBody>
      </p:sp>
      <p:sp>
        <p:nvSpPr>
          <p:cNvPr id="23" name="Text 21"/>
          <p:cNvSpPr/>
          <p:nvPr/>
        </p:nvSpPr>
        <p:spPr>
          <a:xfrm>
            <a:off x="1234440" y="4727448"/>
            <a:ext cx="9966960" cy="457200"/>
          </a:xfrm>
          <a:prstGeom prst="rect">
            <a:avLst/>
          </a:prstGeom>
          <a:noFill/>
          <a:ln/>
        </p:spPr>
        <p:txBody>
          <a:bodyPr wrap="square" rtlCol="0" anchor="ctr"/>
          <a:lstStyle/>
          <a:p>
            <a:pPr indent="0" marL="0">
              <a:buNone/>
            </a:pPr>
            <a:r>
              <a:rPr lang="en-US" sz="1300" dirty="0">
                <a:solidFill>
                  <a:srgbClr val="1A1A1A"/>
                </a:solidFill>
                <a:latin typeface="Roboto" pitchFamily="34" charset="0"/>
                <a:ea typeface="Roboto" pitchFamily="34" charset="-122"/>
                <a:cs typeface="Roboto" pitchFamily="34" charset="-120"/>
              </a:rPr>
              <a:t>Minuto 35-40 — Anoten en la bitácora una duda o hallazgo inesperado para la socialización.</a:t>
            </a:r>
            <a:endParaRPr lang="en-US" sz="1300" dirty="0"/>
          </a:p>
        </p:txBody>
      </p:sp>
      <p:sp>
        <p:nvSpPr>
          <p:cNvPr id="24" name="Shape 22"/>
          <p:cNvSpPr/>
          <p:nvPr/>
        </p:nvSpPr>
        <p:spPr>
          <a:xfrm>
            <a:off x="548640" y="5623560"/>
            <a:ext cx="7680960" cy="685800"/>
          </a:xfrm>
          <a:prstGeom prst="roundRect">
            <a:avLst>
              <a:gd name="adj" fmla="val 10667"/>
            </a:avLst>
          </a:prstGeom>
          <a:solidFill>
            <a:srgbClr val="F7F5F4"/>
          </a:solidFill>
          <a:ln w="9525">
            <a:solidFill>
              <a:srgbClr val="E7E1DF"/>
            </a:solidFill>
            <a:prstDash val="solid"/>
          </a:ln>
        </p:spPr>
      </p:sp>
      <p:sp>
        <p:nvSpPr>
          <p:cNvPr id="25" name="Shape 23"/>
          <p:cNvSpPr/>
          <p:nvPr/>
        </p:nvSpPr>
        <p:spPr>
          <a:xfrm>
            <a:off x="548640" y="5623560"/>
            <a:ext cx="7680960" cy="64008"/>
          </a:xfrm>
          <a:prstGeom prst="rect">
            <a:avLst/>
          </a:prstGeom>
          <a:solidFill>
            <a:srgbClr val="E2231A"/>
          </a:solidFill>
          <a:ln/>
        </p:spPr>
      </p:sp>
      <p:sp>
        <p:nvSpPr>
          <p:cNvPr id="26" name="Text 24"/>
          <p:cNvSpPr/>
          <p:nvPr/>
        </p:nvSpPr>
        <p:spPr>
          <a:xfrm>
            <a:off x="777240" y="5623560"/>
            <a:ext cx="7223760" cy="685800"/>
          </a:xfrm>
          <a:prstGeom prst="rect">
            <a:avLst/>
          </a:prstGeom>
          <a:noFill/>
          <a:ln/>
        </p:spPr>
        <p:txBody>
          <a:bodyPr wrap="square" rtlCol="0" anchor="ctr"/>
          <a:lstStyle/>
          <a:p>
            <a:pPr indent="0" marL="0">
              <a:buNone/>
            </a:pPr>
            <a:r>
              <a:rPr lang="en-US" sz="1200" b="1" dirty="0">
                <a:solidFill>
                  <a:srgbClr val="E2231A"/>
                </a:solidFill>
                <a:latin typeface="Roboto" pitchFamily="34" charset="0"/>
                <a:ea typeface="Roboto" pitchFamily="34" charset="-122"/>
                <a:cs typeface="Roboto" pitchFamily="34" charset="-120"/>
              </a:rPr>
              <a:t>Entregable:  </a:t>
            </a:r>
            <a:pPr indent="0" marL="0">
              <a:buNone/>
            </a:pPr>
            <a:r>
              <a:rPr lang="en-US" sz="1200" dirty="0">
                <a:solidFill>
                  <a:srgbClr val="1A1A1A"/>
                </a:solidFill>
                <a:latin typeface="Roboto" pitchFamily="34" charset="0"/>
                <a:ea typeface="Roboto" pitchFamily="34" charset="-122"/>
                <a:cs typeface="Roboto" pitchFamily="34" charset="-120"/>
              </a:rPr>
              <a:t>Ficha de superficie web completada con al menos 3 hallazgos y 1 correlación explícita, en la bitácora.</a:t>
            </a:r>
            <a:endParaRPr lang="en-US" sz="1200" dirty="0"/>
          </a:p>
        </p:txBody>
      </p:sp>
      <p:sp>
        <p:nvSpPr>
          <p:cNvPr id="27" name="Shape 25"/>
          <p:cNvSpPr/>
          <p:nvPr/>
        </p:nvSpPr>
        <p:spPr>
          <a:xfrm>
            <a:off x="8412480" y="5623560"/>
            <a:ext cx="3200400" cy="685800"/>
          </a:xfrm>
          <a:prstGeom prst="roundRect">
            <a:avLst>
              <a:gd name="adj" fmla="val 10667"/>
            </a:avLst>
          </a:prstGeom>
          <a:solidFill>
            <a:srgbClr val="E2231A"/>
          </a:solidFill>
          <a:ln/>
        </p:spPr>
      </p:sp>
      <p:sp>
        <p:nvSpPr>
          <p:cNvPr id="28" name="Text 26"/>
          <p:cNvSpPr/>
          <p:nvPr/>
        </p:nvSpPr>
        <p:spPr>
          <a:xfrm>
            <a:off x="8412480" y="5623560"/>
            <a:ext cx="3200400" cy="68580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40 min</a:t>
            </a:r>
            <a:endParaRPr lang="en-US" sz="1400" dirty="0"/>
          </a:p>
        </p:txBody>
      </p:sp>
      <p:sp>
        <p:nvSpPr>
          <p:cNvPr id="29" name="Shape 27"/>
          <p:cNvSpPr/>
          <p:nvPr/>
        </p:nvSpPr>
        <p:spPr>
          <a:xfrm rot="2700000">
            <a:off x="502920" y="6501384"/>
            <a:ext cx="82296" cy="82296"/>
          </a:xfrm>
          <a:prstGeom prst="rect">
            <a:avLst/>
          </a:prstGeom>
          <a:solidFill>
            <a:srgbClr val="E2231A"/>
          </a:solidFill>
          <a:ln/>
        </p:spPr>
      </p:sp>
      <p:sp>
        <p:nvSpPr>
          <p:cNvPr id="30" name="Text 28"/>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ACTIVIDAD GUIADA</a:t>
            </a:r>
            <a:endParaRPr lang="en-US" sz="800" dirty="0"/>
          </a:p>
        </p:txBody>
      </p:sp>
      <p:sp>
        <p:nvSpPr>
          <p:cNvPr id="31" name="Text 29"/>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2231A"/>
        </a:solidFill>
      </p:bgPr>
    </p:bg>
    <p:spTree>
      <p:nvGrpSpPr>
        <p:cNvPr id="1" name=""/>
        <p:cNvGrpSpPr/>
        <p:nvPr/>
      </p:nvGrpSpPr>
      <p:grpSpPr>
        <a:xfrm>
          <a:off x="0" y="0"/>
          <a:ext cx="0" cy="0"/>
          <a:chOff x="0" y="0"/>
          <a:chExt cx="0" cy="0"/>
        </a:xfrm>
      </p:grpSpPr>
      <p:sp>
        <p:nvSpPr>
          <p:cNvPr id="2" name="Shape 0"/>
          <p:cNvSpPr/>
          <p:nvPr/>
        </p:nvSpPr>
        <p:spPr>
          <a:xfrm>
            <a:off x="9692640" y="3840480"/>
            <a:ext cx="4937760" cy="4937760"/>
          </a:xfrm>
          <a:prstGeom prst="ellipse">
            <a:avLst/>
          </a:prstGeom>
          <a:solidFill>
            <a:srgbClr val="A81810">
              <a:alpha val="70000"/>
            </a:srgbClr>
          </a:solidFill>
          <a:ln/>
        </p:spPr>
      </p:sp>
      <p:sp>
        <p:nvSpPr>
          <p:cNvPr id="3" name="Shape 1"/>
          <p:cNvSpPr/>
          <p:nvPr/>
        </p:nvSpPr>
        <p:spPr>
          <a:xfrm>
            <a:off x="-1097280" y="-1097280"/>
            <a:ext cx="2377440" cy="2377440"/>
          </a:xfrm>
          <a:prstGeom prst="ellipse">
            <a:avLst/>
          </a:prstGeom>
          <a:solidFill>
            <a:srgbClr val="A81810">
              <a:alpha val="70000"/>
            </a:srgbClr>
          </a:solidFill>
          <a:ln/>
        </p:spPr>
      </p:sp>
      <p:sp>
        <p:nvSpPr>
          <p:cNvPr id="4" name="Text 2"/>
          <p:cNvSpPr/>
          <p:nvPr/>
        </p:nvSpPr>
        <p:spPr>
          <a:xfrm>
            <a:off x="914400" y="2606040"/>
            <a:ext cx="91440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TRABAJO EN GRUPO</a:t>
            </a:r>
            <a:endParaRPr lang="en-US" sz="1300" dirty="0"/>
          </a:p>
        </p:txBody>
      </p:sp>
      <p:sp>
        <p:nvSpPr>
          <p:cNvPr id="5" name="Text 3"/>
          <p:cNvSpPr/>
          <p:nvPr/>
        </p:nvSpPr>
        <p:spPr>
          <a:xfrm>
            <a:off x="914400" y="2971800"/>
            <a:ext cx="9875520" cy="1188720"/>
          </a:xfrm>
          <a:prstGeom prst="rect">
            <a:avLst/>
          </a:prstGeom>
          <a:noFill/>
          <a:ln/>
        </p:spPr>
        <p:txBody>
          <a:bodyPr wrap="square" rtlCol="0" anchor="ctr"/>
          <a:lstStyle/>
          <a:p>
            <a:pPr indent="0" marL="0">
              <a:buNone/>
            </a:pPr>
            <a:r>
              <a:rPr lang="en-US" sz="3400" b="1" dirty="0">
                <a:solidFill>
                  <a:srgbClr val="FFFFFF"/>
                </a:solidFill>
                <a:latin typeface="Roboto" pitchFamily="34" charset="0"/>
                <a:ea typeface="Roboto" pitchFamily="34" charset="-122"/>
                <a:cs typeface="Roboto" pitchFamily="34" charset="-120"/>
              </a:rPr>
              <a:t>40 minutos</a:t>
            </a:r>
            <a:endParaRPr lang="en-US" sz="3400" dirty="0"/>
          </a:p>
        </p:txBody>
      </p:sp>
      <p:sp>
        <p:nvSpPr>
          <p:cNvPr id="6" name="Text 4"/>
          <p:cNvSpPr/>
          <p:nvPr/>
        </p:nvSpPr>
        <p:spPr>
          <a:xfrm>
            <a:off x="914400" y="4069080"/>
            <a:ext cx="8961120" cy="640080"/>
          </a:xfrm>
          <a:prstGeom prst="rect">
            <a:avLst/>
          </a:prstGeom>
          <a:noFill/>
          <a:ln/>
        </p:spPr>
        <p:txBody>
          <a:bodyPr wrap="square" rtlCol="0" anchor="ctr"/>
          <a:lstStyle/>
          <a:p>
            <a:pPr indent="0" marL="0">
              <a:buNone/>
            </a:pPr>
            <a:r>
              <a:rPr lang="en-US" sz="1500" dirty="0">
                <a:solidFill>
                  <a:srgbClr val="FBDAD8"/>
                </a:solidFill>
                <a:latin typeface="Roboto" pitchFamily="34" charset="0"/>
                <a:ea typeface="Roboto" pitchFamily="34" charset="-122"/>
                <a:cs typeface="Roboto" pitchFamily="34" charset="-120"/>
              </a:rPr>
              <a:t>El instructor circula por el aula resolviendo dudas puntuales.</a:t>
            </a:r>
            <a:endParaRPr lang="en-US" sz="1500" dirty="0"/>
          </a:p>
        </p:txBody>
      </p:sp>
      <p:sp>
        <p:nvSpPr>
          <p:cNvPr id="7" name="Shape 5"/>
          <p:cNvSpPr/>
          <p:nvPr/>
        </p:nvSpPr>
        <p:spPr>
          <a:xfrm rot="2700000">
            <a:off x="502920" y="6501384"/>
            <a:ext cx="82296" cy="82296"/>
          </a:xfrm>
          <a:prstGeom prst="rect">
            <a:avLst/>
          </a:prstGeom>
          <a:solidFill>
            <a:srgbClr val="FFFFFF"/>
          </a:solidFill>
          <a:ln/>
        </p:spPr>
      </p:sp>
      <p:sp>
        <p:nvSpPr>
          <p:cNvPr id="8" name="Text 6"/>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F4D9D7"/>
                </a:solidFill>
                <a:latin typeface="Roboto" pitchFamily="34" charset="0"/>
                <a:ea typeface="Roboto" pitchFamily="34" charset="-122"/>
                <a:cs typeface="Roboto" pitchFamily="34" charset="-120"/>
              </a:rPr>
              <a:t>BACCI · CAPACITACIÓN EN CIBERDEFENSA Y CIBERSEGURIDAD · 40 HORAS</a:t>
            </a:r>
            <a:endParaRPr lang="en-US" sz="800" dirty="0"/>
          </a:p>
        </p:txBody>
      </p:sp>
      <p:sp>
        <p:nvSpPr>
          <p:cNvPr id="9" name="Text 7"/>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FFFFFF"/>
                </a:solidFill>
                <a:latin typeface="Roboto" pitchFamily="34" charset="0"/>
                <a:ea typeface="Roboto" pitchFamily="34" charset="-122"/>
                <a:cs typeface="Roboto"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109960" y="-777240"/>
            <a:ext cx="1920240" cy="1920240"/>
          </a:xfrm>
          <a:prstGeom prst="ellipse">
            <a:avLst/>
          </a:prstGeom>
          <a:solidFill>
            <a:srgbClr val="FCEBEA"/>
          </a:solidFill>
          <a:ln/>
        </p:spPr>
      </p:sp>
      <p:sp>
        <p:nvSpPr>
          <p:cNvPr id="3" name="Shape 1"/>
          <p:cNvSpPr/>
          <p:nvPr/>
        </p:nvSpPr>
        <p:spPr>
          <a:xfrm>
            <a:off x="548640" y="347472"/>
            <a:ext cx="292608" cy="91440"/>
          </a:xfrm>
          <a:prstGeom prst="rect">
            <a:avLst/>
          </a:prstGeom>
          <a:solidFill>
            <a:srgbClr val="E2231A"/>
          </a:solidFill>
          <a:ln/>
        </p:spPr>
      </p:sp>
      <p:sp>
        <p:nvSpPr>
          <p:cNvPr id="4" name="Text 2"/>
          <p:cNvSpPr/>
          <p:nvPr/>
        </p:nvSpPr>
        <p:spPr>
          <a:xfrm>
            <a:off x="932688" y="237744"/>
            <a:ext cx="9875520" cy="292608"/>
          </a:xfrm>
          <a:prstGeom prst="rect">
            <a:avLst/>
          </a:prstGeom>
          <a:noFill/>
          <a:ln/>
        </p:spPr>
        <p:txBody>
          <a:bodyPr wrap="square" rtlCol="0" anchor="t"/>
          <a:lstStyle/>
          <a:p>
            <a:pPr indent="0" marL="0">
              <a:buNone/>
            </a:pPr>
            <a:r>
              <a:rPr lang="en-US" sz="1150" b="1" spc="120" kern="0" dirty="0">
                <a:solidFill>
                  <a:srgbClr val="E2231A"/>
                </a:solidFill>
                <a:latin typeface="Roboto" pitchFamily="34" charset="0"/>
                <a:ea typeface="Roboto" pitchFamily="34" charset="-122"/>
                <a:cs typeface="Roboto" pitchFamily="34" charset="-120"/>
              </a:rPr>
              <a:t>APLICACIÓN · SOCIALIZACIÓN</a:t>
            </a:r>
            <a:endParaRPr lang="en-US" sz="1150" dirty="0"/>
          </a:p>
        </p:txBody>
      </p:sp>
      <p:sp>
        <p:nvSpPr>
          <p:cNvPr id="5" name="Text 3"/>
          <p:cNvSpPr/>
          <p:nvPr/>
        </p:nvSpPr>
        <p:spPr>
          <a:xfrm>
            <a:off x="548640" y="749808"/>
            <a:ext cx="10332720" cy="777240"/>
          </a:xfrm>
          <a:prstGeom prst="rect">
            <a:avLst/>
          </a:prstGeom>
          <a:noFill/>
          <a:ln/>
        </p:spPr>
        <p:txBody>
          <a:bodyPr wrap="square" rtlCol="0" anchor="t"/>
          <a:lstStyle/>
          <a:p>
            <a:pPr indent="0" marL="0">
              <a:buNone/>
            </a:pPr>
            <a:r>
              <a:rPr lang="en-US" sz="2500" b="1" dirty="0">
                <a:solidFill>
                  <a:srgbClr val="1A1A1A"/>
                </a:solidFill>
                <a:latin typeface="Roboto" pitchFamily="34" charset="0"/>
                <a:ea typeface="Roboto" pitchFamily="34" charset="-122"/>
                <a:cs typeface="Roboto" pitchFamily="34" charset="-120"/>
              </a:rPr>
              <a:t>Compartamos resultados</a:t>
            </a:r>
            <a:endParaRPr lang="en-US" sz="2500" dirty="0"/>
          </a:p>
        </p:txBody>
      </p:sp>
      <p:sp>
        <p:nvSpPr>
          <p:cNvPr id="6" name="Shape 4"/>
          <p:cNvSpPr/>
          <p:nvPr/>
        </p:nvSpPr>
        <p:spPr>
          <a:xfrm>
            <a:off x="640080" y="1691640"/>
            <a:ext cx="384048" cy="384048"/>
          </a:xfrm>
          <a:prstGeom prst="ellipse">
            <a:avLst/>
          </a:prstGeom>
          <a:solidFill>
            <a:srgbClr val="E2231A"/>
          </a:solidFill>
          <a:ln/>
        </p:spPr>
      </p:sp>
      <p:sp>
        <p:nvSpPr>
          <p:cNvPr id="7" name="Text 5"/>
          <p:cNvSpPr/>
          <p:nvPr/>
        </p:nvSpPr>
        <p:spPr>
          <a:xfrm>
            <a:off x="640080" y="169164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a:t>
            </a:r>
            <a:endParaRPr lang="en-US" sz="1400" dirty="0"/>
          </a:p>
        </p:txBody>
      </p:sp>
      <p:sp>
        <p:nvSpPr>
          <p:cNvPr id="8" name="Text 6"/>
          <p:cNvSpPr/>
          <p:nvPr/>
        </p:nvSpPr>
        <p:spPr>
          <a:xfrm>
            <a:off x="1234440" y="163677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2-3 parejas presentan uno de sus hallazgos</a:t>
            </a:r>
            <a:endParaRPr lang="en-US" sz="1600" dirty="0"/>
          </a:p>
        </p:txBody>
      </p:sp>
      <p:sp>
        <p:nvSpPr>
          <p:cNvPr id="9" name="Text 7"/>
          <p:cNvSpPr/>
          <p:nvPr/>
        </p:nvSpPr>
        <p:spPr>
          <a:xfrm>
            <a:off x="1234440" y="198424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Explicando fuente, fecha, nivel de confianza y cómo lo correlacionaron.</a:t>
            </a:r>
            <a:endParaRPr lang="en-US" sz="1250" dirty="0"/>
          </a:p>
        </p:txBody>
      </p:sp>
      <p:sp>
        <p:nvSpPr>
          <p:cNvPr id="10" name="Shape 8"/>
          <p:cNvSpPr/>
          <p:nvPr/>
        </p:nvSpPr>
        <p:spPr>
          <a:xfrm>
            <a:off x="640080" y="2651760"/>
            <a:ext cx="384048" cy="384048"/>
          </a:xfrm>
          <a:prstGeom prst="ellipse">
            <a:avLst/>
          </a:prstGeom>
          <a:solidFill>
            <a:srgbClr val="E2231A"/>
          </a:solidFill>
          <a:ln/>
        </p:spPr>
      </p:sp>
      <p:sp>
        <p:nvSpPr>
          <p:cNvPr id="11" name="Text 9"/>
          <p:cNvSpPr/>
          <p:nvPr/>
        </p:nvSpPr>
        <p:spPr>
          <a:xfrm>
            <a:off x="640080" y="265176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2</a:t>
            </a:r>
            <a:endParaRPr lang="en-US" sz="1400" dirty="0"/>
          </a:p>
        </p:txBody>
      </p:sp>
      <p:sp>
        <p:nvSpPr>
          <p:cNvPr id="12" name="Text 10"/>
          <p:cNvSpPr/>
          <p:nvPr/>
        </p:nvSpPr>
        <p:spPr>
          <a:xfrm>
            <a:off x="1234440" y="259689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grupo comenta discrepancias o sorpresas</a:t>
            </a:r>
            <a:endParaRPr lang="en-US" sz="1600" dirty="0"/>
          </a:p>
        </p:txBody>
      </p:sp>
      <p:sp>
        <p:nvSpPr>
          <p:cNvPr id="13" name="Text 11"/>
          <p:cNvSpPr/>
          <p:nvPr/>
        </p:nvSpPr>
        <p:spPr>
          <a:xfrm>
            <a:off x="1234440" y="294436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¿Algún hallazgo de Certificate Transparency sorprendió al grupo?</a:t>
            </a:r>
            <a:endParaRPr lang="en-US" sz="1250" dirty="0"/>
          </a:p>
        </p:txBody>
      </p:sp>
      <p:sp>
        <p:nvSpPr>
          <p:cNvPr id="14" name="Shape 12"/>
          <p:cNvSpPr/>
          <p:nvPr/>
        </p:nvSpPr>
        <p:spPr>
          <a:xfrm>
            <a:off x="640080" y="3611880"/>
            <a:ext cx="384048" cy="384048"/>
          </a:xfrm>
          <a:prstGeom prst="ellipse">
            <a:avLst/>
          </a:prstGeom>
          <a:solidFill>
            <a:srgbClr val="E2231A"/>
          </a:solidFill>
          <a:ln/>
        </p:spPr>
      </p:sp>
      <p:sp>
        <p:nvSpPr>
          <p:cNvPr id="15" name="Text 13"/>
          <p:cNvSpPr/>
          <p:nvPr/>
        </p:nvSpPr>
        <p:spPr>
          <a:xfrm>
            <a:off x="640080" y="3611880"/>
            <a:ext cx="384048" cy="384048"/>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3</a:t>
            </a:r>
            <a:endParaRPr lang="en-US" sz="1400" dirty="0"/>
          </a:p>
        </p:txBody>
      </p:sp>
      <p:sp>
        <p:nvSpPr>
          <p:cNvPr id="16" name="Text 14"/>
          <p:cNvSpPr/>
          <p:nvPr/>
        </p:nvSpPr>
        <p:spPr>
          <a:xfrm>
            <a:off x="1234440" y="3557016"/>
            <a:ext cx="9966960" cy="365760"/>
          </a:xfrm>
          <a:prstGeom prst="rect">
            <a:avLst/>
          </a:prstGeom>
          <a:noFill/>
          <a:ln/>
        </p:spPr>
        <p:txBody>
          <a:bodyPr wrap="square" rtlCol="0" anchor="ctr"/>
          <a:lstStyle/>
          <a:p>
            <a:pPr indent="0" marL="0">
              <a:buNone/>
            </a:pPr>
            <a:r>
              <a:rPr lang="en-US" sz="1600" b="1" dirty="0">
                <a:solidFill>
                  <a:srgbClr val="1A1A1A"/>
                </a:solidFill>
                <a:latin typeface="Roboto" pitchFamily="34" charset="0"/>
                <a:ea typeface="Roboto" pitchFamily="34" charset="-122"/>
                <a:cs typeface="Roboto" pitchFamily="34" charset="-120"/>
              </a:rPr>
              <a:t>El instructor cierra conectando con la Sesión 4</a:t>
            </a:r>
            <a:endParaRPr lang="en-US" sz="1600" dirty="0"/>
          </a:p>
        </p:txBody>
      </p:sp>
      <p:sp>
        <p:nvSpPr>
          <p:cNvPr id="17" name="Text 15"/>
          <p:cNvSpPr/>
          <p:nvPr/>
        </p:nvSpPr>
        <p:spPr>
          <a:xfrm>
            <a:off x="1234440" y="3904488"/>
            <a:ext cx="9966960" cy="502920"/>
          </a:xfrm>
          <a:prstGeom prst="rect">
            <a:avLst/>
          </a:prstGeom>
          <a:noFill/>
          <a:ln/>
        </p:spPr>
        <p:txBody>
          <a:bodyPr wrap="square" rtlCol="0" anchor="ctr"/>
          <a:lstStyle/>
          <a:p>
            <a:pPr indent="0" marL="0">
              <a:buNone/>
            </a:pPr>
            <a:r>
              <a:rPr lang="en-US" sz="1250" dirty="0">
                <a:solidFill>
                  <a:srgbClr val="6B6B6B"/>
                </a:solidFill>
                <a:latin typeface="Roboto" pitchFamily="34" charset="0"/>
                <a:ea typeface="Roboto" pitchFamily="34" charset="-122"/>
                <a:cs typeface="Roboto" pitchFamily="34" charset="-120"/>
              </a:rPr>
              <a:t>Los subdominios encontrados hoy son el insumo directo del trabajo de esta tarde.</a:t>
            </a:r>
            <a:endParaRPr lang="en-US" sz="1250" dirty="0"/>
          </a:p>
        </p:txBody>
      </p:sp>
      <p:sp>
        <p:nvSpPr>
          <p:cNvPr id="18" name="Shape 16"/>
          <p:cNvSpPr/>
          <p:nvPr/>
        </p:nvSpPr>
        <p:spPr>
          <a:xfrm rot="2700000">
            <a:off x="502920" y="6501384"/>
            <a:ext cx="82296" cy="82296"/>
          </a:xfrm>
          <a:prstGeom prst="rect">
            <a:avLst/>
          </a:prstGeom>
          <a:solidFill>
            <a:srgbClr val="E2231A"/>
          </a:solidFill>
          <a:ln/>
        </p:spPr>
      </p:sp>
      <p:sp>
        <p:nvSpPr>
          <p:cNvPr id="19" name="Text 17"/>
          <p:cNvSpPr/>
          <p:nvPr/>
        </p:nvSpPr>
        <p:spPr>
          <a:xfrm>
            <a:off x="685800" y="6419088"/>
            <a:ext cx="9509760" cy="274320"/>
          </a:xfrm>
          <a:prstGeom prst="rect">
            <a:avLst/>
          </a:prstGeom>
          <a:noFill/>
          <a:ln/>
        </p:spPr>
        <p:txBody>
          <a:bodyPr wrap="square" rtlCol="0" anchor="ctr"/>
          <a:lstStyle/>
          <a:p>
            <a:pPr algn="l" indent="0" marL="0">
              <a:buNone/>
            </a:pPr>
            <a:r>
              <a:rPr lang="en-US" sz="800" spc="50" kern="0" dirty="0">
                <a:solidFill>
                  <a:srgbClr val="6B6B6B"/>
                </a:solidFill>
                <a:latin typeface="Roboto" pitchFamily="34" charset="0"/>
                <a:ea typeface="Roboto" pitchFamily="34" charset="-122"/>
                <a:cs typeface="Roboto" pitchFamily="34" charset="-120"/>
              </a:rPr>
              <a:t>APLICACIÓN · SOCIALIZACIÓN</a:t>
            </a:r>
            <a:endParaRPr lang="en-US" sz="800" dirty="0"/>
          </a:p>
        </p:txBody>
      </p:sp>
      <p:sp>
        <p:nvSpPr>
          <p:cNvPr id="20" name="Text 18"/>
          <p:cNvSpPr/>
          <p:nvPr/>
        </p:nvSpPr>
        <p:spPr>
          <a:xfrm>
            <a:off x="11430000" y="6400800"/>
            <a:ext cx="457200" cy="292608"/>
          </a:xfrm>
          <a:prstGeom prst="rect">
            <a:avLst/>
          </a:prstGeom>
          <a:noFill/>
          <a:ln/>
        </p:spPr>
        <p:txBody>
          <a:bodyPr wrap="square" rtlCol="0" anchor="ctr"/>
          <a:lstStyle/>
          <a:p>
            <a:pPr algn="r" indent="0" marL="0">
              <a:buNone/>
            </a:pPr>
            <a:r>
              <a:rPr lang="en-US" sz="950" b="1" dirty="0">
                <a:solidFill>
                  <a:srgbClr val="E2231A"/>
                </a:solidFill>
                <a:latin typeface="Roboto" pitchFamily="34" charset="0"/>
                <a:ea typeface="Roboto" pitchFamily="34" charset="-122"/>
                <a:cs typeface="Roboto"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48840"/>
          </a:xfrm>
          <a:prstGeom prst="rect">
            <a:avLst/>
          </a:prstGeom>
          <a:solidFill>
            <a:srgbClr val="E2231A"/>
          </a:solidFill>
          <a:ln/>
        </p:spPr>
      </p:sp>
      <p:sp>
        <p:nvSpPr>
          <p:cNvPr id="3" name="Shape 1"/>
          <p:cNvSpPr/>
          <p:nvPr/>
        </p:nvSpPr>
        <p:spPr>
          <a:xfrm>
            <a:off x="10607040" y="-1005840"/>
            <a:ext cx="2926080" cy="2926080"/>
          </a:xfrm>
          <a:prstGeom prst="ellipse">
            <a:avLst/>
          </a:prstGeom>
          <a:solidFill>
            <a:srgbClr val="A81810">
              <a:alpha val="70000"/>
            </a:srgbClr>
          </a:solidFill>
          <a:ln/>
        </p:spPr>
      </p:sp>
      <p:sp>
        <p:nvSpPr>
          <p:cNvPr id="4" name="Text 2"/>
          <p:cNvSpPr/>
          <p:nvPr/>
        </p:nvSpPr>
        <p:spPr>
          <a:xfrm>
            <a:off x="822960" y="502920"/>
            <a:ext cx="10058400" cy="365760"/>
          </a:xfrm>
          <a:prstGeom prst="rect">
            <a:avLst/>
          </a:prstGeom>
          <a:noFill/>
          <a:ln/>
        </p:spPr>
        <p:txBody>
          <a:bodyPr wrap="square" rtlCol="0" anchor="ctr"/>
          <a:lstStyle/>
          <a:p>
            <a:pPr indent="0" marL="0">
              <a:buNone/>
            </a:pPr>
            <a:r>
              <a:rPr lang="en-US" sz="1300" b="1" spc="150" kern="0" dirty="0">
                <a:solidFill>
                  <a:srgbClr val="FEB126"/>
                </a:solidFill>
                <a:latin typeface="Roboto" pitchFamily="34" charset="0"/>
                <a:ea typeface="Roboto" pitchFamily="34" charset="-122"/>
                <a:cs typeface="Roboto" pitchFamily="34" charset="-120"/>
              </a:rPr>
              <a:t>CIERRE DE LA SESIÓN 3</a:t>
            </a:r>
            <a:endParaRPr lang="en-US" sz="1300" dirty="0"/>
          </a:p>
        </p:txBody>
      </p:sp>
      <p:sp>
        <p:nvSpPr>
          <p:cNvPr id="5" name="Text 3"/>
          <p:cNvSpPr/>
          <p:nvPr/>
        </p:nvSpPr>
        <p:spPr>
          <a:xfrm>
            <a:off x="822960" y="868680"/>
            <a:ext cx="10241280" cy="1097280"/>
          </a:xfrm>
          <a:prstGeom prst="rect">
            <a:avLst/>
          </a:prstGeom>
          <a:noFill/>
          <a:ln/>
        </p:spPr>
        <p:txBody>
          <a:bodyPr wrap="square" rtlCol="0" anchor="ctr"/>
          <a:lstStyle/>
          <a:p>
            <a:pPr indent="0" marL="0">
              <a:buNone/>
            </a:pPr>
            <a:r>
              <a:rPr lang="en-US" sz="2700" b="1" dirty="0">
                <a:solidFill>
                  <a:srgbClr val="FFFFFF"/>
                </a:solidFill>
                <a:latin typeface="Roboto" pitchFamily="34" charset="0"/>
                <a:ea typeface="Roboto" pitchFamily="34" charset="-122"/>
                <a:cs typeface="Roboto" pitchFamily="34" charset="-120"/>
              </a:rPr>
              <a:t>Esta tarde: Subdominios — organización y validación responsable</a:t>
            </a:r>
            <a:endParaRPr lang="en-US" sz="2700" dirty="0"/>
          </a:p>
        </p:txBody>
      </p:sp>
      <p:sp>
        <p:nvSpPr>
          <p:cNvPr id="6" name="Shape 4"/>
          <p:cNvSpPr/>
          <p:nvPr/>
        </p:nvSpPr>
        <p:spPr>
          <a:xfrm>
            <a:off x="822960" y="2514600"/>
            <a:ext cx="10515600" cy="566928"/>
          </a:xfrm>
          <a:prstGeom prst="roundRect">
            <a:avLst>
              <a:gd name="adj" fmla="val 9677"/>
            </a:avLst>
          </a:prstGeom>
          <a:solidFill>
            <a:srgbClr val="F7F5F4"/>
          </a:solidFill>
          <a:ln/>
        </p:spPr>
      </p:sp>
      <p:sp>
        <p:nvSpPr>
          <p:cNvPr id="7" name="Shape 5"/>
          <p:cNvSpPr/>
          <p:nvPr/>
        </p:nvSpPr>
        <p:spPr>
          <a:xfrm>
            <a:off x="822960" y="2514600"/>
            <a:ext cx="54864" cy="566928"/>
          </a:xfrm>
          <a:prstGeom prst="rect">
            <a:avLst/>
          </a:prstGeom>
          <a:solidFill>
            <a:srgbClr val="E2231A"/>
          </a:solidFill>
          <a:ln/>
        </p:spPr>
      </p:sp>
      <p:sp>
        <p:nvSpPr>
          <p:cNvPr id="8" name="Text 6"/>
          <p:cNvSpPr/>
          <p:nvPr/>
        </p:nvSpPr>
        <p:spPr>
          <a:xfrm>
            <a:off x="1097280" y="2514600"/>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Los hallazgos OSINT de hoy son el punto de partida del trabajo de la tarde</a:t>
            </a:r>
            <a:endParaRPr lang="en-US" sz="1350" dirty="0"/>
          </a:p>
        </p:txBody>
      </p:sp>
      <p:sp>
        <p:nvSpPr>
          <p:cNvPr id="9" name="Shape 7"/>
          <p:cNvSpPr/>
          <p:nvPr/>
        </p:nvSpPr>
        <p:spPr>
          <a:xfrm>
            <a:off x="822960" y="3191256"/>
            <a:ext cx="10515600" cy="566928"/>
          </a:xfrm>
          <a:prstGeom prst="roundRect">
            <a:avLst>
              <a:gd name="adj" fmla="val 9677"/>
            </a:avLst>
          </a:prstGeom>
          <a:solidFill>
            <a:srgbClr val="F7F5F4"/>
          </a:solidFill>
          <a:ln/>
        </p:spPr>
      </p:sp>
      <p:sp>
        <p:nvSpPr>
          <p:cNvPr id="10" name="Shape 8"/>
          <p:cNvSpPr/>
          <p:nvPr/>
        </p:nvSpPr>
        <p:spPr>
          <a:xfrm>
            <a:off x="822960" y="3191256"/>
            <a:ext cx="54864" cy="566928"/>
          </a:xfrm>
          <a:prstGeom prst="rect">
            <a:avLst/>
          </a:prstGeom>
          <a:solidFill>
            <a:srgbClr val="E2231A"/>
          </a:solidFill>
          <a:ln/>
        </p:spPr>
      </p:sp>
      <p:sp>
        <p:nvSpPr>
          <p:cNvPr id="11" name="Text 9"/>
          <p:cNvSpPr/>
          <p:nvPr/>
        </p:nvSpPr>
        <p:spPr>
          <a:xfrm>
            <a:off x="1097280" y="3191256"/>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Organización de un inventario de subdominios y su validación responsable</a:t>
            </a:r>
            <a:endParaRPr lang="en-US" sz="1350" dirty="0"/>
          </a:p>
        </p:txBody>
      </p:sp>
      <p:sp>
        <p:nvSpPr>
          <p:cNvPr id="12" name="Shape 10"/>
          <p:cNvSpPr/>
          <p:nvPr/>
        </p:nvSpPr>
        <p:spPr>
          <a:xfrm>
            <a:off x="822960" y="3867912"/>
            <a:ext cx="10515600" cy="566928"/>
          </a:xfrm>
          <a:prstGeom prst="roundRect">
            <a:avLst>
              <a:gd name="adj" fmla="val 9677"/>
            </a:avLst>
          </a:prstGeom>
          <a:solidFill>
            <a:srgbClr val="F7F5F4"/>
          </a:solidFill>
          <a:ln/>
        </p:spPr>
      </p:sp>
      <p:sp>
        <p:nvSpPr>
          <p:cNvPr id="13" name="Shape 11"/>
          <p:cNvSpPr/>
          <p:nvPr/>
        </p:nvSpPr>
        <p:spPr>
          <a:xfrm>
            <a:off x="822960" y="3867912"/>
            <a:ext cx="54864" cy="566928"/>
          </a:xfrm>
          <a:prstGeom prst="rect">
            <a:avLst/>
          </a:prstGeom>
          <a:solidFill>
            <a:srgbClr val="E2231A"/>
          </a:solidFill>
          <a:ln/>
        </p:spPr>
      </p:sp>
      <p:sp>
        <p:nvSpPr>
          <p:cNvPr id="14" name="Text 12"/>
          <p:cNvSpPr/>
          <p:nvPr/>
        </p:nvSpPr>
        <p:spPr>
          <a:xfrm>
            <a:off x="1097280" y="3867912"/>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Continuidad directa: mismo dominio de laboratorio, misma disciplina de documentación</a:t>
            </a:r>
            <a:endParaRPr lang="en-US" sz="1350" dirty="0"/>
          </a:p>
        </p:txBody>
      </p:sp>
      <p:sp>
        <p:nvSpPr>
          <p:cNvPr id="15" name="Shape 13"/>
          <p:cNvSpPr/>
          <p:nvPr/>
        </p:nvSpPr>
        <p:spPr>
          <a:xfrm>
            <a:off x="822960" y="4544568"/>
            <a:ext cx="10515600" cy="566928"/>
          </a:xfrm>
          <a:prstGeom prst="roundRect">
            <a:avLst>
              <a:gd name="adj" fmla="val 9677"/>
            </a:avLst>
          </a:prstGeom>
          <a:solidFill>
            <a:srgbClr val="F7F5F4"/>
          </a:solidFill>
          <a:ln/>
        </p:spPr>
      </p:sp>
      <p:sp>
        <p:nvSpPr>
          <p:cNvPr id="16" name="Shape 14"/>
          <p:cNvSpPr/>
          <p:nvPr/>
        </p:nvSpPr>
        <p:spPr>
          <a:xfrm>
            <a:off x="822960" y="4544568"/>
            <a:ext cx="54864" cy="566928"/>
          </a:xfrm>
          <a:prstGeom prst="rect">
            <a:avLst/>
          </a:prstGeom>
          <a:solidFill>
            <a:srgbClr val="E2231A"/>
          </a:solidFill>
          <a:ln/>
        </p:spPr>
      </p:sp>
      <p:sp>
        <p:nvSpPr>
          <p:cNvPr id="17" name="Text 15"/>
          <p:cNvSpPr/>
          <p:nvPr/>
        </p:nvSpPr>
        <p:spPr>
          <a:xfrm>
            <a:off x="1097280" y="4544568"/>
            <a:ext cx="10058400" cy="566928"/>
          </a:xfrm>
          <a:prstGeom prst="rect">
            <a:avLst/>
          </a:prstGeom>
          <a:noFill/>
          <a:ln/>
        </p:spPr>
        <p:txBody>
          <a:bodyPr wrap="square" rtlCol="0" anchor="ctr"/>
          <a:lstStyle/>
          <a:p>
            <a:pPr indent="0" marL="0">
              <a:buNone/>
            </a:pPr>
            <a:r>
              <a:rPr lang="en-US" sz="1350" dirty="0">
                <a:solidFill>
                  <a:srgbClr val="1A1A1A"/>
                </a:solidFill>
                <a:latin typeface="Roboto" pitchFamily="34" charset="0"/>
                <a:ea typeface="Roboto" pitchFamily="34" charset="-122"/>
                <a:cs typeface="Roboto" pitchFamily="34" charset="-120"/>
              </a:rPr>
              <a:t>Laboratorio 2 (inventario OSINT): se profundiza y formaliza con más tiempo fuera de esta sesión</a:t>
            </a:r>
            <a:endParaRPr lang="en-US" sz="1350" dirty="0"/>
          </a:p>
        </p:txBody>
      </p:sp>
      <p:sp>
        <p:nvSpPr>
          <p:cNvPr id="18" name="Text 16"/>
          <p:cNvSpPr/>
          <p:nvPr/>
        </p:nvSpPr>
        <p:spPr>
          <a:xfrm>
            <a:off x="822960" y="5358384"/>
            <a:ext cx="10332720" cy="548640"/>
          </a:xfrm>
          <a:prstGeom prst="rect">
            <a:avLst/>
          </a:prstGeom>
          <a:noFill/>
          <a:ln/>
        </p:spPr>
        <p:txBody>
          <a:bodyPr wrap="square" rtlCol="0" anchor="ctr"/>
          <a:lstStyle/>
          <a:p>
            <a:pPr indent="0" marL="0">
              <a:buNone/>
            </a:pPr>
            <a:r>
              <a:rPr lang="en-US" sz="1400" i="1" dirty="0">
                <a:solidFill>
                  <a:srgbClr val="E2231A"/>
                </a:solidFill>
                <a:latin typeface="Roboto" pitchFamily="34" charset="0"/>
                <a:ea typeface="Roboto" pitchFamily="34" charset="-122"/>
                <a:cs typeface="Roboto" pitchFamily="34" charset="-120"/>
              </a:rPr>
              <a:t>Almuerzo de 12:00 a 1:00 p. m. — la Sesión 4 retoma a la 1:00 p. m., el mismo Día 2. Conserven sus fichas de superficie web: son el insumo de entrada de la Sesión 4.</a:t>
            </a:r>
            <a:endParaRPr lang="en-US" sz="1400" dirty="0"/>
          </a:p>
        </p:txBody>
      </p:sp>
      <p:sp>
        <p:nvSpPr>
          <p:cNvPr id="19" name="Text 17"/>
          <p:cNvSpPr/>
          <p:nvPr/>
        </p:nvSpPr>
        <p:spPr>
          <a:xfrm>
            <a:off x="11475720" y="6473952"/>
            <a:ext cx="457200" cy="274320"/>
          </a:xfrm>
          <a:prstGeom prst="rect">
            <a:avLst/>
          </a:prstGeom>
          <a:noFill/>
          <a:ln/>
        </p:spPr>
        <p:txBody>
          <a:bodyPr wrap="square" rtlCol="0" anchor="ctr"/>
          <a:lstStyle/>
          <a:p>
            <a:pPr algn="r" indent="0" marL="0">
              <a:buNone/>
            </a:pPr>
            <a:r>
              <a:rPr lang="en-US" sz="900" dirty="0">
                <a:solidFill>
                  <a:srgbClr val="E2231A"/>
                </a:solidFill>
                <a:latin typeface="Roboto" pitchFamily="34" charset="0"/>
                <a:ea typeface="Roboto" pitchFamily="34" charset="-122"/>
                <a:cs typeface="Roboto" pitchFamily="34" charset="-120"/>
              </a:rPr>
              <a:t>24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3 — OSINT aplicado a infraestructura web</dc:title>
  <dc:subject>PptxGenJS Presentation</dc:subject>
  <dc:creator>REDNEET — Capacitación 40 horas CENAC Telemática</dc:creator>
  <cp:lastModifiedBy>REDNEET — Capacitación 40 horas CENAC Telemática</cp:lastModifiedBy>
  <cp:revision>1</cp:revision>
  <dcterms:created xsi:type="dcterms:W3CDTF">2026-08-17T17:29:10Z</dcterms:created>
  <dcterms:modified xsi:type="dcterms:W3CDTF">2026-08-17T17:29:10Z</dcterms:modified>
</cp:coreProperties>
</file>