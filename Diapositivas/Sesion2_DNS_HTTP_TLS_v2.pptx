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bienvenida al bloque de la tarde y situar la sesión como la base técnica de todo el resto del curso.
NOTAS DETALLADAS DEL EXPOSITOR:
Esta sesión es prerrequisito técnico directo de las Sesiones 3, 4, 6 y 7 (ver Fase 2, ruta de estudio general): no se puede interpretar tráfico interceptado con Burp/ZAP ni resolución de subdominios sin dominar antes DNS y el protocolo HTTP/TLS. Hoy comparte jornada con la Sesión 1: la mañana cubre fundamentos, ética, alcance y el checklist LAB-READY completo de revisión del ambiente (ahora ampliado a 2 horas, 10:00 a. m.–12:00 m.); después del almuerzo se retoma exactamente donde quedó la Sesión 1 (flujo preliminar DNS→IP→TCP→TLS→HTTP) y se profundiza cada paso. Como la mañana del Día 1 ahora puede extenderse más allá de las 12:00 m., el horario exacto de inicio de esta sesión es flexible — no se fija una hora rígida de inicio. Si el grupo necesita más tiempo del previsto, el cierre de esta sesión puede correrse a la mañana del Día 2 sin problema — no es obligatorio terminar dentro del mismo día calendario.
EJEMPLO O ANALOGÍA:
Ninguno; es la portada de apertura.
PREGUNTA DE PARTICIPACIÓN:
En una frase: ¿qué fue lo que menos les quedó claro del flujo web que vimos esta mañana?
TRANSICIÓN A LA SIGUIENTE DIAPOSITIVA:
Pasar a la agenda de la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mapa mental de la tarde antes de entrar en materia.
NOTAS DETALLADAS DEL EXPOSITOR:
Misma estructura pedagógica de bloques que la Sesión 1 (Fase 1 del proyecto), adaptada a la tarde. Hoy el bloque conceptual se divide en dos grandes ejes: DNS antes de la pausa, y HTTP/TLS después — son temas extensos que merecen cada uno su propio tramo. Después de la demostración en vivo hay un bloque nuevo de práctica individual (cada quien repite los comandos en su propia VM) antes del ejercicio grupal de aplicación.
EJEMPLO O ANALOGÍA:
No aplica.
PREGUNTA DE PARTICIPACIÓN:
¿Alguna pregunta logística antes de comenzar la tarde?
TRANSICIÓN A LA SIGUIENTE DIAPOSITIVA:
Iniciar con la recuperación de dudas de la Sesión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dudas pendientes de la Sesión 1 antes de construir sobre esa base.
NOTAS DETALLADAS DEL EXPOSITOR:
Usar el registro del control de salida de la Sesión 1 (diapositiva 40 de esa sesión) como insumo real, no genérico. Si ninguna duda fue registrada formalmente, preguntar abiertamente. No extenderse más de 15 minutos en este bloque: el contenido nuevo de hoy es denso.
EJEMPLO O ANALOGÍA:
No aplica.
PREGUNTA DE PARTICIPACIÓN:
¿Qué fue lo que registraron como "duda pendiente" esta mañana?
TRANSICIÓN A LA SIGUIENTE DIAPOSITIVA:
Entrar de lleno al bloque conceptual de DNS.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la jerarquía DNS completa, base de todo el eje de OSINT y subdominios del curso (Sesiones 3 y 4).
NOTAS DETALLADAS DEL EXPOSITOR:
Concepto obligatorio de la Fase 2, Sesión 2: jerarquía DNS (root, TLD, dominio, subdominio). Explicar que la raíz es técnicamente un punto final invisible en cualquier nombre de dominio (ej. "laboratorio-bacci.test."), administrada por los servidores raíz globales. Este concepto es el prerrequisito directo de la Sesión 4 (subdominios).
EJEMPLO O ANALOGÍA:
Es como una dirección postal en reversa: país (TLD) → ciudad (dominio) → calle (subdominio), pero leído de derecha a izquierda en el nombre.
DIAGRAMA RECOMENDADO:
Cadena de 4 cajas: Raíz → TLD → Dominio → Subdominio, como se muestra en la diapositiva.
PREGUNTA DE PARTICIPACIÓN:
En www.laboratorio-bacci.test, ¿cuál es el TLD, cuál el dominio y cuál el subdominio?
TRANSICIÓN A LA SIGUIENTE DIAPOSITIVA:
Ver ahora los tipos de registro DNS más relevantes para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los 7 tipos de registro DNS obligatorios del curso, base para el Laboratorio 1 y el eje de subdominios.
NOTAS DETALLADAS DEL EXPOSITOR:
Pregunta difícil del banco de la Fase 2 (P5 de Sesión 2): un registro SOA contiene metadatos administrativos de la zona (servidor primario, contacto, seriales, tiempos de refresco) — útil para fechar información y entender quién administra la zona, algo relevante en OSINT (Sesión 3). Aclarar que CNAME no es un alias "transparente": genera una resolución adicional (error común documentado en Fase 2).
EJEMPLO O ANALOGÍA:
MX es como decidir a qué oficina de correos se entrega la correspondencia, aunque la dirección visible sea otra.
PREGUNTA DE PARTICIPACIÓN:
¿Por qué un CNAME implica una resolución adicional en vez de ser instantáneo?
TRANSICIÓN A LA SIGUIENTE DIAPOSITIVA:
Ver cómo ocurre exactamente el proceso de resolución de estos registros.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la diferencia entre resolución recursiva e iterativa, y el rol de la caché.
NOTAS DETALLADAS DEL EXPOSITOR:
Concepto obligatorio de la Fase 2, Sesión 2: proceso de resolución de nombres (recursivo vs. iterativo, caché, TTL). El resolver recursivo (normalmente el del ISP o uno público como 1.1.1.1) hace todo el trabajo de preguntar en cascada (root → TLD → autoritativo) en nombre del cliente; esto es lo que se observará con dig +trace en la demostración.
EJEMPLO O ANALOGÍA:
Es como preguntar una dirección: primero le preguntas a alguien que ya la sabe (caché); si nadie la sabe, vas escalando: al policía de la esquina (raíz), que te manda a la comisaría del barrio (TLD), que finalmente te da la dirección exacta (autoritativo).
DIAGRAMA RECOMENDADO:
Cadena de 5 pasos: Cliente → Resolver/caché → Servidor raíz → Servidor TLD → Servidor autoritativo, como se muestra en la diapositiva.
PREGUNTA DE PARTICIPACIÓN:
¿Por qué el proceso completo (root→TLD→autoritativo) no ocurre cada vez que visitan un sitio que ya visitaron antes?
TRANSICIÓN A LA SIGUIENTE DIAPOSITIVA:
Esa pregunta nos lleva directo al concepto de caché y TTL.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por qué el TTL es relevante tanto operativamente como para el análisis OSINT.
NOTAS DETALLADAS DEL EXPOSITOR:
Pregunta difícil del banco de la Fase 2 (P1 de Sesión 2): el TTL afecta la velocidad de propagación de un cambio porque los resolvers intermedios reutilizan la respuesta hasta que expira, sin volver a consultar al servidor autoritativo. Esto es relevante para la Sesión 3 (OSINT): un hallazgo DNS puede reflejar una configuración ya desactualizada.
EJEMPLO O ANALOGÍA:
El TTL es como la fecha de vencimiento de un dato en una libreta de contactos: mientras no venza, seguimos usando el número antiguo aunque ya haya cambiado.
PREGUNTA DE PARTICIPACIÓN:
Si cambian el registro A de un dominio con TTL de 24 horas, ¿qué implicaciones tiene eso para alguien que investiga ese dominio hoy mismo?
TRANSICIÓN A LA SIGUIENTE DIAPOSITIVA:
Comprobar este concepto con una pregunta rápida antes de ver los comandos.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entendió la relación entre TTL y velocidad real de propagación de un cambio DNS antes de ver los comandos.
NOTAS DETALLADAS DEL EXPOSITOR:
Pregunta de elaboración propia sobre el concepto de la diapositiva 7 (P1 del banco de la Fase 2, Sesión 2). Es un punto que suele confundirse: la gente asume que un cambio DNS es instantáneo. Conectar con la relevancia para OSINT: un hallazgo DNS puede reflejar una configuración ya desactualizada mientras las cachés no expiran.
PREGUNTA DE PARTICIPACIÓN:
(La pregunta de participación de este bloque es el quiz mismo.)
RESPUESTA CORRECTA Y POR QUÉ:
B — el resolver seguirá devolviendo el valor cacheado hasta que expire el TTL restante (~50 minutos en este caso), sin volver a consultar al servidor autoritativo antes de eso.
TRANSICIÓN A LA SIGUIENTE DIAPOSITIVA:
Con TTL y caché claros, previsualizar los comandos DNS que se practicarán después de la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Anticipar las herramientas de línea de comandos que se usarán en la demostración práctica.
NOTAS DETALLADAS DEL EXPOSITOR:
Error común documentado en Fase 2 (Sesión 2): usar nslookup esperando el mismo formato de salida detallado que dig. Aclarar que las tres herramientas (dig, nslookup, host) hacen esencialmente lo mismo pero con salidas distintas, y que dig es la más completa y la que se usará como estándar en los laboratorios del curso.
EJEMPLO O ANALOGÍA:
dig +trace es como pedirle a alguien que te muestre, paso a paso, cada persona a la que le preguntó antes de darte la respuesta final.
COMANDO / DEMOSTRACIÓN:
dig dominio +short   |   dig dominio +trace   |   nslookup dominio   |   host dominio
PREGUNTA DE PARTICIPACIÓN:
¿Cuál de estos cuatro comandos usarían si quisieran ver el proceso de resolución completo, no solo el resultado final?
TRANSICIÓN A LA SIGUIENTE DIAPOSITIVA:
Pausa antes de entrar al bloque de HTTP y 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descanso programado entre el bloque de DNS y el bloque de HTTP/TLS.
NOTAS DETALLADAS DEL EXPOSITOR:
Aprovechar para verificar que todas las VM tienen salida a Internet, ya que la demostración de HTTP/TLS requiere conectividad real.
PREGUNTA DE PARTICIPACIÓN:
No aplica durante la pausa.
TRANSICIÓN A LA SIGUIENTE DIAPOSITIVA:
Retomar con la estructura de una solicitud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la anatomía completa de una solicitud y respuesta HTTP, base de todo lo que se observará con Burp/ZAP en las Sesiones 6 y 7.
NOTAS DETALLADAS DEL EXPOSITOR:
Concepto obligatorio de la Fase 2, Sesión 2: estructura de una petición/respuesta HTTP (línea de solicitud, cabeceras, cuerpo). Este esquema es exactamente lo que se verá en HTTP History de Burp y en Sites/History de ZAP más adelante — vale la pena mencionarlo para dar continuidad.
EJEMPLO O ANALOGÍA:
Es como una carta formal: encabezado con destinatario y asunto (línea de solicitud), datos adicionales en el membrete (cabeceras), y el cuerpo del mensaje (body).
PREGUNTA DE PARTICIPACIÓN:
¿Qué información esperarían encontrar en el cuerpo de una respuesta a una solicitud GET a una página web?
TRANSICIÓN A LA SIGUIENTE DIAPOSITIVA:
Ver ahora los métodos HTTP más comunes.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Cubrir los métodos HTTP obligatorios del curso, con foco en su propósito, no en sintaxis exhaustiva.
NOTAS DETALLADAS DEL EXPOSITOR:
Concepto obligatorio de la Fase 2, Sesión 2. En el Laboratorio 5 (Burp) los participantes identificarán estos métodos en tráfico real de Juice Shop. No es necesario memorizar todos los métodos HTTP existentes (PATCH, TRACE, CONNECT), solo estos seis que cubren la gran mayoría del tráfico que se analizará en el curso.
EJEMPLO O ANALOGÍA:
GET es "muéstrame el menú"; POST es "aquí está mi pedido"; DELETE es "cancela mi pedido".
PREGUNTA DE PARTICIPACIÓN:
¿Qué método usarían para enviar un formulario de inicio de sesión?
TRANSICIÓN A LA SIGUIENTE DIAPOSITIVA:
Ver ahora los códigos de estado que indican el resultado de cada solicitud.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criterio para interpretar rápidamente cualquier código de estado durante el análisis de tráfico.
NOTAS DETALLADAS DEL EXPOSITOR:
Pregunta difícil del banco de la Fase 2 (P6 de Sesión 2): 4xx indica error atribuible a la solicitud del cliente; 5xx indica error del lado servidor al procesar una solicitud aparentemente válida. Error común documentado en Fase 2: confundir 301 con 302 al explicar redirecciones (301 = permanente, 302 = temporal) — vale la pena aclararlo explícitamente aquí.
EJEMPLO O ANALOGÍA:
2xx es "tu pedido llegó bien"; 4xx es "pediste algo mal"; 5xx es "la cocina se incendió", no tu culpa como cliente.
PREGUNTA DE PARTICIPACIÓN:
¿Qué diferencia hay, en la práctica, entre un 301 y un 302 al seguir un enlace?
TRANSICIÓN A LA SIGUIENTE DIAPOSITIVA:
Ver ahora las cabeceras HTTP más relevantes para el análisis de tráfico.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las cabeceras que los participantes deberán reconocer sin dudar en el HTTP History de Burp/ZAP.
NOTAS DETALLADAS DEL EXPOSITOR:
Concepto obligatorio de la Fase 2, Sesión 2. Host es especialmente importante: un mismo servidor puede alojar varios sitios (virtual hosting), y esta cabecera es la que determina cuál. Authorization se retoma conceptualmente en Sesión 6 al ver Burp, pero no se profundiza en tipos de token en este curso (fuera de alcance).
EJEMPLO O ANALOGÍA:
Host es como decir el número de apartamento en un edificio: la dirección (IP) puede ser la misma para varios "inquilinos" (sitios).
PREGUNTA DE PARTICIPACIÓN:
¿Por qué un servidor podría necesitar la cabecera Host si ya sabe a qué IP llegó la conexión?
TRANSICIÓN A LA SIGUIENTE DIAPOSITIVA:
De las cabeceras generales, profundizar específicamente en cookies y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el mecanismo de cookies y sus atributos de seguridad, sin entrar en ataques específicos (fuera de alcance del curso).
NOTAS DETALLADAS DEL EXPOSITOR:
Pregunta difícil del banco de la Fase 2 (P3 y P9 de Sesión 2): la cookie de sesión no autentica por sí sola, representa una sesión ya autenticada para que el servidor recuerde al usuario en solicitudes subsecuentes. El atributo Domain (no listado aquí por brevedad, pero mencionable si preguntan) determina si la cookie se comparte entre subdominios.
EJEMPLO O ANALOGÍA:
La cookie de sesión es como un brazalete de un evento: no dice quién eres, pero mientras lo tengas puesto, te dejan entrar sin volver a mostrar identificación.
PREGUNTA DE PARTICIPACIÓN:
¿Por qué una cookie marcada como HttpOnly reduce el riesgo si un sitio tiene código malicioso inyectado?
TRANSICIÓN A LA SIGUIENTE DIAPOSITIVA:
Con HTTP cubierto, pasar al cifrado: qué resuelve 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Establecer con precisión qué tres propiedades de seguridad aporta TLS, base conceptual de las Sesiones 6 y 7 y del laboratorio de certificados.
NOTAS DETALLADAS DEL EXPOSITOR:
Concepto obligatorio de la Fase 2, Sesión 2. Pregunta difícil del banco (P7): TLS cifra el canal de extremo a extremo entre cliente y servidor y valida la identidad del servidor mediante el certificado; un tercero en la misma red solo ve tráfico cifrado y no puede hacerse pasar por el servidor legítimo sin su clave privada. Esto conecta directamente con el concepto de MITM autorizado que se verá en la Sesión 6.
EJEMPLO O ANALOGÍA:
HTTP es hablar en voz alta en un lugar público; HTTPS es hablar en un idioma cifrado que solo el destinatario correcto entiende, además de haber verificado su identidad primero.
PREGUNTA DE PARTICIPACIÓN:
¿Cuál de las tres propiedades (confidencialidad, integridad, autenticación) creen que es la que más le preocupa a un usuario haciendo banca en línea desde un Wi-Fi público?
TRANSICIÓN A LA SIGUIENTE DIAPOSITIVA:
Ver ahora, de forma preliminar, qué es un certificado digital (se profundiza en el laboratorio de certificados, Fase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panorama mínimo de certificados necesario para entender por qué el navegador confía o no en un sitio, sin adelantar el laboratorio de certificados completo.
NOTAS DETALLADAS DEL EXPOSITOR:
Pregunta difícil del banco de la Fase 2 (P2 de Sesión 2): un certificado autofirmado no significa que el sitio no sea seguro en cuanto a cifrado; significa que no hay una cadena de confianza validada por una CA reconocida por el navegador. El canal puede seguir cifrado (confidencialidad), pero se pierde la garantía de autenticidad del servidor. El detalle operativo (generar una CA propia con OpenSSL) se practica en el laboratorio de certificados de la Fase 4, no aquí.
EJEMPLO O ANALOGÍA:
Un certificado firmado por una CA reconocida es como un documento de identidad emitido por el gobierno; uno autofirmado es como una tarjeta que la persona se hizo ella misma — puede ser igual de válida, pero nadie más la reconoce automáticamente.
PREGUNTA DE PARTICIPACIÓN:
(Se lleva a la diapositiva siguiente como pregunta de discusión en pantalla.)
TRANSICIÓN A LA SIGUIENTE DIAPOSITIVA:
Proyectar la pregunta de discusión antes de cerrar el bloque conceptual.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Llevar a pantalla, para discusión visible de todo el grupo, la pregunta de participación que antes solo vivía en las notas del expositor — y anticipar el concepto de MITM autorizado de la Sesión 6.
NOTAS DETALLADAS DEL EXPOSITOR:
Pregunta difícil del banco de la Fase 2 (P8 de Sesión 2, tomada de las notas originales de la diapositiva de certificados). Dar 2 minutos de comentario en parejas antes de pedir 1-2 respuestas al grupo completo. No se espera que el grupo domine la respuesta completa hoy — es una siembra conceptual para la Sesión 6.
EJEMPLO O ANALOGÍA:
Es como un traductor autorizado que abre y vuelve a sellar cada sobre que pasa por sus manos: para que el destinatario acepte el sobre resellado sin sospechar, primero debe confiar explícitamente en el sello de ese traductor.
PREGUNTA DE PARTICIPACIÓN:
(Es la pregunta central de esta diapositiva.)
RESPUESTA CORRECTA Y POR QUÉ:
Porque el proxy se ubica entre el navegador y el servidor real (persona-en-el-medio autorizado): genera un certificado propio para cada sitio visitado, firmado por su propia CA. Si el navegador no confía en esa CA, mostrará advertencias de seguridad en cada sitio. Al instalar la CA del proxy como confiable, el navegador acepta esos certificados generados al vuelo y el analista puede ver el tráfico en texto plano dentro de la herramienta, aunque siga viajando cifrado por la red.
TRANSICIÓN A LA SIGUIENTE DIAPOSITIVA:
Con la respuesta de referencia dada, cerrar el bloque conceptual uniendo DNS, HTTP y TLS en un solo flujo.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bloque conceptual uniendo DNS, TCP, TLS y HTTP en un solo flujo completo y detallado — la versión final de la vista preliminar de la Sesión 1.
NOTAS DETALLADAS DEL EXPOSITOR:
Pregunta difícil del banco de la Fase 2 (P10 de Sesión 2): el TCP handshake (SYN, SYN-ACK, ACK) establece la conexión de transporte confiable; el TLS handshake ocurre después, sobre esa conexión ya establecida, para negociar el cifrado y autenticar al servidor antes de que viaje cualquier dato HTTP. Esta diapositiva es la versión completa y detallada de la diapositiva 17 de la Sesión 1 — señalar explícitamente esa continuidad al grupo.
EJEMPLO O ANALOGÍA:
Es el recorrido completo de una carta: buscar la dirección (DNS), llevarla a esa dirección (IP), tocar la puerta y confirmar que abren (TCP), hablar en privado si es necesario y verificar la identidad de quien abre (TLS), y entregar y recibir el mensaje (HTTP Request/Response).
DIAGRAMA RECOMENDADO:
Cadena de 6 cajas: DNS → IP → TCP → TLS → HTTP Request → HTTP Response, igual que en la Sesión 1 pero ahora con el detalle de cada paso ya cubierto.
PREGUNTA DE PARTICIPACIÓN:
De este flujo completo, ¿cuál paso creen que van a poder observar directamente con Burp/ZAP en las Sesiones 6 y 7, y cuál no?
TRANSICIÓN A LA SIGUIENTE DIAPOSITIVA:
Pasar a la demostración guiada en vivo con los comandos de DNS, HTTP y TLS.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el objetivo y la arquitectura real del Laboratorio 1 antes de ejecutarlo, para que el grupo entienda qué está observando y por qué.
NOTAS DETALLADAS DEL EXPOSITOR:
Este laboratorio (L1 de la Fase 4) usa dos servicios de práctica controlados, no sitios externos reales: Juice Shop (aplicación vulnerable de código abierto usada como caso de estudio en varias sesiones del curso) en HTTP puro, y un sitio con TLS servido con un certificado emitido por la CA de laboratorio que cada participante generó en la Sesión 1 (sección 1.4 de la Fase 4). El dominio www.laboratorio-bacci.test no existe en DNS público: se resuelve localmente mediante el servidor BIND que cada participante configuró en la Sesión 1, lo cual es intencional y coherente con el alcance autorizado del curso.
EJEMPLO O ANALOGÍA:
Es el mismo principio que un simulador de vuelo: el entorno es controlado y reproducible, pero el comportamiento de los sistemas (DNS, TCP, TLS, HTTP) es exactamente el mismo que en un sitio real.
COMANDO / DEMOSTRACIÓN:
dig www.laboratorio-bacci.test +short   (verificar que BIND resuelve a 127.0.0.1)
PREGUNTA DE PARTICIPACIÓN:
¿Por qué creen que el curso usa un dominio de laboratorio propio en vez de practicar directamente sobre un sitio de internet?
TRANSICIÓN A LA SIGUIENTE DIAPOSITIVA:
Paso 0: levantar los dos servicios de práctica antes de iniciar la demostración guiada.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Dejar explícito que, al no existir una VM maestra preconfigurada, cada participante debe levantar sus propios servicios de práctica (Juice Shop y el sitio HTTPS) en su propia VM antes de poder ejecutar el Laboratorio 1 — son procesos en primer plano que no sobreviven un reinicio ni quedan corriendo entre sesiones.
NOTAS DETALLADAS DEL EXPOSITOR:
server.crt, server.key y lab-ca.crt son los mismos archivos generados en la Sesión 1 (alistamiento, pasos 24-25 del deck de Sesión 1) — si un participante no los tiene (perdió el snapshot o usa una VM distinta), debe repetir esa secuencia de openssl antes de continuar aquí. Usar -www (minúscula): -WWW (mayúscula) hace que openssl trate la ruta pedida por el navegador como un archivo a servir del directorio actual, y al pedir la URL sin ruta ("/") intenta abrir un archivo vacío y falla con "Error opening ''" — error real reportado por un participante en la Sesión 1. Las terminales 1 y 2 deben quedar abiertas simultáneamente durante todo el laboratorio: cerrar cualquiera de las dos corta el servicio correspondiente. Si BIND no resuelve (primer comando de la terminal 3), revisar el checklist LAB-READY parte 3 (Sesión 1) antes de continuar.
EJEMPLO O ANALOGÍA:
Es como encender el proyector y la pantalla antes de una presentación: los pasos de análisis que vienen a continuación no funcionan si estos dos servicios de fondo no están corriendo.
COMANDO / DEMOSTRACIÓN:
juice-shop   |   openssl s_server -accept 8443 -cert server.crt -key server.key -www   |   dig www.laboratorio-bacci.test +short &amp;&amp; curl -s -o /dev/null --cacert lab-ca.crt -w "%{http_code}\n" https://www.laboratorio-bacci.test:8443
PREGUNTA DE PARTICIPACIÓN:
¿Por qué crees que estos servicios no quedan corriendo automáticamente al encender la VM?
TRANSICIÓN A LA SIGUIENTE DIAPOSITIVA:
Con los dos servicios arriba y el DNS confirmado, iniciar la demostración guiada: los primeros 5 pasos del procedimiento del Laboratorio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sobre el entorno real del Laboratorio 1, los pasos 1 a 5 del procedimiento detallado (Fase 4).
NOTAS DETALLADAS DEL EXPOSITOR:
Errores comunes a anticipar: BIND que dejó de resolver porque /etc/resolv.conf fue sobrescrito (verificar con dig +short, corregir con el Paso 0 de la diapositiva anterior); olvidar levantar Juice Shop o el sitio HTTPS antes de empezar (Paso 0); omitir -servername en openssl s_client y obtener un certificado inesperado; confundir el servicio HTTP (3000) con el HTTPS (8443) tratándolos como si fueran el mismo. Explicar campo por campo la salida de curl -v: línea de conexión TCP, cabeceras de solicitud (con &gt;), cabeceras de respuesta (con &lt;), código de estado. En el paso 5, señalar explícitamente que --cacert lab-ca.crt es lo que le dice a curl que confíe en la CA de laboratorio (paralelo directo con instalar la CA de Burp/ZAP en el navegador, visto en la diapositiva 18).
EJEMPLO O ANALOGÍA:
openssl s_client es como pedirle al servidor que muestre su "documento de identidad" (certificado) antes de empezar a hablar en privado.
COMANDO / DEMOSTRACIÓN:
dig www.laboratorio-bacci.test +short &amp;&amp; dig www.laboratorio-bacci.test +trace &amp;&amp; curl -v http://www.laboratorio-bacci.test:3000 &amp;&amp; openssl s_client -connect www.laboratorio-bacci.test:8443 -servername www.laboratorio-bacci.test &amp;&amp; curl -v --cacert lab-ca.crt https://www.laboratorio-bacci.test:8443
PREGUNTA DE PARTICIPACIÓN:
En la salida de openssl s_client, ¿qué campo indica quién firmó (emitió) el certificado del servidor?
TRANSICIÓN A LA SIGUIENTE DIAPOSITIVA:
Paso 6 del laboratorio: complementar la vista de terminal con la vista gráfica en Firefox DevTools.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paso 6 del procedimiento del Laboratorio 1: mostrar la contraparte visual de curl -v, preparando al grupo para la interfaz de Burp/ZAP de las próximas sesiones.
NOTAS DETALLADAS DEL EXPOSITOR:
Señalar explícitamente el paralelismo con HTTP History de Burp (Sesión 6) y Sites/History de ZAP (Sesión 7): es la misma lógica de inspección, distinta interfaz. En el sitio HTTPS (8443), Firefox mostrará una advertencia de certificado no confiable a menos que se haya importado la CA de laboratorio en el navegador — es un buen momento para mencionar que esto es exactamente lo que Burp/ZAP resuelven instalando su propia CA (diapositiva 18).
EJEMPLO O ANALOGÍA:
DevTools Network es como abrir el capó de un auto mientras curl -v es leer el manual técnico: dos formas de ver la misma información.
PREGUNTA DE PARTICIPACIÓN:
¿Qué ventaja le ven a la vista gráfica de DevTools frente a curl -v, y viceversa?
TRANSICIÓN A LA SIGUIENTE DIAPOSITIVA:
Comprobar lo visto en la demostración con una pregunta rápida antes de la práctica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distingue los atributos de cookies (Secure, HttpOnly) vistos en la diapositiva 15, ahora en un contexto de inspección real con DevTools.
NOTAS DETALLADAS DEL EXPOSITOR:
Pregunta de elaboración propia que conecta dos conceptos ya vistos (cookies y DevTools). Error común a anticipar: confundir Secure con HttpOnly — Secure restringe el canal de transporte (HTTPS), HttpOnly restringe el acceso desde JavaScript.
PREGUNTA DE PARTICIPACIÓN:
(La pregunta de participación de este bloque es el quiz mismo.)
RESPUESTA CORRECTA Y POR QUÉ:
B — Secure indica que el navegador solo enviará esa cookie por conexiones cifradas (HTTPS), nunca por HTTP sin cifrar. Esto protege la cookie de ser interceptada en texto plano en una red no confiable.
TRANSICIÓN A LA SIGUIENTE DIAPOSITIVA:
Con la demostración y su comprobación concluidas, cada quien repite el procedimiento completo del Laboratorio 1 en su propia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Consolidar la demostración en vivo con repetición individual completa del Laboratorio 1 antes del ejercicio grupal, siguiendo el mismo principio de la Sesión 1 (verificación/práctica individual antes de aplicar en grupo).
NOTAS DETALLADAS DEL EXPOSITOR:
El instructor circula resolviendo problemas puntuales (conectividad, sintaxis) sin ejecutar el comando por el participante. La evidencia esperada de este bloque es exactamente la definida en la Fase 4 para el Laboratorio 1: diagrama completado + bitácora con las 5 capturas comentadas. Se evalúa dentro del componente "Bitácoras y actividades guiadas" (25 % de la ponderación total, Tabla 15 del documento fuente).
EJEMPLO O ANALOGÍA:
Es la misma lógica de "yo lo hago, tú lo haces" usada en formación técnica: primero se observa la demostración, luego se repite individualmente antes de aplicar el concepto en grupo.
COMANDO / DEMOSTRACIÓN:
dig www.laboratorio-bacci.test +short &amp;&amp; dig www.laboratorio-bacci.test +trace &amp;&amp; curl -v http://www.laboratorio-bacci.test:3000 &amp;&amp; openssl s_client -connect www.laboratorio-bacci.test:8443 -servername www.laboratorio-bacci.test &amp;&amp; curl -v --cacert lab-ca.crt https://www.laboratorio-bacci.test:8443
PREGUNTA DE PARTICIPACIÓN:
(No hay pregunta de participación grupal en este bloque individual; las dudas se recogen para la socialización.)
TRANSICIÓN A LA SIGUIENTE DIAPOSITIVA:
Antes de la pausa, revisar los problemas frecuentes del laboratorio y qué evidencia se entrega.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en pantalla los problemas frecuentes y su solución (Fase 4, Laboratorio 1, adaptados al modelo BIND + servicios propios de la Sesión 1) para que el grupo se autodiagnostique antes de pedir ayuda, y dejar explícitas las preguntas de evaluación del laboratorio.
NOTAS DETALLADAS DEL EXPOSITOR:
Estos tres problemas y sus soluciones están documentados formalmente en la Fase 4 (secciones 13-14 del Laboratorio 1), adaptados aquí al modelo real de la VM (BIND propio + servicios levantados por cada participante, sin VM maestra). Las tres preguntas de evaluación (sección 15) pueden usarse como guía de discusión en la socialización o como parte de la revisión de bitácoras. Recordar al grupo que la evidencia esperada (diagrama + bitácora con 5 capturas comentadas) es lo que se revisa dentro del 25 % de "Bitácoras y actividades guiadas" de la ponderación total del curso.
EJEMPLO O ANALOGÍA:
Es una tabla de troubleshooting típica de cualquier guía de laboratorio técnico: antes de escalar un problema, se revisan las causas más comunes.
PREGUNTA DE PARTICIPACIÓN:
¿Alguien tuvo un problema distinto a estos tres? ¿Cómo lo resolvió?
TRANSICIÓN A LA SIGUIENTE DIAPOSITIVA:
Pausa antes del bloque de aplicación grupal.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Pausa programada antes del bloque de aplicación/evaluación de la sesión.
NOTAS DETALLADAS DEL EXPOSITOR:
Aprovechar para preparar el material de la actividad guiada (capturas de solicitudes/respuestas de ejemplo) si no está ya distribuido.
PREGUNTA DE PARTICIPACIÓN:
No aplica durante la pausa.
TRANSICIÓN A LA SIGUIENTE DIAPOSITIVA:
Retomar con las instrucciones del ejercicio de aplicación.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la actividad guiada prevista explícitamente en el documento fuente (Tabla 7, bloque "Aplicación / evaluación" de la Sesión 2): lectura estructurada de solicitudes y respuestas controladas.
NOTAS DETALLADAS DEL EXPOSITOR:
Pasos con minutaje en pantalla, igual que en el ejercicio de mapa de activos de la Sesión 1, para que las parejas se autorregulen. Las capturas deben ser preparadas de antemano por el instructor sobre el caso de práctica del curso (Juice Shop o el sitio de certificados de laboratorio), nunca de un sitio externo real. Circular resolviendo dudas puntuales sin dar la respuesta completa de inmediato. El tiempo se amplió de 30 a 35 minutos frente a la versión original para dar margen real considerando la carga conceptual de la sesión.
EJEMPLO O ANALOGÍA:
Un ejemplo de captura simple: una solicitud GET a /api/productos que responde 200 con Content-Type: application/json.
PREGUNTA DE PARTICIPACIÓN:
(La pregunta de participación de este bloque es la actividad misma; se retoma en la socialización.)
TRANSICIÓN A LA SIGUIENTE DIAPOSITIVA:
Iniciar el tiempo de trabajo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el tiempo de trabajo autónomo en parejas.
NOTAS DETALLADAS DEL EXPOSITOR:
Durante este tiempo, hacer preguntas guía en vez de dar respuestas directas: "¿qué te dice el código de estado sobre lo que pasó?", "¿esa cabecera confirma HTTP o HTTPS?". Avisar cuando falten 5 minutos.
PREGUNTA DE PARTICIPACIÓN:
No aplica; es tiempo de trabajo autónomo.
TRANSICIÓN A LA SIGUIENTE DIAPOSITIVA:
Al cumplirse el tiempo, pasar a la socialización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bloque de aplicación con una puesta en común, reforzando el aprendizaje de forma colectiva.
NOTAS DETALLADAS DEL EXPOSITOR:
Igual que en la Sesión 1, no es necesario que todas las parejas presenten. El cierre del instructor debe conectar explícitamente esta actividad con el flujo completo de la diapositiva 19, mostrando que cada captura analizada es una instancia real de ese flujo.
EJEMPLO O ANALOGÍA:
No aplica.
PREGUNTA DE PARTICIPACIÓN:
¿Alguna pareja identificó algo que las demás no notaron en sus capturas?
TRANSICIÓN A LA SIGUIENTE DIAPOSITIVA:
Pasar al cierre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cierre previsto en el documento fuente (Tabla 7): encuesta de comprensión y bitácora de conceptos, dar orientación hacia la Sesión 3, y cerrar formalmente el Día 1.
NOTAS DETALLADAS DEL EXPOSITOR:
A diferencia de la Sesión 1 (control de salida oral/formulario simple), el documento fuente pide aquí específicamente una "encuesta de comprensión" y una "bitácora de conceptos" — puede combinarse con el mismo mecanismo de control de salida usado en la Sesión 1, adaptando las preguntas a los conceptos de DNS/HTTP/TLS. Recordar que en la Sesión 3 se usa por defecto example.com como dominio autorizado de práctica OSINT (ver nota de la Fase 4 del proyecto), salvo que la entidad autorice otro. Si el grupo no alcanzó a completar el bloque de aplicación dentro del horario del Día 1, no hay problema en cerrarlo brevemente al inicio de la Sesión 3 — no es obligatorio que la Sesión 2 termine dentro del mismo día calendario.
EJEMPLO O ANALOGÍA:
No aplica.
PREGUNTA DE PARTICIPACIÓN:
¿Qué concepto de hoy (DNS, HTTP o TLS) sienten que necesita más repaso antes de la Sesión 3?
TRANSICIÓN A LA SIGUIENTE DIAPOSITIVA:
Fin de la Sesión 2 y del Día 1. (Última diapositiva del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99832" y="0"/>
            <a:ext cx="4389120" cy="6858000"/>
          </a:xfrm>
          <a:prstGeom prst="rect">
            <a:avLst/>
          </a:prstGeom>
          <a:solidFill>
            <a:srgbClr val="E2231A"/>
          </a:solidFill>
          <a:ln/>
        </p:spPr>
      </p:sp>
      <p:sp>
        <p:nvSpPr>
          <p:cNvPr id="3" name="Shape 1"/>
          <p:cNvSpPr/>
          <p:nvPr/>
        </p:nvSpPr>
        <p:spPr>
          <a:xfrm>
            <a:off x="8686800" y="457200"/>
            <a:ext cx="1234440" cy="1234440"/>
          </a:xfrm>
          <a:prstGeom prst="ellipse">
            <a:avLst/>
          </a:prstGeom>
          <a:solidFill>
            <a:srgbClr val="FFFFFF">
              <a:alpha val="18000"/>
            </a:srgbClr>
          </a:solidFill>
          <a:ln/>
        </p:spPr>
      </p:sp>
      <p:sp>
        <p:nvSpPr>
          <p:cNvPr id="4" name="Shape 2"/>
          <p:cNvSpPr/>
          <p:nvPr/>
        </p:nvSpPr>
        <p:spPr>
          <a:xfrm>
            <a:off x="10607040" y="5120640"/>
            <a:ext cx="1828800" cy="1828800"/>
          </a:xfrm>
          <a:prstGeom prst="ellipse">
            <a:avLst/>
          </a:prstGeom>
          <a:solidFill>
            <a:srgbClr val="A81810">
              <a:alpha val="75000"/>
            </a:srgbClr>
          </a:solidFill>
          <a:ln/>
        </p:spPr>
      </p:sp>
      <p:sp>
        <p:nvSpPr>
          <p:cNvPr id="5" name="Shape 3"/>
          <p:cNvSpPr/>
          <p:nvPr/>
        </p:nvSpPr>
        <p:spPr>
          <a:xfrm>
            <a:off x="137160" y="6172200"/>
            <a:ext cx="365760" cy="365760"/>
          </a:xfrm>
          <a:prstGeom prst="ellipse">
            <a:avLst/>
          </a:prstGeom>
          <a:solidFill>
            <a:srgbClr val="E2231A"/>
          </a:solidFill>
          <a:ln/>
        </p:spPr>
      </p:sp>
      <p:sp>
        <p:nvSpPr>
          <p:cNvPr id="6" name="Shape 4"/>
          <p:cNvSpPr/>
          <p:nvPr/>
        </p:nvSpPr>
        <p:spPr>
          <a:xfrm>
            <a:off x="649224" y="566928"/>
            <a:ext cx="256032" cy="0"/>
          </a:xfrm>
          <a:prstGeom prst="line">
            <a:avLst/>
          </a:prstGeom>
          <a:noFill/>
          <a:ln w="20320">
            <a:solidFill>
              <a:srgbClr val="E2231A"/>
            </a:solidFill>
            <a:prstDash val="solid"/>
          </a:ln>
        </p:spPr>
      </p:sp>
      <p:sp>
        <p:nvSpPr>
          <p:cNvPr id="7" name="Shape 5"/>
          <p:cNvSpPr/>
          <p:nvPr/>
        </p:nvSpPr>
        <p:spPr>
          <a:xfrm rot="2700000">
            <a:off x="649224" y="566928"/>
            <a:ext cx="256032" cy="0"/>
          </a:xfrm>
          <a:prstGeom prst="line">
            <a:avLst/>
          </a:prstGeom>
          <a:noFill/>
          <a:ln w="20320">
            <a:solidFill>
              <a:srgbClr val="E2231A"/>
            </a:solidFill>
            <a:prstDash val="solid"/>
          </a:ln>
        </p:spPr>
      </p:sp>
      <p:sp>
        <p:nvSpPr>
          <p:cNvPr id="8" name="Shape 6"/>
          <p:cNvSpPr/>
          <p:nvPr/>
        </p:nvSpPr>
        <p:spPr>
          <a:xfrm rot="5400000">
            <a:off x="649224" y="566928"/>
            <a:ext cx="256032" cy="0"/>
          </a:xfrm>
          <a:prstGeom prst="line">
            <a:avLst/>
          </a:prstGeom>
          <a:noFill/>
          <a:ln w="20320">
            <a:solidFill>
              <a:srgbClr val="E2231A"/>
            </a:solidFill>
            <a:prstDash val="solid"/>
          </a:ln>
        </p:spPr>
      </p:sp>
      <p:sp>
        <p:nvSpPr>
          <p:cNvPr id="9" name="Shape 7"/>
          <p:cNvSpPr/>
          <p:nvPr/>
        </p:nvSpPr>
        <p:spPr>
          <a:xfrm rot="8100000">
            <a:off x="649224" y="566928"/>
            <a:ext cx="256032" cy="0"/>
          </a:xfrm>
          <a:prstGeom prst="line">
            <a:avLst/>
          </a:prstGeom>
          <a:noFill/>
          <a:ln w="20320">
            <a:solidFill>
              <a:srgbClr val="E2231A"/>
            </a:solidFill>
            <a:prstDash val="solid"/>
          </a:ln>
        </p:spPr>
      </p:sp>
      <p:sp>
        <p:nvSpPr>
          <p:cNvPr id="10" name="Text 8"/>
          <p:cNvSpPr/>
          <p:nvPr/>
        </p:nvSpPr>
        <p:spPr>
          <a:xfrm>
            <a:off x="960120" y="438912"/>
            <a:ext cx="3657600" cy="274320"/>
          </a:xfrm>
          <a:prstGeom prst="rect">
            <a:avLst/>
          </a:prstGeom>
          <a:noFill/>
          <a:ln/>
        </p:spPr>
        <p:txBody>
          <a:bodyPr wrap="square" rtlCol="0" anchor="ctr"/>
          <a:lstStyle/>
          <a:p>
            <a:pPr indent="0" marL="0">
              <a:buNone/>
            </a:pPr>
            <a:r>
              <a:rPr lang="en-US" sz="1200" b="1" dirty="0">
                <a:solidFill>
                  <a:srgbClr val="1A1A1A"/>
                </a:solidFill>
                <a:latin typeface="Roboto" pitchFamily="34" charset="0"/>
                <a:ea typeface="Roboto" pitchFamily="34" charset="-122"/>
                <a:cs typeface="Roboto" pitchFamily="34" charset="-120"/>
              </a:rPr>
              <a:t>BACCI · CIBERDEFENSA</a:t>
            </a:r>
            <a:endParaRPr lang="en-US" sz="1200" dirty="0"/>
          </a:p>
        </p:txBody>
      </p:sp>
      <p:sp>
        <p:nvSpPr>
          <p:cNvPr id="11" name="Text 9"/>
          <p:cNvSpPr/>
          <p:nvPr/>
        </p:nvSpPr>
        <p:spPr>
          <a:xfrm>
            <a:off x="960120" y="694944"/>
            <a:ext cx="3657600" cy="228600"/>
          </a:xfrm>
          <a:prstGeom prst="rect">
            <a:avLst/>
          </a:prstGeom>
          <a:noFill/>
          <a:ln/>
        </p:spPr>
        <p:txBody>
          <a:bodyPr wrap="square" rtlCol="0" anchor="ctr"/>
          <a:lstStyle/>
          <a:p>
            <a:pPr indent="0" marL="0">
              <a:buNone/>
            </a:pPr>
            <a:r>
              <a:rPr lang="en-US" sz="900" dirty="0">
                <a:solidFill>
                  <a:srgbClr val="6B6B6B"/>
                </a:solidFill>
                <a:latin typeface="Roboto" pitchFamily="34" charset="0"/>
                <a:ea typeface="Roboto" pitchFamily="34" charset="-122"/>
                <a:cs typeface="Roboto" pitchFamily="34" charset="-120"/>
              </a:rPr>
              <a:t>Capacitación 2026</a:t>
            </a:r>
            <a:endParaRPr lang="en-US" sz="900" dirty="0"/>
          </a:p>
        </p:txBody>
      </p:sp>
      <p:sp>
        <p:nvSpPr>
          <p:cNvPr id="12" name="Text 10"/>
          <p:cNvSpPr/>
          <p:nvPr/>
        </p:nvSpPr>
        <p:spPr>
          <a:xfrm>
            <a:off x="822960" y="1737360"/>
            <a:ext cx="6766560" cy="365760"/>
          </a:xfrm>
          <a:prstGeom prst="rect">
            <a:avLst/>
          </a:prstGeom>
          <a:noFill/>
          <a:ln/>
        </p:spPr>
        <p:txBody>
          <a:bodyPr wrap="square" rtlCol="0" anchor="ctr"/>
          <a:lstStyle/>
          <a:p>
            <a:pPr indent="0" marL="0">
              <a:buNone/>
            </a:pPr>
            <a:r>
              <a:rPr lang="en-US" sz="1250" b="1" spc="120" kern="0" dirty="0">
                <a:solidFill>
                  <a:srgbClr val="E2231A"/>
                </a:solidFill>
                <a:latin typeface="Roboto" pitchFamily="34" charset="0"/>
                <a:ea typeface="Roboto" pitchFamily="34" charset="-122"/>
                <a:cs typeface="Roboto" pitchFamily="34" charset="-120"/>
              </a:rPr>
              <a:t>CAPACITACIÓN EN CIBERDEFENSA Y CIBERSEGURIDAD · 40 HORAS · BACCI</a:t>
            </a:r>
            <a:endParaRPr lang="en-US" sz="1250" dirty="0"/>
          </a:p>
        </p:txBody>
      </p:sp>
      <p:sp>
        <p:nvSpPr>
          <p:cNvPr id="13" name="Text 11"/>
          <p:cNvSpPr/>
          <p:nvPr/>
        </p:nvSpPr>
        <p:spPr>
          <a:xfrm>
            <a:off x="822960" y="2148840"/>
            <a:ext cx="6766560" cy="1828800"/>
          </a:xfrm>
          <a:prstGeom prst="rect">
            <a:avLst/>
          </a:prstGeom>
          <a:noFill/>
          <a:ln/>
        </p:spPr>
        <p:txBody>
          <a:bodyPr wrap="square" rtlCol="0" anchor="ctr"/>
          <a:lstStyle/>
          <a:p>
            <a:pPr indent="0" marL="0">
              <a:buNone/>
            </a:pPr>
            <a:r>
              <a:rPr lang="en-US" sz="3600" b="1" dirty="0">
                <a:solidFill>
                  <a:srgbClr val="1A1A1A"/>
                </a:solidFill>
                <a:latin typeface="Roboto" pitchFamily="34" charset="0"/>
                <a:ea typeface="Roboto" pitchFamily="34" charset="-122"/>
                <a:cs typeface="Roboto" pitchFamily="34" charset="-120"/>
              </a:rPr>
              <a:t>Sesión 2</a:t>
            </a:r>
            <a:endParaRPr lang="en-US" sz="3600" dirty="0"/>
          </a:p>
          <a:p>
            <a:pPr indent="0" marL="0">
              <a:buNone/>
            </a:pPr>
            <a:r>
              <a:rPr lang="en-US" sz="3600" b="1" dirty="0">
                <a:solidFill>
                  <a:srgbClr val="1A1A1A"/>
                </a:solidFill>
                <a:latin typeface="Roboto" pitchFamily="34" charset="0"/>
                <a:ea typeface="Roboto" pitchFamily="34" charset="-122"/>
                <a:cs typeface="Roboto" pitchFamily="34" charset="-120"/>
              </a:rPr>
              <a:t>DNS, HTTP/HTTPS y TLS</a:t>
            </a:r>
            <a:endParaRPr lang="en-US" sz="3600" dirty="0"/>
          </a:p>
        </p:txBody>
      </p:sp>
      <p:sp>
        <p:nvSpPr>
          <p:cNvPr id="14" name="Text 12"/>
          <p:cNvSpPr/>
          <p:nvPr/>
        </p:nvSpPr>
        <p:spPr>
          <a:xfrm>
            <a:off x="822960" y="3977640"/>
            <a:ext cx="6583680" cy="822960"/>
          </a:xfrm>
          <a:prstGeom prst="rect">
            <a:avLst/>
          </a:prstGeom>
          <a:noFill/>
          <a:ln/>
        </p:spPr>
        <p:txBody>
          <a:bodyPr wrap="square" rtlCol="0" anchor="ctr"/>
          <a:lstStyle/>
          <a:p>
            <a:pPr indent="0" marL="0">
              <a:buNone/>
            </a:pPr>
            <a:r>
              <a:rPr lang="en-US" sz="1500" dirty="0">
                <a:solidFill>
                  <a:srgbClr val="6B6B6B"/>
                </a:solidFill>
                <a:latin typeface="Roboto" pitchFamily="34" charset="0"/>
                <a:ea typeface="Roboto" pitchFamily="34" charset="-122"/>
                <a:cs typeface="Roboto" pitchFamily="34" charset="-120"/>
              </a:rPr>
              <a:t>Día 1 de 5, tarde · Después del almuerzo (horario flexible, según cuánto se extienda la mañana) · Comparte jornada con Sesión 1</a:t>
            </a:r>
            <a:endParaRPr lang="en-US" sz="1500" dirty="0"/>
          </a:p>
        </p:txBody>
      </p:sp>
      <p:sp>
        <p:nvSpPr>
          <p:cNvPr id="15" name="Text 13"/>
          <p:cNvSpPr/>
          <p:nvPr/>
        </p:nvSpPr>
        <p:spPr>
          <a:xfrm>
            <a:off x="822960" y="5989320"/>
            <a:ext cx="6675120" cy="548640"/>
          </a:xfrm>
          <a:prstGeom prst="rect">
            <a:avLst/>
          </a:prstGeom>
          <a:noFill/>
          <a:ln/>
        </p:spPr>
        <p:txBody>
          <a:bodyPr wrap="square" rtlCol="0" anchor="ctr"/>
          <a:lstStyle/>
          <a:p>
            <a:pPr indent="0" marL="0">
              <a:buNone/>
            </a:pPr>
            <a:r>
              <a:rPr lang="en-US" sz="1050" i="1" dirty="0">
                <a:solidFill>
                  <a:srgbClr val="6B6B6B"/>
                </a:solidFill>
                <a:latin typeface="Roboto" pitchFamily="34" charset="0"/>
                <a:ea typeface="Roboto" pitchFamily="34" charset="-122"/>
                <a:cs typeface="Roboto" pitchFamily="34" charset="-120"/>
              </a:rPr>
              <a:t>Renovación del sistema de análisis de vulnerabilidades — Contrato 035 CENAC Telemática 2026</a:t>
            </a:r>
            <a:endParaRPr lang="en-US" sz="1050" dirty="0"/>
          </a:p>
        </p:txBody>
      </p:sp>
      <p:sp>
        <p:nvSpPr>
          <p:cNvPr id="16" name="Text 14"/>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FFFFFF"/>
                </a:solidFill>
                <a:latin typeface="Roboto" pitchFamily="34" charset="0"/>
                <a:ea typeface="Roboto" pitchFamily="34" charset="-122"/>
                <a:cs typeface="Robot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SESIÓN 2 · AGENDA DE LA TARDE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organizada esta tarde de 4 horas</a:t>
            </a:r>
            <a:endParaRPr lang="en-US" sz="2500" dirty="0"/>
          </a:p>
        </p:txBody>
      </p:sp>
      <p:sp>
        <p:nvSpPr>
          <p:cNvPr id="6" name="Shape 4"/>
          <p:cNvSpPr/>
          <p:nvPr/>
        </p:nvSpPr>
        <p:spPr>
          <a:xfrm>
            <a:off x="548640" y="2743200"/>
            <a:ext cx="1376825" cy="1371600"/>
          </a:xfrm>
          <a:prstGeom prst="roundRect">
            <a:avLst>
              <a:gd name="adj" fmla="val 5333"/>
            </a:avLst>
          </a:prstGeom>
          <a:solidFill>
            <a:srgbClr val="E2231A"/>
          </a:solidFill>
          <a:ln/>
        </p:spPr>
      </p:sp>
      <p:sp>
        <p:nvSpPr>
          <p:cNvPr id="7" name="Text 5"/>
          <p:cNvSpPr/>
          <p:nvPr/>
        </p:nvSpPr>
        <p:spPr>
          <a:xfrm>
            <a:off x="621792"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Apertura</a:t>
            </a:r>
            <a:endParaRPr lang="en-US" sz="1250" dirty="0"/>
          </a:p>
        </p:txBody>
      </p:sp>
      <p:sp>
        <p:nvSpPr>
          <p:cNvPr id="8" name="Text 6"/>
          <p:cNvSpPr/>
          <p:nvPr/>
        </p:nvSpPr>
        <p:spPr>
          <a:xfrm>
            <a:off x="621792"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Después del almuerzo · Recuperación de dudas</a:t>
            </a:r>
            <a:endParaRPr lang="en-US" sz="1000" dirty="0"/>
          </a:p>
        </p:txBody>
      </p:sp>
      <p:sp>
        <p:nvSpPr>
          <p:cNvPr id="9" name="Text 7"/>
          <p:cNvSpPr/>
          <p:nvPr/>
        </p:nvSpPr>
        <p:spPr>
          <a:xfrm>
            <a:off x="1925465"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163209" y="2743200"/>
            <a:ext cx="1376825" cy="1371600"/>
          </a:xfrm>
          <a:prstGeom prst="roundRect">
            <a:avLst>
              <a:gd name="adj" fmla="val 5333"/>
            </a:avLst>
          </a:prstGeom>
          <a:solidFill>
            <a:srgbClr val="1A1A1A"/>
          </a:solidFill>
          <a:ln/>
        </p:spPr>
      </p:sp>
      <p:sp>
        <p:nvSpPr>
          <p:cNvPr id="11" name="Text 9"/>
          <p:cNvSpPr/>
          <p:nvPr/>
        </p:nvSpPr>
        <p:spPr>
          <a:xfrm>
            <a:off x="2236361"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DNS</a:t>
            </a:r>
            <a:endParaRPr lang="en-US" sz="1250" dirty="0"/>
          </a:p>
        </p:txBody>
      </p:sp>
      <p:sp>
        <p:nvSpPr>
          <p:cNvPr id="12" name="Text 10"/>
          <p:cNvSpPr/>
          <p:nvPr/>
        </p:nvSpPr>
        <p:spPr>
          <a:xfrm>
            <a:off x="2236361"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Jerarquía y registros</a:t>
            </a:r>
            <a:endParaRPr lang="en-US" sz="1000" dirty="0"/>
          </a:p>
        </p:txBody>
      </p:sp>
      <p:sp>
        <p:nvSpPr>
          <p:cNvPr id="13" name="Text 11"/>
          <p:cNvSpPr/>
          <p:nvPr/>
        </p:nvSpPr>
        <p:spPr>
          <a:xfrm>
            <a:off x="354003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3777778" y="2743200"/>
            <a:ext cx="1376825" cy="1371600"/>
          </a:xfrm>
          <a:prstGeom prst="roundRect">
            <a:avLst>
              <a:gd name="adj" fmla="val 5333"/>
            </a:avLst>
          </a:prstGeom>
          <a:solidFill>
            <a:srgbClr val="E2231A"/>
          </a:solidFill>
          <a:ln/>
        </p:spPr>
      </p:sp>
      <p:sp>
        <p:nvSpPr>
          <p:cNvPr id="15" name="Text 13"/>
          <p:cNvSpPr/>
          <p:nvPr/>
        </p:nvSpPr>
        <p:spPr>
          <a:xfrm>
            <a:off x="3850930"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Pausa</a:t>
            </a:r>
            <a:endParaRPr lang="en-US" sz="1250" dirty="0"/>
          </a:p>
        </p:txBody>
      </p:sp>
      <p:sp>
        <p:nvSpPr>
          <p:cNvPr id="16" name="Text 14"/>
          <p:cNvSpPr/>
          <p:nvPr/>
        </p:nvSpPr>
        <p:spPr>
          <a:xfrm>
            <a:off x="3850930"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15 min</a:t>
            </a:r>
            <a:endParaRPr lang="en-US" sz="1000" dirty="0"/>
          </a:p>
        </p:txBody>
      </p:sp>
      <p:sp>
        <p:nvSpPr>
          <p:cNvPr id="17" name="Text 15"/>
          <p:cNvSpPr/>
          <p:nvPr/>
        </p:nvSpPr>
        <p:spPr>
          <a:xfrm>
            <a:off x="515460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5392347" y="2743200"/>
            <a:ext cx="1376825" cy="1371600"/>
          </a:xfrm>
          <a:prstGeom prst="roundRect">
            <a:avLst>
              <a:gd name="adj" fmla="val 5333"/>
            </a:avLst>
          </a:prstGeom>
          <a:solidFill>
            <a:srgbClr val="1A1A1A"/>
          </a:solidFill>
          <a:ln/>
        </p:spPr>
      </p:sp>
      <p:sp>
        <p:nvSpPr>
          <p:cNvPr id="19" name="Text 17"/>
          <p:cNvSpPr/>
          <p:nvPr/>
        </p:nvSpPr>
        <p:spPr>
          <a:xfrm>
            <a:off x="5465499"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HTTP / TLS</a:t>
            </a:r>
            <a:endParaRPr lang="en-US" sz="1250" dirty="0"/>
          </a:p>
        </p:txBody>
      </p:sp>
      <p:sp>
        <p:nvSpPr>
          <p:cNvPr id="20" name="Text 18"/>
          <p:cNvSpPr/>
          <p:nvPr/>
        </p:nvSpPr>
        <p:spPr>
          <a:xfrm>
            <a:off x="5465499"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Métodos, cabeceras, cifrado</a:t>
            </a:r>
            <a:endParaRPr lang="en-US" sz="1000" dirty="0"/>
          </a:p>
        </p:txBody>
      </p:sp>
      <p:sp>
        <p:nvSpPr>
          <p:cNvPr id="21" name="Text 19"/>
          <p:cNvSpPr/>
          <p:nvPr/>
        </p:nvSpPr>
        <p:spPr>
          <a:xfrm>
            <a:off x="676917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7006917" y="2743200"/>
            <a:ext cx="1376825" cy="1371600"/>
          </a:xfrm>
          <a:prstGeom prst="roundRect">
            <a:avLst>
              <a:gd name="adj" fmla="val 5333"/>
            </a:avLst>
          </a:prstGeom>
          <a:solidFill>
            <a:srgbClr val="E2231A"/>
          </a:solidFill>
          <a:ln/>
        </p:spPr>
      </p:sp>
      <p:sp>
        <p:nvSpPr>
          <p:cNvPr id="23" name="Text 21"/>
          <p:cNvSpPr/>
          <p:nvPr/>
        </p:nvSpPr>
        <p:spPr>
          <a:xfrm>
            <a:off x="7080069"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Demostración</a:t>
            </a:r>
            <a:endParaRPr lang="en-US" sz="1250" dirty="0"/>
          </a:p>
        </p:txBody>
      </p:sp>
      <p:sp>
        <p:nvSpPr>
          <p:cNvPr id="24" name="Text 22"/>
          <p:cNvSpPr/>
          <p:nvPr/>
        </p:nvSpPr>
        <p:spPr>
          <a:xfrm>
            <a:off x="7080069"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En vivo + práctica individual</a:t>
            </a:r>
            <a:endParaRPr lang="en-US" sz="1000" dirty="0"/>
          </a:p>
        </p:txBody>
      </p:sp>
      <p:sp>
        <p:nvSpPr>
          <p:cNvPr id="25" name="Text 23"/>
          <p:cNvSpPr/>
          <p:nvPr/>
        </p:nvSpPr>
        <p:spPr>
          <a:xfrm>
            <a:off x="838374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8621486" y="2743200"/>
            <a:ext cx="1376825" cy="1371600"/>
          </a:xfrm>
          <a:prstGeom prst="roundRect">
            <a:avLst>
              <a:gd name="adj" fmla="val 5333"/>
            </a:avLst>
          </a:prstGeom>
          <a:solidFill>
            <a:srgbClr val="1A1A1A"/>
          </a:solidFill>
          <a:ln/>
        </p:spPr>
      </p:sp>
      <p:sp>
        <p:nvSpPr>
          <p:cNvPr id="27" name="Text 25"/>
          <p:cNvSpPr/>
          <p:nvPr/>
        </p:nvSpPr>
        <p:spPr>
          <a:xfrm>
            <a:off x="8694638"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Aplicación</a:t>
            </a:r>
            <a:endParaRPr lang="en-US" sz="1250" dirty="0"/>
          </a:p>
        </p:txBody>
      </p:sp>
      <p:sp>
        <p:nvSpPr>
          <p:cNvPr id="28" name="Text 26"/>
          <p:cNvSpPr/>
          <p:nvPr/>
        </p:nvSpPr>
        <p:spPr>
          <a:xfrm>
            <a:off x="8694638"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Lectura de solicitudes</a:t>
            </a:r>
            <a:endParaRPr lang="en-US" sz="1000" dirty="0"/>
          </a:p>
        </p:txBody>
      </p:sp>
      <p:sp>
        <p:nvSpPr>
          <p:cNvPr id="29" name="Text 27"/>
          <p:cNvSpPr/>
          <p:nvPr/>
        </p:nvSpPr>
        <p:spPr>
          <a:xfrm>
            <a:off x="9998311"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30" name="Shape 28"/>
          <p:cNvSpPr/>
          <p:nvPr/>
        </p:nvSpPr>
        <p:spPr>
          <a:xfrm>
            <a:off x="10236055" y="2743200"/>
            <a:ext cx="1376825" cy="1371600"/>
          </a:xfrm>
          <a:prstGeom prst="roundRect">
            <a:avLst>
              <a:gd name="adj" fmla="val 5333"/>
            </a:avLst>
          </a:prstGeom>
          <a:solidFill>
            <a:srgbClr val="E2231A"/>
          </a:solidFill>
          <a:ln/>
        </p:spPr>
      </p:sp>
      <p:sp>
        <p:nvSpPr>
          <p:cNvPr id="31" name="Text 29"/>
          <p:cNvSpPr/>
          <p:nvPr/>
        </p:nvSpPr>
        <p:spPr>
          <a:xfrm>
            <a:off x="10309207" y="2834640"/>
            <a:ext cx="1230521"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Cierre</a:t>
            </a:r>
            <a:endParaRPr lang="en-US" sz="1250" dirty="0"/>
          </a:p>
        </p:txBody>
      </p:sp>
      <p:sp>
        <p:nvSpPr>
          <p:cNvPr id="32" name="Text 30"/>
          <p:cNvSpPr/>
          <p:nvPr/>
        </p:nvSpPr>
        <p:spPr>
          <a:xfrm>
            <a:off x="10309207" y="3310128"/>
            <a:ext cx="1230521"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Encuesta y bitácora</a:t>
            </a:r>
            <a:endParaRPr lang="en-US" sz="1000" dirty="0"/>
          </a:p>
        </p:txBody>
      </p:sp>
      <p:sp>
        <p:nvSpPr>
          <p:cNvPr id="33" name="Shape 31"/>
          <p:cNvSpPr/>
          <p:nvPr/>
        </p:nvSpPr>
        <p:spPr>
          <a:xfrm rot="2700000">
            <a:off x="502920" y="6501384"/>
            <a:ext cx="82296" cy="82296"/>
          </a:xfrm>
          <a:prstGeom prst="rect">
            <a:avLst/>
          </a:prstGeom>
          <a:solidFill>
            <a:srgbClr val="E2231A"/>
          </a:solidFill>
          <a:ln/>
        </p:spPr>
      </p:sp>
      <p:sp>
        <p:nvSpPr>
          <p:cNvPr id="34" name="Text 3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SESIÓN 2 · AGENDA DE LA TARDE</a:t>
            </a:r>
            <a:endParaRPr lang="en-US" sz="800" dirty="0"/>
          </a:p>
        </p:txBody>
      </p:sp>
      <p:sp>
        <p:nvSpPr>
          <p:cNvPr id="35" name="Text 3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APERTURA · ACTIVACIÓN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Recuperación: dudas de la Sesión 1</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Revisemos las dudas registradas en el control de salida de esta mañana</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instructor prioriza las 2-3 más recurrentes.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Repaso relámpago: alcance autorizado y flujo preliminar</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30 segundos por concepto, sin volver a explicar todo desde cero.</a:t>
            </a:r>
            <a:endParaRPr lang="en-US" sz="1250" dirty="0"/>
          </a:p>
        </p:txBody>
      </p:sp>
      <p:sp>
        <p:nvSpPr>
          <p:cNvPr id="14" name="Shape 12"/>
          <p:cNvSpPr/>
          <p:nvPr/>
        </p:nvSpPr>
        <p:spPr>
          <a:xfrm>
            <a:off x="548640" y="5623560"/>
            <a:ext cx="11064240" cy="685800"/>
          </a:xfrm>
          <a:prstGeom prst="roundRect">
            <a:avLst>
              <a:gd name="adj" fmla="val 10667"/>
            </a:avLst>
          </a:prstGeom>
          <a:solidFill>
            <a:srgbClr val="FCEBEA"/>
          </a:solidFill>
          <a:ln/>
        </p:spPr>
      </p:sp>
      <p:sp>
        <p:nvSpPr>
          <p:cNvPr id="15" name="Shape 13"/>
          <p:cNvSpPr/>
          <p:nvPr/>
        </p:nvSpPr>
        <p:spPr>
          <a:xfrm>
            <a:off x="548640" y="5623560"/>
            <a:ext cx="54864" cy="685800"/>
          </a:xfrm>
          <a:prstGeom prst="rect">
            <a:avLst/>
          </a:prstGeom>
          <a:solidFill>
            <a:srgbClr val="E2231A"/>
          </a:solidFill>
          <a:ln/>
        </p:spPr>
      </p:sp>
      <p:sp>
        <p:nvSpPr>
          <p:cNvPr id="16" name="Text 14"/>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bloque de recuperación es corto (10-15 min): el objetivo es cerrar huecos puntuales, no repetir la Sesión 1 completa.</a:t>
            </a:r>
            <a:endParaRPr lang="en-US" sz="1200" dirty="0"/>
          </a:p>
        </p:txBody>
      </p:sp>
      <p:sp>
        <p:nvSpPr>
          <p:cNvPr id="17" name="Shape 15"/>
          <p:cNvSpPr/>
          <p:nvPr/>
        </p:nvSpPr>
        <p:spPr>
          <a:xfrm rot="2700000">
            <a:off x="502920" y="6501384"/>
            <a:ext cx="82296" cy="82296"/>
          </a:xfrm>
          <a:prstGeom prst="rect">
            <a:avLst/>
          </a:prstGeom>
          <a:solidFill>
            <a:srgbClr val="E2231A"/>
          </a:solidFill>
          <a:ln/>
        </p:spPr>
      </p:sp>
      <p:sp>
        <p:nvSpPr>
          <p:cNvPr id="18" name="Text 1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APERTURA · ACTIVACIÓN</a:t>
            </a:r>
            <a:endParaRPr lang="en-US" sz="800" dirty="0"/>
          </a:p>
        </p:txBody>
      </p:sp>
      <p:sp>
        <p:nvSpPr>
          <p:cNvPr id="19" name="Text 1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DNS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Jerarquía DNS: de la raíz al subdominio</a:t>
            </a:r>
            <a:endParaRPr lang="en-US" sz="2500" dirty="0"/>
          </a:p>
        </p:txBody>
      </p:sp>
      <p:sp>
        <p:nvSpPr>
          <p:cNvPr id="6" name="Shape 4"/>
          <p:cNvSpPr/>
          <p:nvPr/>
        </p:nvSpPr>
        <p:spPr>
          <a:xfrm>
            <a:off x="548640" y="2743200"/>
            <a:ext cx="2587752" cy="1371600"/>
          </a:xfrm>
          <a:prstGeom prst="roundRect">
            <a:avLst>
              <a:gd name="adj" fmla="val 5333"/>
            </a:avLst>
          </a:prstGeom>
          <a:solidFill>
            <a:srgbClr val="E2231A"/>
          </a:solidFill>
          <a:ln/>
        </p:spPr>
      </p:sp>
      <p:sp>
        <p:nvSpPr>
          <p:cNvPr id="7" name="Text 5"/>
          <p:cNvSpPr/>
          <p:nvPr/>
        </p:nvSpPr>
        <p:spPr>
          <a:xfrm>
            <a:off x="621792"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Raíz (.)</a:t>
            </a:r>
            <a:endParaRPr lang="en-US" sz="1250" dirty="0"/>
          </a:p>
        </p:txBody>
      </p:sp>
      <p:sp>
        <p:nvSpPr>
          <p:cNvPr id="8" name="Text 6"/>
          <p:cNvSpPr/>
          <p:nvPr/>
        </p:nvSpPr>
        <p:spPr>
          <a:xfrm>
            <a:off x="621792"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El punto invisible</a:t>
            </a:r>
            <a:endParaRPr lang="en-US" sz="1000" dirty="0"/>
          </a:p>
        </p:txBody>
      </p:sp>
      <p:sp>
        <p:nvSpPr>
          <p:cNvPr id="9" name="Text 7"/>
          <p:cNvSpPr/>
          <p:nvPr/>
        </p:nvSpPr>
        <p:spPr>
          <a:xfrm>
            <a:off x="313639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3374136" y="2743200"/>
            <a:ext cx="2587752" cy="1371600"/>
          </a:xfrm>
          <a:prstGeom prst="roundRect">
            <a:avLst>
              <a:gd name="adj" fmla="val 5333"/>
            </a:avLst>
          </a:prstGeom>
          <a:solidFill>
            <a:srgbClr val="1A1A1A"/>
          </a:solidFill>
          <a:ln/>
        </p:spPr>
      </p:sp>
      <p:sp>
        <p:nvSpPr>
          <p:cNvPr id="11" name="Text 9"/>
          <p:cNvSpPr/>
          <p:nvPr/>
        </p:nvSpPr>
        <p:spPr>
          <a:xfrm>
            <a:off x="3447288"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TLD</a:t>
            </a:r>
            <a:endParaRPr lang="en-US" sz="1250" dirty="0"/>
          </a:p>
        </p:txBody>
      </p:sp>
      <p:sp>
        <p:nvSpPr>
          <p:cNvPr id="12" name="Text 10"/>
          <p:cNvSpPr/>
          <p:nvPr/>
        </p:nvSpPr>
        <p:spPr>
          <a:xfrm>
            <a:off x="3447288"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.com, .co, .test</a:t>
            </a:r>
            <a:endParaRPr lang="en-US" sz="1000" dirty="0"/>
          </a:p>
        </p:txBody>
      </p:sp>
      <p:sp>
        <p:nvSpPr>
          <p:cNvPr id="13" name="Text 11"/>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6199632" y="2743200"/>
            <a:ext cx="2587752" cy="1371600"/>
          </a:xfrm>
          <a:prstGeom prst="roundRect">
            <a:avLst>
              <a:gd name="adj" fmla="val 5333"/>
            </a:avLst>
          </a:prstGeom>
          <a:solidFill>
            <a:srgbClr val="E2231A"/>
          </a:solidFill>
          <a:ln/>
        </p:spPr>
      </p:sp>
      <p:sp>
        <p:nvSpPr>
          <p:cNvPr id="15" name="Text 13"/>
          <p:cNvSpPr/>
          <p:nvPr/>
        </p:nvSpPr>
        <p:spPr>
          <a:xfrm>
            <a:off x="6272784"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Dominio</a:t>
            </a:r>
            <a:endParaRPr lang="en-US" sz="1250" dirty="0"/>
          </a:p>
        </p:txBody>
      </p:sp>
      <p:sp>
        <p:nvSpPr>
          <p:cNvPr id="16" name="Text 14"/>
          <p:cNvSpPr/>
          <p:nvPr/>
        </p:nvSpPr>
        <p:spPr>
          <a:xfrm>
            <a:off x="6272784"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laboratorio-bacci</a:t>
            </a:r>
            <a:endParaRPr lang="en-US" sz="1000" dirty="0"/>
          </a:p>
        </p:txBody>
      </p:sp>
      <p:sp>
        <p:nvSpPr>
          <p:cNvPr id="17" name="Text 15"/>
          <p:cNvSpPr/>
          <p:nvPr/>
        </p:nvSpPr>
        <p:spPr>
          <a:xfrm>
            <a:off x="878738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9025128" y="2743200"/>
            <a:ext cx="2587752" cy="1371600"/>
          </a:xfrm>
          <a:prstGeom prst="roundRect">
            <a:avLst>
              <a:gd name="adj" fmla="val 5333"/>
            </a:avLst>
          </a:prstGeom>
          <a:solidFill>
            <a:srgbClr val="1A1A1A"/>
          </a:solidFill>
          <a:ln/>
        </p:spPr>
      </p:sp>
      <p:sp>
        <p:nvSpPr>
          <p:cNvPr id="19" name="Text 17"/>
          <p:cNvSpPr/>
          <p:nvPr/>
        </p:nvSpPr>
        <p:spPr>
          <a:xfrm>
            <a:off x="9098280" y="2834640"/>
            <a:ext cx="2441448"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Subdominio</a:t>
            </a:r>
            <a:endParaRPr lang="en-US" sz="1250" dirty="0"/>
          </a:p>
        </p:txBody>
      </p:sp>
      <p:sp>
        <p:nvSpPr>
          <p:cNvPr id="20" name="Text 18"/>
          <p:cNvSpPr/>
          <p:nvPr/>
        </p:nvSpPr>
        <p:spPr>
          <a:xfrm>
            <a:off x="9098280" y="3310128"/>
            <a:ext cx="2441448"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www, api, mail</a:t>
            </a:r>
            <a:endParaRPr lang="en-US" sz="10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DNS</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DNS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Tipos de registro DNS que usaremos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Registros de direccionamiento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 — nombre → IPv4</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AAAA — nombre → IPv6</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CNAME — alias hacia otro nombre</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Registros de servicio y metadatos</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MX — servidor de correo</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TXT — texto libre (verificaciones, SPF)</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NS — servidores de nombre de la zona</a:t>
            </a:r>
            <a:endParaRPr lang="en-US" sz="1300" dirty="0"/>
          </a:p>
        </p:txBody>
      </p:sp>
      <p:sp>
        <p:nvSpPr>
          <p:cNvPr id="26" name="Shape 24"/>
          <p:cNvSpPr/>
          <p:nvPr/>
        </p:nvSpPr>
        <p:spPr>
          <a:xfrm>
            <a:off x="6537960" y="4416552"/>
            <a:ext cx="82296" cy="82296"/>
          </a:xfrm>
          <a:prstGeom prst="ellipse">
            <a:avLst/>
          </a:prstGeom>
          <a:solidFill>
            <a:srgbClr val="1A1A1A"/>
          </a:solidFill>
          <a:ln/>
        </p:spPr>
      </p:sp>
      <p:sp>
        <p:nvSpPr>
          <p:cNvPr id="27" name="Text 25"/>
          <p:cNvSpPr/>
          <p:nvPr/>
        </p:nvSpPr>
        <p:spPr>
          <a:xfrm>
            <a:off x="6720840" y="4306824"/>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SOA — metadatos administrativos de la zona</a:t>
            </a:r>
            <a:endParaRPr lang="en-US" sz="1300" dirty="0"/>
          </a:p>
        </p:txBody>
      </p:sp>
      <p:sp>
        <p:nvSpPr>
          <p:cNvPr id="28" name="Shape 26"/>
          <p:cNvSpPr/>
          <p:nvPr/>
        </p:nvSpPr>
        <p:spPr>
          <a:xfrm rot="2700000">
            <a:off x="502920" y="6501384"/>
            <a:ext cx="82296" cy="82296"/>
          </a:xfrm>
          <a:prstGeom prst="rect">
            <a:avLst/>
          </a:prstGeom>
          <a:solidFill>
            <a:srgbClr val="E2231A"/>
          </a:solidFill>
          <a:ln/>
        </p:spPr>
      </p:sp>
      <p:sp>
        <p:nvSpPr>
          <p:cNvPr id="29" name="Text 2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DNS</a:t>
            </a:r>
            <a:endParaRPr lang="en-US" sz="800" dirty="0"/>
          </a:p>
        </p:txBody>
      </p:sp>
      <p:sp>
        <p:nvSpPr>
          <p:cNvPr id="30" name="Text 2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DNS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Proceso de resolución de nombres</a:t>
            </a:r>
            <a:endParaRPr lang="en-US" sz="2500" dirty="0"/>
          </a:p>
        </p:txBody>
      </p:sp>
      <p:sp>
        <p:nvSpPr>
          <p:cNvPr id="6" name="Shape 4"/>
          <p:cNvSpPr/>
          <p:nvPr/>
        </p:nvSpPr>
        <p:spPr>
          <a:xfrm>
            <a:off x="548640" y="2743200"/>
            <a:ext cx="2022653" cy="1371600"/>
          </a:xfrm>
          <a:prstGeom prst="roundRect">
            <a:avLst>
              <a:gd name="adj" fmla="val 5333"/>
            </a:avLst>
          </a:prstGeom>
          <a:solidFill>
            <a:srgbClr val="E2231A"/>
          </a:solidFill>
          <a:ln/>
        </p:spPr>
      </p:sp>
      <p:sp>
        <p:nvSpPr>
          <p:cNvPr id="7" name="Text 5"/>
          <p:cNvSpPr/>
          <p:nvPr/>
        </p:nvSpPr>
        <p:spPr>
          <a:xfrm>
            <a:off x="621792"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Cliente</a:t>
            </a:r>
            <a:endParaRPr lang="en-US" sz="1250" dirty="0"/>
          </a:p>
        </p:txBody>
      </p:sp>
      <p:sp>
        <p:nvSpPr>
          <p:cNvPr id="8" name="Text 6"/>
          <p:cNvSpPr/>
          <p:nvPr/>
        </p:nvSpPr>
        <p:spPr>
          <a:xfrm>
            <a:off x="621792"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Pregunta por el nombre</a:t>
            </a:r>
            <a:endParaRPr lang="en-US" sz="1000" dirty="0"/>
          </a:p>
        </p:txBody>
      </p:sp>
      <p:sp>
        <p:nvSpPr>
          <p:cNvPr id="9" name="Text 7"/>
          <p:cNvSpPr/>
          <p:nvPr/>
        </p:nvSpPr>
        <p:spPr>
          <a:xfrm>
            <a:off x="257129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809037" y="2743200"/>
            <a:ext cx="2022653" cy="1371600"/>
          </a:xfrm>
          <a:prstGeom prst="roundRect">
            <a:avLst>
              <a:gd name="adj" fmla="val 5333"/>
            </a:avLst>
          </a:prstGeom>
          <a:solidFill>
            <a:srgbClr val="1A1A1A"/>
          </a:solidFill>
          <a:ln/>
        </p:spPr>
      </p:sp>
      <p:sp>
        <p:nvSpPr>
          <p:cNvPr id="11" name="Text 9"/>
          <p:cNvSpPr/>
          <p:nvPr/>
        </p:nvSpPr>
        <p:spPr>
          <a:xfrm>
            <a:off x="2882189"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Resolver / caché</a:t>
            </a:r>
            <a:endParaRPr lang="en-US" sz="1250" dirty="0"/>
          </a:p>
        </p:txBody>
      </p:sp>
      <p:sp>
        <p:nvSpPr>
          <p:cNvPr id="12" name="Text 10"/>
          <p:cNvSpPr/>
          <p:nvPr/>
        </p:nvSpPr>
        <p:spPr>
          <a:xfrm>
            <a:off x="2882189"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¿Ya lo tengo guardado?</a:t>
            </a:r>
            <a:endParaRPr lang="en-US" sz="1000" dirty="0"/>
          </a:p>
        </p:txBody>
      </p:sp>
      <p:sp>
        <p:nvSpPr>
          <p:cNvPr id="13" name="Text 11"/>
          <p:cNvSpPr/>
          <p:nvPr/>
        </p:nvSpPr>
        <p:spPr>
          <a:xfrm>
            <a:off x="483169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5069434" y="2743200"/>
            <a:ext cx="2022653" cy="1371600"/>
          </a:xfrm>
          <a:prstGeom prst="roundRect">
            <a:avLst>
              <a:gd name="adj" fmla="val 5333"/>
            </a:avLst>
          </a:prstGeom>
          <a:solidFill>
            <a:srgbClr val="E2231A"/>
          </a:solidFill>
          <a:ln/>
        </p:spPr>
      </p:sp>
      <p:sp>
        <p:nvSpPr>
          <p:cNvPr id="15" name="Text 13"/>
          <p:cNvSpPr/>
          <p:nvPr/>
        </p:nvSpPr>
        <p:spPr>
          <a:xfrm>
            <a:off x="5142586"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Servidor raíz</a:t>
            </a:r>
            <a:endParaRPr lang="en-US" sz="1250" dirty="0"/>
          </a:p>
        </p:txBody>
      </p:sp>
      <p:sp>
        <p:nvSpPr>
          <p:cNvPr id="16" name="Text 14"/>
          <p:cNvSpPr/>
          <p:nvPr/>
        </p:nvSpPr>
        <p:spPr>
          <a:xfrm>
            <a:off x="5142586"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Indica el TLD</a:t>
            </a:r>
            <a:endParaRPr lang="en-US" sz="1000" dirty="0"/>
          </a:p>
        </p:txBody>
      </p:sp>
      <p:sp>
        <p:nvSpPr>
          <p:cNvPr id="17" name="Text 15"/>
          <p:cNvSpPr/>
          <p:nvPr/>
        </p:nvSpPr>
        <p:spPr>
          <a:xfrm>
            <a:off x="709208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7329830" y="2743200"/>
            <a:ext cx="2022653" cy="1371600"/>
          </a:xfrm>
          <a:prstGeom prst="roundRect">
            <a:avLst>
              <a:gd name="adj" fmla="val 5333"/>
            </a:avLst>
          </a:prstGeom>
          <a:solidFill>
            <a:srgbClr val="1A1A1A"/>
          </a:solidFill>
          <a:ln/>
        </p:spPr>
      </p:sp>
      <p:sp>
        <p:nvSpPr>
          <p:cNvPr id="19" name="Text 17"/>
          <p:cNvSpPr/>
          <p:nvPr/>
        </p:nvSpPr>
        <p:spPr>
          <a:xfrm>
            <a:off x="7402982"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Servidor TLD</a:t>
            </a:r>
            <a:endParaRPr lang="en-US" sz="1250" dirty="0"/>
          </a:p>
        </p:txBody>
      </p:sp>
      <p:sp>
        <p:nvSpPr>
          <p:cNvPr id="20" name="Text 18"/>
          <p:cNvSpPr/>
          <p:nvPr/>
        </p:nvSpPr>
        <p:spPr>
          <a:xfrm>
            <a:off x="7402982"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Indica el dominio</a:t>
            </a:r>
            <a:endParaRPr lang="en-US" sz="1000" dirty="0"/>
          </a:p>
        </p:txBody>
      </p:sp>
      <p:sp>
        <p:nvSpPr>
          <p:cNvPr id="21" name="Text 19"/>
          <p:cNvSpPr/>
          <p:nvPr/>
        </p:nvSpPr>
        <p:spPr>
          <a:xfrm>
            <a:off x="9352483"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9590227" y="2743200"/>
            <a:ext cx="2022653" cy="1371600"/>
          </a:xfrm>
          <a:prstGeom prst="roundRect">
            <a:avLst>
              <a:gd name="adj" fmla="val 5333"/>
            </a:avLst>
          </a:prstGeom>
          <a:solidFill>
            <a:srgbClr val="E2231A"/>
          </a:solidFill>
          <a:ln/>
        </p:spPr>
      </p:sp>
      <p:sp>
        <p:nvSpPr>
          <p:cNvPr id="23" name="Text 21"/>
          <p:cNvSpPr/>
          <p:nvPr/>
        </p:nvSpPr>
        <p:spPr>
          <a:xfrm>
            <a:off x="9663379" y="2834640"/>
            <a:ext cx="1876349"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Servidor autoritativo</a:t>
            </a:r>
            <a:endParaRPr lang="en-US" sz="1250" dirty="0"/>
          </a:p>
        </p:txBody>
      </p:sp>
      <p:sp>
        <p:nvSpPr>
          <p:cNvPr id="24" name="Text 22"/>
          <p:cNvSpPr/>
          <p:nvPr/>
        </p:nvSpPr>
        <p:spPr>
          <a:xfrm>
            <a:off x="9663379" y="3310128"/>
            <a:ext cx="1876349"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Responde la IP final</a:t>
            </a:r>
            <a:endParaRPr lang="en-US" sz="1000" dirty="0"/>
          </a:p>
        </p:txBody>
      </p:sp>
      <p:sp>
        <p:nvSpPr>
          <p:cNvPr id="25" name="Shape 23"/>
          <p:cNvSpPr/>
          <p:nvPr/>
        </p:nvSpPr>
        <p:spPr>
          <a:xfrm rot="2700000">
            <a:off x="502920" y="6501384"/>
            <a:ext cx="82296" cy="82296"/>
          </a:xfrm>
          <a:prstGeom prst="rect">
            <a:avLst/>
          </a:prstGeom>
          <a:solidFill>
            <a:srgbClr val="E2231A"/>
          </a:solidFill>
          <a:ln/>
        </p:spPr>
      </p:sp>
      <p:sp>
        <p:nvSpPr>
          <p:cNvPr id="26" name="Text 24"/>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DNS</a:t>
            </a:r>
            <a:endParaRPr lang="en-US" sz="800" dirty="0"/>
          </a:p>
        </p:txBody>
      </p:sp>
      <p:sp>
        <p:nvSpPr>
          <p:cNvPr id="27" name="Text 25"/>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DNS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Caché y TTL: por qué DNS no siempre resuelve al instante</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TTL (Time To Live)</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Tiempo, en segundos, que un resolver puede reutilizar la respuesta sin volver a preguntar.</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Caché</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Copia local de resultados recientes, en el sistema operativo, el navegador o el resolver del ISP.</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Consecuencia práctica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cambio de registro DNS puede tardar en propagarse mientras las cachés no expiran.</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DNS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Un dominio tiene un registro A con TTL de 3600 segundos (1 hora). Hace 10 minutos alguien resolvió ese dominio y su resolver cacheó el resultado. Si el registro cambia justo ahora, ¿cuándo lo verá ese resolver?</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Inmediatamente — DNS siempre resuelve en tiempo real, sin importar la caché.</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Recién cuando expire el TTL restante (~50 minutos); mientras tanto seguirá devolviendo el valor antiguo cacheado.</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Nunca — una vez cacheado un registro DNS no se vuelve a actualizar jamás.</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Solo si el usuario reinicia manualmente su router o su equipo.</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DNS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Comandos DNS que practicaremos después de la pausa</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No los ejecuten todavía — los veremos en vivo en la demostración guiada.</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dominio +short</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Resolución directa, salida breve</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dominio +trace</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Ver el proceso iterativo completo</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nslookup dominio</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Alternativa clásica (considerada obsoleta)</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host dominio</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Resolución breve, formato distinto</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DNS</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HTTP, sus métodos, cabeceras y el cifrado TLS.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HTTP</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Estructura de una solicitud y una respuesta HTTP</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Solicitud (Request)</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Línea de solicitud: método + ruta + versión</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Cabeceras (headers)</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Cuerpo (opcional, ej. en POST)</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Respuesta (Response)</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Línea de estado: versión + código + mensaje</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Cabeceras de respuesta</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Cuerpo (el recurso solicitado)</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HTTP</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HTTP</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Métodos HTTP</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GET</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Solicita un recurso, sin efectos secundarios esperados.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POST</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Envía datos al servidor, típicamente para crear algo.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PUT / DELETE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Actualizar o eliminar un recurso existente.</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HEAD / OPTIONS</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Metadatos de la respuesta / capacidades del servidor, sin cuerpo.</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HTTP</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HTTP</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Códigos de estado: familias 1xx a 5xx</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Informativos y éxito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1xx — Informativo (poco frecuente en la práctica)</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2xx — Éxito (200 OK, 201 Created)</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3xx — Redirección (301, 302)</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Errores</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4xx — Error del cliente (404, 403, 401)</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5xx — Error del servidor (500, 503)</a:t>
            </a:r>
            <a:endParaRPr lang="en-US" sz="1300" dirty="0"/>
          </a:p>
        </p:txBody>
      </p:sp>
      <p:sp>
        <p:nvSpPr>
          <p:cNvPr id="24" name="Shape 22"/>
          <p:cNvSpPr/>
          <p:nvPr/>
        </p:nvSpPr>
        <p:spPr>
          <a:xfrm rot="2700000">
            <a:off x="502920" y="6501384"/>
            <a:ext cx="82296" cy="82296"/>
          </a:xfrm>
          <a:prstGeom prst="rect">
            <a:avLst/>
          </a:prstGeom>
          <a:solidFill>
            <a:srgbClr val="E2231A"/>
          </a:solidFill>
          <a:ln/>
        </p:spPr>
      </p:sp>
      <p:sp>
        <p:nvSpPr>
          <p:cNvPr id="25" name="Text 23"/>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HTTP</a:t>
            </a:r>
            <a:endParaRPr lang="en-US" sz="800" dirty="0"/>
          </a:p>
        </p:txBody>
      </p:sp>
      <p:sp>
        <p:nvSpPr>
          <p:cNvPr id="26" name="Text 24"/>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HTTP</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Cabeceras relevantes para el análisis de tráfico</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Cabeceras de solicitud</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Host — a qué sitio va dirigida</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User-Agent — identifica el cliente</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Cookie — datos de sesión enviados</a:t>
            </a:r>
            <a:endParaRPr lang="en-US" sz="1300" dirty="0"/>
          </a:p>
        </p:txBody>
      </p:sp>
      <p:sp>
        <p:nvSpPr>
          <p:cNvPr id="16" name="Shape 14"/>
          <p:cNvSpPr/>
          <p:nvPr/>
        </p:nvSpPr>
        <p:spPr>
          <a:xfrm>
            <a:off x="822960" y="4416552"/>
            <a:ext cx="82296" cy="82296"/>
          </a:xfrm>
          <a:prstGeom prst="ellipse">
            <a:avLst/>
          </a:prstGeom>
          <a:solidFill>
            <a:srgbClr val="E2231A"/>
          </a:solidFill>
          <a:ln/>
        </p:spPr>
      </p:sp>
      <p:sp>
        <p:nvSpPr>
          <p:cNvPr id="17" name="Text 15"/>
          <p:cNvSpPr/>
          <p:nvPr/>
        </p:nvSpPr>
        <p:spPr>
          <a:xfrm>
            <a:off x="1005840" y="4306824"/>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Authorization — credenciales/tokens</a:t>
            </a:r>
            <a:endParaRPr lang="en-US" sz="1300" dirty="0"/>
          </a:p>
        </p:txBody>
      </p:sp>
      <p:sp>
        <p:nvSpPr>
          <p:cNvPr id="18" name="Shape 16"/>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9" name="Shape 17"/>
          <p:cNvSpPr/>
          <p:nvPr/>
        </p:nvSpPr>
        <p:spPr>
          <a:xfrm>
            <a:off x="6263640" y="1691640"/>
            <a:ext cx="5212080" cy="685800"/>
          </a:xfrm>
          <a:prstGeom prst="roundRect">
            <a:avLst>
              <a:gd name="adj" fmla="val 10667"/>
            </a:avLst>
          </a:prstGeom>
          <a:solidFill>
            <a:srgbClr val="1A1A1A"/>
          </a:solidFill>
          <a:ln/>
        </p:spPr>
      </p:sp>
      <p:sp>
        <p:nvSpPr>
          <p:cNvPr id="20" name="Shape 18"/>
          <p:cNvSpPr/>
          <p:nvPr/>
        </p:nvSpPr>
        <p:spPr>
          <a:xfrm>
            <a:off x="6263640" y="2148840"/>
            <a:ext cx="5212080" cy="228600"/>
          </a:xfrm>
          <a:prstGeom prst="rect">
            <a:avLst/>
          </a:prstGeom>
          <a:solidFill>
            <a:srgbClr val="1A1A1A"/>
          </a:solidFill>
          <a:ln/>
        </p:spPr>
      </p:sp>
      <p:sp>
        <p:nvSpPr>
          <p:cNvPr id="21" name="Text 19"/>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Cabeceras de respuesta</a:t>
            </a:r>
            <a:endParaRPr lang="en-US" sz="1600" dirty="0"/>
          </a:p>
        </p:txBody>
      </p:sp>
      <p:sp>
        <p:nvSpPr>
          <p:cNvPr id="22" name="Shape 20"/>
          <p:cNvSpPr/>
          <p:nvPr/>
        </p:nvSpPr>
        <p:spPr>
          <a:xfrm>
            <a:off x="6537960" y="2715768"/>
            <a:ext cx="82296" cy="82296"/>
          </a:xfrm>
          <a:prstGeom prst="ellipse">
            <a:avLst/>
          </a:prstGeom>
          <a:solidFill>
            <a:srgbClr val="1A1A1A"/>
          </a:solidFill>
          <a:ln/>
        </p:spPr>
      </p:sp>
      <p:sp>
        <p:nvSpPr>
          <p:cNvPr id="23" name="Text 21"/>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Set-Cookie — el servidor fija una cookie</a:t>
            </a:r>
            <a:endParaRPr lang="en-US" sz="1300" dirty="0"/>
          </a:p>
        </p:txBody>
      </p:sp>
      <p:sp>
        <p:nvSpPr>
          <p:cNvPr id="24" name="Shape 22"/>
          <p:cNvSpPr/>
          <p:nvPr/>
        </p:nvSpPr>
        <p:spPr>
          <a:xfrm>
            <a:off x="6537960" y="3282696"/>
            <a:ext cx="82296" cy="82296"/>
          </a:xfrm>
          <a:prstGeom prst="ellipse">
            <a:avLst/>
          </a:prstGeom>
          <a:solidFill>
            <a:srgbClr val="1A1A1A"/>
          </a:solidFill>
          <a:ln/>
        </p:spPr>
      </p:sp>
      <p:sp>
        <p:nvSpPr>
          <p:cNvPr id="25" name="Text 23"/>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Content-Type — formato del cuerpo</a:t>
            </a:r>
            <a:endParaRPr lang="en-US" sz="1300" dirty="0"/>
          </a:p>
        </p:txBody>
      </p:sp>
      <p:sp>
        <p:nvSpPr>
          <p:cNvPr id="26" name="Shape 24"/>
          <p:cNvSpPr/>
          <p:nvPr/>
        </p:nvSpPr>
        <p:spPr>
          <a:xfrm>
            <a:off x="6537960" y="3849624"/>
            <a:ext cx="82296" cy="82296"/>
          </a:xfrm>
          <a:prstGeom prst="ellipse">
            <a:avLst/>
          </a:prstGeom>
          <a:solidFill>
            <a:srgbClr val="1A1A1A"/>
          </a:solidFill>
          <a:ln/>
        </p:spPr>
      </p:sp>
      <p:sp>
        <p:nvSpPr>
          <p:cNvPr id="27" name="Text 25"/>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Cache-Control — política de caché</a:t>
            </a:r>
            <a:endParaRPr lang="en-US" sz="1300" dirty="0"/>
          </a:p>
        </p:txBody>
      </p:sp>
      <p:sp>
        <p:nvSpPr>
          <p:cNvPr id="28" name="Shape 26"/>
          <p:cNvSpPr/>
          <p:nvPr/>
        </p:nvSpPr>
        <p:spPr>
          <a:xfrm rot="2700000">
            <a:off x="502920" y="6501384"/>
            <a:ext cx="82296" cy="82296"/>
          </a:xfrm>
          <a:prstGeom prst="rect">
            <a:avLst/>
          </a:prstGeom>
          <a:solidFill>
            <a:srgbClr val="E2231A"/>
          </a:solidFill>
          <a:ln/>
        </p:spPr>
      </p:sp>
      <p:sp>
        <p:nvSpPr>
          <p:cNvPr id="29" name="Text 2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HTTP</a:t>
            </a:r>
            <a:endParaRPr lang="en-US" sz="800" dirty="0"/>
          </a:p>
        </p:txBody>
      </p:sp>
      <p:sp>
        <p:nvSpPr>
          <p:cNvPr id="30" name="Text 2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SESIÓN Y COOKIES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Cookies: cómo el servidor "recuerda" al usuario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Set-Cookie</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servidor entrega un identificador de sesión al cliente.</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Secure</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La cookie solo viaja por conexiones HTTPS.</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HttpOnly</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JavaScript en el navegador no puede leer la cookie.</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SameSite</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Controla si la cookie viaja en solicitudes desde otros sitios.</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SESIÓN Y COOKIES</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TLS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HTTP vs. HTTPS: qué añade TLS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1A1A1A"/>
          </a:solidFill>
          <a:ln/>
        </p:spPr>
      </p:sp>
      <p:sp>
        <p:nvSpPr>
          <p:cNvPr id="8" name="Shape 6"/>
          <p:cNvSpPr/>
          <p:nvPr/>
        </p:nvSpPr>
        <p:spPr>
          <a:xfrm>
            <a:off x="548640" y="2148840"/>
            <a:ext cx="5212080" cy="228600"/>
          </a:xfrm>
          <a:prstGeom prst="rect">
            <a:avLst/>
          </a:prstGeom>
          <a:solidFill>
            <a:srgbClr val="1A1A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HTTP</a:t>
            </a:r>
            <a:endParaRPr lang="en-US" sz="1600" dirty="0"/>
          </a:p>
        </p:txBody>
      </p:sp>
      <p:sp>
        <p:nvSpPr>
          <p:cNvPr id="10" name="Shape 8"/>
          <p:cNvSpPr/>
          <p:nvPr/>
        </p:nvSpPr>
        <p:spPr>
          <a:xfrm>
            <a:off x="822960" y="2715768"/>
            <a:ext cx="82296" cy="82296"/>
          </a:xfrm>
          <a:prstGeom prst="ellipse">
            <a:avLst/>
          </a:prstGeom>
          <a:solidFill>
            <a:srgbClr val="1A1A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Texto plano</a:t>
            </a:r>
            <a:endParaRPr lang="en-US" sz="1300" dirty="0"/>
          </a:p>
        </p:txBody>
      </p:sp>
      <p:sp>
        <p:nvSpPr>
          <p:cNvPr id="12" name="Shape 10"/>
          <p:cNvSpPr/>
          <p:nvPr/>
        </p:nvSpPr>
        <p:spPr>
          <a:xfrm>
            <a:off x="822960" y="3282696"/>
            <a:ext cx="82296" cy="82296"/>
          </a:xfrm>
          <a:prstGeom prst="ellipse">
            <a:avLst/>
          </a:prstGeom>
          <a:solidFill>
            <a:srgbClr val="1A1A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Cualquiera en la red puede leer el tráfico</a:t>
            </a:r>
            <a:endParaRPr lang="en-US" sz="1300" dirty="0"/>
          </a:p>
        </p:txBody>
      </p:sp>
      <p:sp>
        <p:nvSpPr>
          <p:cNvPr id="14" name="Shape 12"/>
          <p:cNvSpPr/>
          <p:nvPr/>
        </p:nvSpPr>
        <p:spPr>
          <a:xfrm>
            <a:off x="822960" y="3849624"/>
            <a:ext cx="82296" cy="82296"/>
          </a:xfrm>
          <a:prstGeom prst="ellipse">
            <a:avLst/>
          </a:prstGeom>
          <a:solidFill>
            <a:srgbClr val="1A1A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Sin verificación de identidad del servidor</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E2231A"/>
          </a:solidFill>
          <a:ln/>
        </p:spPr>
      </p:sp>
      <p:sp>
        <p:nvSpPr>
          <p:cNvPr id="18" name="Shape 16"/>
          <p:cNvSpPr/>
          <p:nvPr/>
        </p:nvSpPr>
        <p:spPr>
          <a:xfrm>
            <a:off x="6263640" y="2148840"/>
            <a:ext cx="5212080" cy="228600"/>
          </a:xfrm>
          <a:prstGeom prst="rect">
            <a:avLst/>
          </a:prstGeom>
          <a:solidFill>
            <a:srgbClr val="E223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HTTPS (HTTP + TLS)</a:t>
            </a:r>
            <a:endParaRPr lang="en-US" sz="1600" dirty="0"/>
          </a:p>
        </p:txBody>
      </p:sp>
      <p:sp>
        <p:nvSpPr>
          <p:cNvPr id="20" name="Shape 18"/>
          <p:cNvSpPr/>
          <p:nvPr/>
        </p:nvSpPr>
        <p:spPr>
          <a:xfrm>
            <a:off x="6537960" y="2715768"/>
            <a:ext cx="82296" cy="82296"/>
          </a:xfrm>
          <a:prstGeom prst="ellipse">
            <a:avLst/>
          </a:prstGeom>
          <a:solidFill>
            <a:srgbClr val="E223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Confidencialidad — tráfico cifrado</a:t>
            </a:r>
            <a:endParaRPr lang="en-US" sz="1300" dirty="0"/>
          </a:p>
        </p:txBody>
      </p:sp>
      <p:sp>
        <p:nvSpPr>
          <p:cNvPr id="22" name="Shape 20"/>
          <p:cNvSpPr/>
          <p:nvPr/>
        </p:nvSpPr>
        <p:spPr>
          <a:xfrm>
            <a:off x="6537960" y="3282696"/>
            <a:ext cx="82296" cy="82296"/>
          </a:xfrm>
          <a:prstGeom prst="ellipse">
            <a:avLst/>
          </a:prstGeom>
          <a:solidFill>
            <a:srgbClr val="E223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Integridad — detecta alteraciones</a:t>
            </a:r>
            <a:endParaRPr lang="en-US" sz="1300" dirty="0"/>
          </a:p>
        </p:txBody>
      </p:sp>
      <p:sp>
        <p:nvSpPr>
          <p:cNvPr id="24" name="Shape 22"/>
          <p:cNvSpPr/>
          <p:nvPr/>
        </p:nvSpPr>
        <p:spPr>
          <a:xfrm>
            <a:off x="6537960" y="3849624"/>
            <a:ext cx="82296" cy="82296"/>
          </a:xfrm>
          <a:prstGeom prst="ellipse">
            <a:avLst/>
          </a:prstGeom>
          <a:solidFill>
            <a:srgbClr val="E223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Autenticación del servidor — vía certificado</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TLS</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TLS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Certificados digitales: panorama (se profundiza en el laboratorio de certificados)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servidor presenta un certificado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Contiene su clave pública y su identidad (nombre de dominio).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navegador verifica quién lo firmó</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Si confía en esa autoridad (CA), acepta la conexión sin advertencia.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Un certificado autofirmado no tiene esa cadena de confianza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Por eso el navegador advierte, aunque el canal siga cifrado.</a:t>
            </a:r>
            <a:endParaRPr lang="en-US" sz="1250" dirty="0"/>
          </a:p>
        </p:txBody>
      </p:sp>
      <p:sp>
        <p:nvSpPr>
          <p:cNvPr id="18" name="Shape 16"/>
          <p:cNvSpPr/>
          <p:nvPr/>
        </p:nvSpPr>
        <p:spPr>
          <a:xfrm>
            <a:off x="548640" y="5623560"/>
            <a:ext cx="11064240" cy="685800"/>
          </a:xfrm>
          <a:prstGeom prst="roundRect">
            <a:avLst>
              <a:gd name="adj" fmla="val 10667"/>
            </a:avLst>
          </a:prstGeom>
          <a:solidFill>
            <a:srgbClr val="FCEBEA"/>
          </a:solidFill>
          <a:ln/>
        </p:spPr>
      </p:sp>
      <p:sp>
        <p:nvSpPr>
          <p:cNvPr id="19" name="Shape 17"/>
          <p:cNvSpPr/>
          <p:nvPr/>
        </p:nvSpPr>
        <p:spPr>
          <a:xfrm>
            <a:off x="548640" y="5623560"/>
            <a:ext cx="54864" cy="685800"/>
          </a:xfrm>
          <a:prstGeom prst="rect">
            <a:avLst/>
          </a:prstGeom>
          <a:solidFill>
            <a:srgbClr val="E2231A"/>
          </a:solidFill>
          <a:ln/>
        </p:spPr>
      </p:sp>
      <p:sp>
        <p:nvSpPr>
          <p:cNvPr id="20" name="Text 18"/>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El detalle completo de PKI, CA y clave privada se practica en el laboratorio de certificados (Fase 4) antes de la Sesión 6.</a:t>
            </a:r>
            <a:endParaRPr lang="en-US" sz="12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TLS</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A81810">
              <a:alpha val="70000"/>
            </a:srgbClr>
          </a:solidFill>
          <a:ln/>
        </p:spPr>
      </p:sp>
      <p:sp>
        <p:nvSpPr>
          <p:cNvPr id="3" name="Shape 1"/>
          <p:cNvSpPr/>
          <p:nvPr/>
        </p:nvSpPr>
        <p:spPr>
          <a:xfrm>
            <a:off x="10332720" y="-1371600"/>
            <a:ext cx="3108960" cy="3108960"/>
          </a:xfrm>
          <a:prstGeom prst="ellipse">
            <a:avLst/>
          </a:prstGeom>
          <a:solidFill>
            <a:srgbClr val="A81810">
              <a:alpha val="70000"/>
            </a:srgbClr>
          </a:solidFill>
          <a:ln/>
        </p:spPr>
      </p:sp>
      <p:sp>
        <p:nvSpPr>
          <p:cNvPr id="4" name="Text 2"/>
          <p:cNvSpPr/>
          <p:nvPr/>
        </p:nvSpPr>
        <p:spPr>
          <a:xfrm>
            <a:off x="640080" y="502920"/>
            <a:ext cx="2286000" cy="2011680"/>
          </a:xfrm>
          <a:prstGeom prst="rect">
            <a:avLst/>
          </a:prstGeom>
          <a:noFill/>
          <a:ln/>
        </p:spPr>
        <p:txBody>
          <a:bodyPr wrap="square" rtlCol="0" anchor="ctr"/>
          <a:lstStyle/>
          <a:p>
            <a:pPr indent="0" marL="0">
              <a:buNone/>
            </a:pPr>
            <a:r>
              <a:rPr lang="en-US" sz="13000" b="1" i="1" dirty="0">
                <a:solidFill>
                  <a:srgbClr val="A81810"/>
                </a:solidFill>
                <a:latin typeface="Georgia" pitchFamily="34" charset="0"/>
                <a:ea typeface="Georgia" pitchFamily="34" charset="-122"/>
                <a:cs typeface="Georgia" pitchFamily="34" charset="-120"/>
              </a:rPr>
              <a:t>”</a:t>
            </a:r>
            <a:endParaRPr lang="en-US" sz="13000" dirty="0"/>
          </a:p>
        </p:txBody>
      </p:sp>
      <p:sp>
        <p:nvSpPr>
          <p:cNvPr id="5" name="Text 3"/>
          <p:cNvSpPr/>
          <p:nvPr/>
        </p:nvSpPr>
        <p:spPr>
          <a:xfrm>
            <a:off x="914400" y="1965960"/>
            <a:ext cx="987552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PREGUNTA PARA DISCUTIR EN GRUPO</a:t>
            </a:r>
            <a:endParaRPr lang="en-US" sz="1300" dirty="0"/>
          </a:p>
        </p:txBody>
      </p:sp>
      <p:sp>
        <p:nvSpPr>
          <p:cNvPr id="6" name="Text 4"/>
          <p:cNvSpPr/>
          <p:nvPr/>
        </p:nvSpPr>
        <p:spPr>
          <a:xfrm>
            <a:off x="914400" y="2423160"/>
            <a:ext cx="10058400" cy="2377440"/>
          </a:xfrm>
          <a:prstGeom prst="rect">
            <a:avLst/>
          </a:prstGeom>
          <a:noFill/>
          <a:ln/>
        </p:spPr>
        <p:txBody>
          <a:bodyPr wrap="square" rtlCol="0" anchor="ctr"/>
          <a:lstStyle/>
          <a:p>
            <a:pPr indent="0" marL="0">
              <a:buNone/>
            </a:pPr>
            <a:r>
              <a:rPr lang="en-US" sz="2800" b="1" dirty="0">
                <a:solidFill>
                  <a:srgbClr val="FFFFFF"/>
                </a:solidFill>
                <a:latin typeface="Roboto" pitchFamily="34" charset="0"/>
                <a:ea typeface="Roboto" pitchFamily="34" charset="-122"/>
                <a:cs typeface="Roboto" pitchFamily="34" charset="-120"/>
              </a:rPr>
              <a:t>¿Por qué Burp Suite y OWASP ZAP necesitan que instalemos su propia CA como confiable en el navegador para poder interceptar tráfico HTTPS?</a:t>
            </a:r>
            <a:endParaRPr lang="en-US" sz="2800" dirty="0"/>
          </a:p>
        </p:txBody>
      </p:sp>
      <p:sp>
        <p:nvSpPr>
          <p:cNvPr id="7" name="Text 5"/>
          <p:cNvSpPr/>
          <p:nvPr/>
        </p:nvSpPr>
        <p:spPr>
          <a:xfrm>
            <a:off x="914400" y="4937760"/>
            <a:ext cx="9601200" cy="731520"/>
          </a:xfrm>
          <a:prstGeom prst="rect">
            <a:avLst/>
          </a:prstGeom>
          <a:noFill/>
          <a:ln/>
        </p:spPr>
        <p:txBody>
          <a:bodyPr wrap="square" rtlCol="0" anchor="ctr"/>
          <a:lstStyle/>
          <a:p>
            <a:pPr indent="0" marL="0">
              <a:buNone/>
            </a:pPr>
            <a:r>
              <a:rPr lang="en-US" sz="1350" i="1" dirty="0">
                <a:solidFill>
                  <a:srgbClr val="FBDAD8"/>
                </a:solidFill>
                <a:latin typeface="Roboto" pitchFamily="34" charset="0"/>
                <a:ea typeface="Roboto" pitchFamily="34" charset="-122"/>
                <a:cs typeface="Roboto" pitchFamily="34" charset="-120"/>
              </a:rPr>
              <a:t>Coméntenlo con la persona de al lado (2 minutos) antes de que el instructor comparta la respuesta de referencia. Se retoma en detalle en la Sesión 6.</a:t>
            </a:r>
            <a:endParaRPr lang="en-US" sz="1350" dirty="0"/>
          </a:p>
        </p:txBody>
      </p:sp>
      <p:sp>
        <p:nvSpPr>
          <p:cNvPr id="8" name="Shape 6"/>
          <p:cNvSpPr/>
          <p:nvPr/>
        </p:nvSpPr>
        <p:spPr>
          <a:xfrm rot="2700000">
            <a:off x="502920" y="6501384"/>
            <a:ext cx="82296" cy="82296"/>
          </a:xfrm>
          <a:prstGeom prst="rect">
            <a:avLst/>
          </a:prstGeom>
          <a:solidFill>
            <a:srgbClr val="FFFFFF"/>
          </a:solidFill>
          <a:ln/>
        </p:spPr>
      </p:sp>
      <p:sp>
        <p:nvSpPr>
          <p:cNvPr id="9" name="Text 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10" name="Text 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SÍNTESIS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Flujo completo de una solicitud web (ahora sí, en detalle)</a:t>
            </a:r>
            <a:endParaRPr lang="en-US" sz="2500" dirty="0"/>
          </a:p>
        </p:txBody>
      </p:sp>
      <p:sp>
        <p:nvSpPr>
          <p:cNvPr id="6" name="Shape 4"/>
          <p:cNvSpPr/>
          <p:nvPr/>
        </p:nvSpPr>
        <p:spPr>
          <a:xfrm>
            <a:off x="548640" y="2743200"/>
            <a:ext cx="1645920" cy="1371600"/>
          </a:xfrm>
          <a:prstGeom prst="roundRect">
            <a:avLst>
              <a:gd name="adj" fmla="val 5333"/>
            </a:avLst>
          </a:prstGeom>
          <a:solidFill>
            <a:srgbClr val="E2231A"/>
          </a:solidFill>
          <a:ln/>
        </p:spPr>
      </p:sp>
      <p:sp>
        <p:nvSpPr>
          <p:cNvPr id="7" name="Text 5"/>
          <p:cNvSpPr/>
          <p:nvPr/>
        </p:nvSpPr>
        <p:spPr>
          <a:xfrm>
            <a:off x="62179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DNS</a:t>
            </a:r>
            <a:endParaRPr lang="en-US" sz="1250" dirty="0"/>
          </a:p>
        </p:txBody>
      </p:sp>
      <p:sp>
        <p:nvSpPr>
          <p:cNvPr id="8" name="Text 6"/>
          <p:cNvSpPr/>
          <p:nvPr/>
        </p:nvSpPr>
        <p:spPr>
          <a:xfrm>
            <a:off x="62179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Nombre → IP (con caché y TTL)</a:t>
            </a:r>
            <a:endParaRPr lang="en-US" sz="1000" dirty="0"/>
          </a:p>
        </p:txBody>
      </p:sp>
      <p:sp>
        <p:nvSpPr>
          <p:cNvPr id="9" name="Text 7"/>
          <p:cNvSpPr/>
          <p:nvPr/>
        </p:nvSpPr>
        <p:spPr>
          <a:xfrm>
            <a:off x="219456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432304" y="2743200"/>
            <a:ext cx="1645920" cy="1371600"/>
          </a:xfrm>
          <a:prstGeom prst="roundRect">
            <a:avLst>
              <a:gd name="adj" fmla="val 5333"/>
            </a:avLst>
          </a:prstGeom>
          <a:solidFill>
            <a:srgbClr val="1A1A1A"/>
          </a:solidFill>
          <a:ln/>
        </p:spPr>
      </p:sp>
      <p:sp>
        <p:nvSpPr>
          <p:cNvPr id="11" name="Text 9"/>
          <p:cNvSpPr/>
          <p:nvPr/>
        </p:nvSpPr>
        <p:spPr>
          <a:xfrm>
            <a:off x="2505456"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IP</a:t>
            </a:r>
            <a:endParaRPr lang="en-US" sz="1250" dirty="0"/>
          </a:p>
        </p:txBody>
      </p:sp>
      <p:sp>
        <p:nvSpPr>
          <p:cNvPr id="12" name="Text 10"/>
          <p:cNvSpPr/>
          <p:nvPr/>
        </p:nvSpPr>
        <p:spPr>
          <a:xfrm>
            <a:off x="2505456"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Dirección del servidor</a:t>
            </a:r>
            <a:endParaRPr lang="en-US" sz="1000" dirty="0"/>
          </a:p>
        </p:txBody>
      </p:sp>
      <p:sp>
        <p:nvSpPr>
          <p:cNvPr id="13" name="Text 11"/>
          <p:cNvSpPr/>
          <p:nvPr/>
        </p:nvSpPr>
        <p:spPr>
          <a:xfrm>
            <a:off x="407822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4315968" y="2743200"/>
            <a:ext cx="1645920" cy="1371600"/>
          </a:xfrm>
          <a:prstGeom prst="roundRect">
            <a:avLst>
              <a:gd name="adj" fmla="val 5333"/>
            </a:avLst>
          </a:prstGeom>
          <a:solidFill>
            <a:srgbClr val="E2231A"/>
          </a:solidFill>
          <a:ln/>
        </p:spPr>
      </p:sp>
      <p:sp>
        <p:nvSpPr>
          <p:cNvPr id="15" name="Text 13"/>
          <p:cNvSpPr/>
          <p:nvPr/>
        </p:nvSpPr>
        <p:spPr>
          <a:xfrm>
            <a:off x="4389120"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TCP</a:t>
            </a:r>
            <a:endParaRPr lang="en-US" sz="1250" dirty="0"/>
          </a:p>
        </p:txBody>
      </p:sp>
      <p:sp>
        <p:nvSpPr>
          <p:cNvPr id="16" name="Text 14"/>
          <p:cNvSpPr/>
          <p:nvPr/>
        </p:nvSpPr>
        <p:spPr>
          <a:xfrm>
            <a:off x="4389120"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Handshake de conexión</a:t>
            </a:r>
            <a:endParaRPr lang="en-US" sz="1000" dirty="0"/>
          </a:p>
        </p:txBody>
      </p:sp>
      <p:sp>
        <p:nvSpPr>
          <p:cNvPr id="17" name="Text 15"/>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6199632" y="2743200"/>
            <a:ext cx="1645920" cy="1371600"/>
          </a:xfrm>
          <a:prstGeom prst="roundRect">
            <a:avLst>
              <a:gd name="adj" fmla="val 5333"/>
            </a:avLst>
          </a:prstGeom>
          <a:solidFill>
            <a:srgbClr val="1A1A1A"/>
          </a:solidFill>
          <a:ln/>
        </p:spPr>
      </p:sp>
      <p:sp>
        <p:nvSpPr>
          <p:cNvPr id="19" name="Text 17"/>
          <p:cNvSpPr/>
          <p:nvPr/>
        </p:nvSpPr>
        <p:spPr>
          <a:xfrm>
            <a:off x="6272784"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TLS</a:t>
            </a:r>
            <a:endParaRPr lang="en-US" sz="1250" dirty="0"/>
          </a:p>
        </p:txBody>
      </p:sp>
      <p:sp>
        <p:nvSpPr>
          <p:cNvPr id="20" name="Text 18"/>
          <p:cNvSpPr/>
          <p:nvPr/>
        </p:nvSpPr>
        <p:spPr>
          <a:xfrm>
            <a:off x="6272784"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Handshake de cifrado + certificado</a:t>
            </a:r>
            <a:endParaRPr lang="en-US" sz="1000" dirty="0"/>
          </a:p>
        </p:txBody>
      </p:sp>
      <p:sp>
        <p:nvSpPr>
          <p:cNvPr id="21" name="Text 19"/>
          <p:cNvSpPr/>
          <p:nvPr/>
        </p:nvSpPr>
        <p:spPr>
          <a:xfrm>
            <a:off x="784555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8083296" y="2743200"/>
            <a:ext cx="1645920" cy="1371600"/>
          </a:xfrm>
          <a:prstGeom prst="roundRect">
            <a:avLst>
              <a:gd name="adj" fmla="val 5333"/>
            </a:avLst>
          </a:prstGeom>
          <a:solidFill>
            <a:srgbClr val="E2231A"/>
          </a:solidFill>
          <a:ln/>
        </p:spPr>
      </p:sp>
      <p:sp>
        <p:nvSpPr>
          <p:cNvPr id="23" name="Text 21"/>
          <p:cNvSpPr/>
          <p:nvPr/>
        </p:nvSpPr>
        <p:spPr>
          <a:xfrm>
            <a:off x="8156448"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HTTP Request</a:t>
            </a:r>
            <a:endParaRPr lang="en-US" sz="1250" dirty="0"/>
          </a:p>
        </p:txBody>
      </p:sp>
      <p:sp>
        <p:nvSpPr>
          <p:cNvPr id="24" name="Text 22"/>
          <p:cNvSpPr/>
          <p:nvPr/>
        </p:nvSpPr>
        <p:spPr>
          <a:xfrm>
            <a:off x="8156448"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Método + cabeceras + cuerpo</a:t>
            </a:r>
            <a:endParaRPr lang="en-US" sz="1000" dirty="0"/>
          </a:p>
        </p:txBody>
      </p:sp>
      <p:sp>
        <p:nvSpPr>
          <p:cNvPr id="25" name="Text 23"/>
          <p:cNvSpPr/>
          <p:nvPr/>
        </p:nvSpPr>
        <p:spPr>
          <a:xfrm>
            <a:off x="972921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9966960" y="2743200"/>
            <a:ext cx="1645920" cy="1371600"/>
          </a:xfrm>
          <a:prstGeom prst="roundRect">
            <a:avLst>
              <a:gd name="adj" fmla="val 5333"/>
            </a:avLst>
          </a:prstGeom>
          <a:solidFill>
            <a:srgbClr val="1A1A1A"/>
          </a:solidFill>
          <a:ln/>
        </p:spPr>
      </p:sp>
      <p:sp>
        <p:nvSpPr>
          <p:cNvPr id="27" name="Text 25"/>
          <p:cNvSpPr/>
          <p:nvPr/>
        </p:nvSpPr>
        <p:spPr>
          <a:xfrm>
            <a:off x="1004011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HTTP Response</a:t>
            </a:r>
            <a:endParaRPr lang="en-US" sz="1250" dirty="0"/>
          </a:p>
        </p:txBody>
      </p:sp>
      <p:sp>
        <p:nvSpPr>
          <p:cNvPr id="28" name="Text 26"/>
          <p:cNvSpPr/>
          <p:nvPr/>
        </p:nvSpPr>
        <p:spPr>
          <a:xfrm>
            <a:off x="1004011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Código de estado + cabeceras + cuerpo</a:t>
            </a:r>
            <a:endParaRPr lang="en-US" sz="10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SÍNTESIS</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LABORATORIO 1 · DNS + HTTP/HTTPS + TLS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Laboratorio 1: lectura de flujo web — objetivo y arquitectura</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Objetivo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Relacionar el flujo DNS → IP → TCP → TLS → HTTP Request → HTTP Response con tráfico real, no simulado.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Arquitectura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Tu VM Kali resuelve www.laboratorio-bacci.test mediante el servidor BIND local que configuraste tú mismo en la Sesión 1 (alistamiento) hacia 127.0.0.1, donde corren dos servicios de práctica: Juice Shop en el puerto 3000 (HTTP) y un sitio en el puerto 8443 (HTTPS, con el certificado de tu propia CA de laboratorio).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Duración total</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90 minutos: demostración guiada en vivo + vista en DevTools + práctica individual, dentro de este bloque de la Sesión 2 (Fase 4, Laboratorio 1).</a:t>
            </a:r>
            <a:endParaRPr lang="en-US" sz="1250" dirty="0"/>
          </a:p>
        </p:txBody>
      </p:sp>
      <p:sp>
        <p:nvSpPr>
          <p:cNvPr id="18" name="Shape 16"/>
          <p:cNvSpPr/>
          <p:nvPr/>
        </p:nvSpPr>
        <p:spPr>
          <a:xfrm>
            <a:off x="548640" y="5623560"/>
            <a:ext cx="11064240" cy="685800"/>
          </a:xfrm>
          <a:prstGeom prst="roundRect">
            <a:avLst>
              <a:gd name="adj" fmla="val 10667"/>
            </a:avLst>
          </a:prstGeom>
          <a:solidFill>
            <a:srgbClr val="FCEBEA"/>
          </a:solidFill>
          <a:ln/>
        </p:spPr>
      </p:sp>
      <p:sp>
        <p:nvSpPr>
          <p:cNvPr id="19" name="Shape 17"/>
          <p:cNvSpPr/>
          <p:nvPr/>
        </p:nvSpPr>
        <p:spPr>
          <a:xfrm>
            <a:off x="548640" y="5623560"/>
            <a:ext cx="54864" cy="685800"/>
          </a:xfrm>
          <a:prstGeom prst="rect">
            <a:avLst/>
          </a:prstGeom>
          <a:solidFill>
            <a:srgbClr val="E2231A"/>
          </a:solidFill>
          <a:ln/>
        </p:spPr>
      </p:sp>
      <p:sp>
        <p:nvSpPr>
          <p:cNvPr id="20" name="Text 18"/>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A diferencia de una VM maestra preconfigurada, tú mismo levantas Juice Shop y el sitio HTTPS al inicio de este laboratorio — ninguno de los dos queda corriendo entre sesiones. El paso a paso para levantarlos está en la siguiente diapositiva (Paso 0).</a:t>
            </a:r>
            <a:endParaRPr lang="en-US" sz="12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LABORATORIO 1 · DNS + HTTP/HTTPS + TLS</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LABORATORIO 1 · ANTES DE EMPEZAR (PASO 0)</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Levanta los dos servicios de práctica en tu propia VM</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Juice Shop y el sitio HTTPS no quedan corriendo solos entre sesiones — enciéndelos tú mismo, cada uno en su propia terminal, antes de ejecutar el procedimiento:</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juice-shop</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Terminal 1 — déjala abierta; Juice Shop queda escuchando en el puerto 3000 mientras corra en primer plano</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s_server -accept 8443 -cert server.crt -key server.key -www</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Terminal 2 — déjala abierta; usa los mismos server.crt/server.key del alistamiento (Sesión 1) — -www minúscula, no -WWW</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www.laboratorio-bacci.test +short</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Terminal 3 — confirma que BIND (Sesión 1) resuelve a 127.0.0.1 antes de continuar</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-s -o /dev/null --cacert lab-ca.crt -w "%{http_code}\n" https://www.laboratorio-bacci.test:8443</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Terminal 3 — confirma que el sitio HTTPS responde 200</a:t>
            </a:r>
            <a:endParaRPr lang="en-US" sz="110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LABORATORIO 1 · ANTES DE EMPEZAR (PASO 0)</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LABORATORIO 1, PASOS 1-5</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DNS, HTTP y TLS en vivo — sobre el entorno real del laboratorio</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Ejecutar cada comando sobre www.laboratorio-bacci.test y explicar la salida completa antes de pasar al siguiente (Fase 4, Laboratorio 1, procedimiento).</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www.laboratorio-bacci.test +short</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Paso 1 — confirmar que resuelve a 127.0.0.1</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dig www.laboratorio-bacci.test +trace</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Paso 2 — contrastar con la resolución local vía tu servidor BIND</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-v http://www.laboratorio-bacci.test:3000</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Paso 3 — TCP, solicitud, cabeceras de respuesta y código de estado (HTTP)</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openssl s_client -connect www.laboratorio-bacci.test:8443 -servername www.laboratorio-bacci.test</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Paso 4 — observar el certificado presentado (HTTPS)</a:t>
            </a:r>
            <a:endParaRPr lang="en-US" sz="1100" dirty="0"/>
          </a:p>
        </p:txBody>
      </p:sp>
      <p:sp>
        <p:nvSpPr>
          <p:cNvPr id="23" name="Shape 21"/>
          <p:cNvSpPr/>
          <p:nvPr/>
        </p:nvSpPr>
        <p:spPr>
          <a:xfrm>
            <a:off x="548640" y="4882896"/>
            <a:ext cx="11064240" cy="566928"/>
          </a:xfrm>
          <a:prstGeom prst="roundRect">
            <a:avLst>
              <a:gd name="adj" fmla="val 8065"/>
            </a:avLst>
          </a:prstGeom>
          <a:solidFill>
            <a:srgbClr val="1A1A1A"/>
          </a:solidFill>
          <a:ln/>
        </p:spPr>
      </p:sp>
      <p:sp>
        <p:nvSpPr>
          <p:cNvPr id="24" name="Shape 22"/>
          <p:cNvSpPr/>
          <p:nvPr/>
        </p:nvSpPr>
        <p:spPr>
          <a:xfrm>
            <a:off x="548640" y="4882896"/>
            <a:ext cx="54864" cy="566928"/>
          </a:xfrm>
          <a:prstGeom prst="rect">
            <a:avLst/>
          </a:prstGeom>
          <a:solidFill>
            <a:srgbClr val="E2231A"/>
          </a:solidFill>
          <a:ln/>
        </p:spPr>
      </p:sp>
      <p:sp>
        <p:nvSpPr>
          <p:cNvPr id="25" name="Text 23"/>
          <p:cNvSpPr/>
          <p:nvPr/>
        </p:nvSpPr>
        <p:spPr>
          <a:xfrm>
            <a:off x="822960" y="4882896"/>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-v --cacert lab-ca.crt https://www.laboratorio-bacci.test:8443</a:t>
            </a:r>
            <a:endParaRPr lang="en-US" sz="1300" dirty="0"/>
          </a:p>
        </p:txBody>
      </p:sp>
      <p:sp>
        <p:nvSpPr>
          <p:cNvPr id="26" name="Text 24"/>
          <p:cNvSpPr/>
          <p:nvPr/>
        </p:nvSpPr>
        <p:spPr>
          <a:xfrm>
            <a:off x="6949440" y="4882896"/>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Paso 5 — comparar contra el paso 3, ahora en HTTPS</a:t>
            </a:r>
            <a:endParaRPr lang="en-US" sz="1100" dirty="0"/>
          </a:p>
        </p:txBody>
      </p:sp>
      <p:sp>
        <p:nvSpPr>
          <p:cNvPr id="27" name="Shape 25"/>
          <p:cNvSpPr/>
          <p:nvPr/>
        </p:nvSpPr>
        <p:spPr>
          <a:xfrm rot="2700000">
            <a:off x="502920" y="6501384"/>
            <a:ext cx="82296" cy="82296"/>
          </a:xfrm>
          <a:prstGeom prst="rect">
            <a:avLst/>
          </a:prstGeom>
          <a:solidFill>
            <a:srgbClr val="E2231A"/>
          </a:solidFill>
          <a:ln/>
        </p:spPr>
      </p:sp>
      <p:sp>
        <p:nvSpPr>
          <p:cNvPr id="28" name="Text 2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LABORATORIO 1, PASOS 1-5</a:t>
            </a:r>
            <a:endParaRPr lang="en-US" sz="800" dirty="0"/>
          </a:p>
        </p:txBody>
      </p:sp>
      <p:sp>
        <p:nvSpPr>
          <p:cNvPr id="29" name="Text 2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LABORATORIO 1, PASO 6</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Firefox DevTools: la vista gráfica del mismo flujo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Abrir DevTools → pestaña Network</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F12 o clic derecho → Inspeccionar.</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Navegar a http://www.laboratorio-bacci.test:3000 y a https://www.laboratorio-bacci.test:8443</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Observar la lista de solicitudes en cada uno; cada fila es una solicitud HTTP distinta.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Seleccionar una solicitud y revisar Headers, Cookies y Response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Correlacionar con lo visto por línea de comandos en los pasos 3 a 5.</a:t>
            </a:r>
            <a:endParaRPr lang="en-US" sz="1250" dirty="0"/>
          </a:p>
        </p:txBody>
      </p:sp>
      <p:sp>
        <p:nvSpPr>
          <p:cNvPr id="18" name="Shape 16"/>
          <p:cNvSpPr/>
          <p:nvPr/>
        </p:nvSpPr>
        <p:spPr>
          <a:xfrm>
            <a:off x="548640" y="5623560"/>
            <a:ext cx="11064240" cy="685800"/>
          </a:xfrm>
          <a:prstGeom prst="roundRect">
            <a:avLst>
              <a:gd name="adj" fmla="val 10667"/>
            </a:avLst>
          </a:prstGeom>
          <a:solidFill>
            <a:srgbClr val="FCEBEA"/>
          </a:solidFill>
          <a:ln/>
        </p:spPr>
      </p:sp>
      <p:sp>
        <p:nvSpPr>
          <p:cNvPr id="19" name="Shape 17"/>
          <p:cNvSpPr/>
          <p:nvPr/>
        </p:nvSpPr>
        <p:spPr>
          <a:xfrm>
            <a:off x="548640" y="5623560"/>
            <a:ext cx="54864" cy="685800"/>
          </a:xfrm>
          <a:prstGeom prst="rect">
            <a:avLst/>
          </a:prstGeom>
          <a:solidFill>
            <a:srgbClr val="E2231A"/>
          </a:solidFill>
          <a:ln/>
        </p:spPr>
      </p:sp>
      <p:sp>
        <p:nvSpPr>
          <p:cNvPr id="20" name="Text 18"/>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es el mismo tipo de vista que se usará con Burp History y ZAP History en las Sesiones 6 y 7 — es una introducción intencional a esa interfaz.</a:t>
            </a:r>
            <a:endParaRPr lang="en-US" sz="12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LABORATORIO 1, PASO 6</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En DevTools → Network revisas una respuesta y ves la cabecera Set-Cookie: session=xyz; Secure; HttpOnly. ¿Qué implica el atributo Secure?</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Que la cookie nunca se puede leer, ni siquiera por el propio servidor que la creó.</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Que la cookie solo se enviará por conexiones HTTPS, nunca por HTTP sin cifrar.</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Que la cookie es válida únicamente durante 24 horas desde su creación.</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Que la cookie solo funciona en Firefox y no en otros navegadores.</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LABORATORIO 1 · TRABAJO INDIVIDUAL</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Repite tú mismo el Laboratorio 1 completo</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Repetir individualmente, en tu propia VM Kali, los 7 pasos del procedimiento del Laboratorio 1 ejecutados en la demostración — para pasar de "ver" a "hacer", y completar tu propia evidencia.</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Paso 0 (si no las dejaste abiertas) — en tu propia VM, levanta Juice Shop y el sitio HTTPS cada uno en su terminal dedicada, igual que en la diapositiva del Paso 0.</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Paso 1-2 — dig www.laboratorio-bacci.test +short y +trace; compara con lo visto en la demostración.</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Paso 3 — curl -v http://www.laboratorio-bacci.test:3000; anota conexión TCP, cabeceras y código de estado.</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Paso 4-5 — openssl s_client ... :8443 y curl -v --cacert lab-ca.crt https://...:8443; identifica el emisor del certificado y compara con el paso 3.</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Paso 6-7 — abre ambas URL en Firefox DevTools → Network, correlaciona con lo observado por comandos, y completa en tu bitácora el diagrama DNS → IP → TCP → TLS → HTTP Request → HTTP Response con los valores reales que obtuviste.</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Diagrama completo del flujo (HTTP y HTTPS) con valores reales, más la bitácora con las 5 capturas de comando comentadas (qué muestra cada una y por qué importa) — evidencia formal del Laboratorio 1 (Fase 4).</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LABORATORIO 1 · TRABAJO INDIVIDUAL</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LABORATORIO 1 · PROBLEMAS FRECUENTES Y EVIDENCIA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Si algo no funcionó: problemas frecuentes del Laboratorio 1</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BIND dejó de resolver el dominio de laboratorio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Ejecuta dig www.laboratorio-bacci.test +short; si no responde, repite el Paso 0 (echo nameserver 127.0.0.1 | sudo tee /etc/resolv.conf y sudo systemctl restart named — el servicio se llama named, no bind9).</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Olvidaste levantar Juice Shop o el sitio HTTPS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Ambos son procesos en primer plano que no sobreviven un reinicio — repite el Paso 0 en una terminal dedicada para cada uno.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Confundir el servicio HTTP (3000) con el HTTPS (8443)</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Son dos servicios de práctica distintos, no el mismo en dos protocolos — revisa el puerto en cada comando.</a:t>
            </a:r>
            <a:endParaRPr lang="en-US" sz="1250" dirty="0"/>
          </a:p>
        </p:txBody>
      </p:sp>
      <p:sp>
        <p:nvSpPr>
          <p:cNvPr id="18" name="Shape 16"/>
          <p:cNvSpPr/>
          <p:nvPr/>
        </p:nvSpPr>
        <p:spPr>
          <a:xfrm>
            <a:off x="548640" y="5623560"/>
            <a:ext cx="11064240" cy="685800"/>
          </a:xfrm>
          <a:prstGeom prst="roundRect">
            <a:avLst>
              <a:gd name="adj" fmla="val 10667"/>
            </a:avLst>
          </a:prstGeom>
          <a:solidFill>
            <a:srgbClr val="FCEBEA"/>
          </a:solidFill>
          <a:ln/>
        </p:spPr>
      </p:sp>
      <p:sp>
        <p:nvSpPr>
          <p:cNvPr id="19" name="Shape 17"/>
          <p:cNvSpPr/>
          <p:nvPr/>
        </p:nvSpPr>
        <p:spPr>
          <a:xfrm>
            <a:off x="548640" y="5623560"/>
            <a:ext cx="54864" cy="685800"/>
          </a:xfrm>
          <a:prstGeom prst="rect">
            <a:avLst/>
          </a:prstGeom>
          <a:solidFill>
            <a:srgbClr val="E2231A"/>
          </a:solidFill>
          <a:ln/>
        </p:spPr>
      </p:sp>
      <p:sp>
        <p:nvSpPr>
          <p:cNvPr id="20" name="Text 18"/>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Preguntas de evaluación del laboratorio (Fase 4): ¿qué campo de la respuesta HTTP confirma que el servidor procesó la solicitud correctamente? ¿qué certificado presentó el servidor HTTPS y quién lo firmó? ¿qué diferencia observaste entre curl -v en HTTP y en HTTPS?</a:t>
            </a:r>
            <a:endParaRPr lang="en-US" sz="1200" dirty="0"/>
          </a:p>
        </p:txBody>
      </p:sp>
      <p:sp>
        <p:nvSpPr>
          <p:cNvPr id="21" name="Shape 19"/>
          <p:cNvSpPr/>
          <p:nvPr/>
        </p:nvSpPr>
        <p:spPr>
          <a:xfrm rot="2700000">
            <a:off x="502920" y="6501384"/>
            <a:ext cx="82296" cy="82296"/>
          </a:xfrm>
          <a:prstGeom prst="rect">
            <a:avLst/>
          </a:prstGeom>
          <a:solidFill>
            <a:srgbClr val="E2231A"/>
          </a:solidFill>
          <a:ln/>
        </p:spPr>
      </p:sp>
      <p:sp>
        <p:nvSpPr>
          <p:cNvPr id="22" name="Text 20"/>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LABORATORIO 1 · PROBLEMAS FRECUENTES Y EVIDENCIA</a:t>
            </a:r>
            <a:endParaRPr lang="en-US" sz="800" dirty="0"/>
          </a:p>
        </p:txBody>
      </p:sp>
      <p:sp>
        <p:nvSpPr>
          <p:cNvPr id="23" name="Text 21"/>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ejercicio de lectura estructurada de solicitudes y respuestas.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ACTIVIDAD GUIADA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Ejercicio: lectura estructurada de solicitudes y respuestas</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Leer e interpretar correctamente solicitudes/respuestas HTTP controladas, identificando método, cabeceras clave y código de estado.</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0-3 — En parejas, reciban 3 capturas de solicitud/respuesta HTTP (proporcionadas por el instructor, del caso de práctica del curso — Juice Shop o el sitio HTTPS de laboratorio, nunca un sitio externo real).</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3-15 — Para la captura 1: identifiquen método, código de estado y 2 cabeceras relevantes; indiquen si fue HTTP o HTTPS y qué evidencia lo demuestra.</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15-27 — Repitan el mismo análisis para las capturas 2 y 3.</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27-32 — Completen la tabla comparando las 3 capturas: ¿qué patrones se repiten?, ¿qué diferencias notaron entre HTTP y HTTPS?</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32-35 — Anoten en la bitácora una duda puntual para la socialización.</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Tabla completada (método, código, cabeceras, HTTP/HTTPS) para las 3 capturas, en la bitácora.</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35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ACTIVIDAD GUIADA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TRABAJO EN GRUPO</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35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El instructor circula por el aula resolviendo dudas puntuales.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SOCIALIZACIÓN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Compartamos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2-3 parejas presentan una de sus 3 capturas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Explicando método, código de estado y cabeceras identificadas.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grupo comenta discrepancias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¿Todos identificaron el mismo código de estado? ¿Por qué sí o no?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instructor cierra conectando con el flujo completo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Vinculando cada hallazgo con el diagrama DNS→...→HTTP Response.</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SOCIALIZACIÓN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 LA SESIÓN 2 · FIN DEL DÍA 1</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Próxima sesión: OSINT aplicado a infraestructura web</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Metodología OSINT, fuentes públicas y evaluación de confiabilidad</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Reconocimiento pasivo vs. activo, y límites legales y éticos</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Certificate Transparency, motores de búsqueda y correlación de fuentes</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Laboratorio 2: inventario OSINT autorizado sobre un dominio real (example.com)</a:t>
            </a:r>
            <a:endParaRPr lang="en-US" sz="1350" dirty="0"/>
          </a:p>
        </p:txBody>
      </p:sp>
      <p:sp>
        <p:nvSpPr>
          <p:cNvPr id="18" name="Text 16"/>
          <p:cNvSpPr/>
          <p:nvPr/>
        </p:nvSpPr>
        <p:spPr>
          <a:xfrm>
            <a:off x="822960" y="5358384"/>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Encuesta de comprensión y bitácora de conceptos: registrar los 3 aprendizajes clave y 1 duda antes de salir. Si esta sesión se extendió más allá del horario previsto, su cierre puede completarse al inicio de la Sesión 3.</a:t>
            </a:r>
            <a:endParaRPr lang="en-US" sz="1400" dirty="0"/>
          </a:p>
        </p:txBody>
      </p:sp>
      <p:sp>
        <p:nvSpPr>
          <p:cNvPr id="19" name="Text 17"/>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2 — DNS, HTTP/HTTPS y TLS</dc:title>
  <dc:subject>PptxGenJS Presentation</dc:subject>
  <dc:creator>REDNEET — Capacitación 40 horas CENAC Telemática</dc:creator>
  <cp:lastModifiedBy>REDNEET — Capacitación 40 horas CENAC Telemática</cp:lastModifiedBy>
  <cp:revision>1</cp:revision>
  <dcterms:created xsi:type="dcterms:W3CDTF">2026-08-17T17:55:08Z</dcterms:created>
  <dcterms:modified xsi:type="dcterms:W3CDTF">2026-08-17T17:55:08Z</dcterms:modified>
</cp:coreProperties>
</file>