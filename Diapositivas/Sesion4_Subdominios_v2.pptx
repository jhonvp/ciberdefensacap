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la bienvenida a la jornada de la tarde y situar los subdominios como el segundo eje de reconocimiento pasivo del curso.
NOTAS DETALLADAS DEL EXPOSITOR:
Esta sesión continúa directamente donde terminó la Sesión 3 esta misma mañana: los hallazgos de Certificate Transparency, WHOIS y búsqueda avanzada de la mañana son el insumo de entrada de la organización de subdominios de la tarde. El ejercicio de aplicación de hoy formaliza la Evaluación Formativa 1 (EF1) prevista en el documento fuente. Recordar que hoy no se aprende una fuente nueva, se aprende a transformar hallazgos dispersos en un inventario ordenado y defendible.
EJEMPLO O ANALOGÍA:
Ninguno; es la portada de apertura.
PREGUNTA DE PARTICIPACIÓN:
De los subdominios que encontraron esta mañana en example.com, ¿cuántos creen que realmente responden hoy?
TRANSICIÓN A LA SIGUIENTE DIAPOSITIVA:
Pasar a la agenda de la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mapa mental de la jornada vespertina antes de entrar en materia.
NOTAS DETALLADAS DEL EXPOSITOR:
Misma lógica de 4 horas y una sola pausa que la Sesión 3. El bloque conceptual presenta el ciclo completo de 6 pasos antes de la pausa; después de la pausa el énfasis es completamente práctico: demostración de comandos, detección de casos especiales (wildcard, IP privada, dangling) y el ejercicio de inventario final, que es la Evaluación Formativa 1 (EF1) del curso.
EJEMPLO O ANALOGÍA:
No aplica.
PREGUNTA DE PARTICIPACIÓN:
¿Alguna pregunta logística antes de comenzar?
TRANSICIÓN A LA SIGUIENTE DIAPOSITIVA:
Iniciar con la recuperación de dudas de la Sesión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dudas pendientes de la Sesión 3 antes de construir sobre esa base.
NOTAS DETALLADAS DEL EXPOSITOR:
Usar el registro de la encuesta de comprensión y bitácora de la Sesión 3 (diapositiva 24 de esa sesión) como insumo real. Conectar explícitamente: los hallazgos de Certificate Transparency de esta mañana son candidatos crudos; hoy se los somete a un proceso formal de validación y documentación.
EJEMPLO O ANALOGÍA:
No aplica.
PREGUNTA DE PARTICIPACIÓN:
¿Qué fuente OSINT de esta mañana les generó más hallazgos de subdominios: Certificate Transparency, WHOIS o búsqueda avanzada?
TRANSICIÓN A LA SIGUIENTE DIAPOSITIVA:
Presentar el ciclo completo que se seguirá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el ciclo completo de 6 pasos, contenido obligatorio de la Fase 2, Sesión 4, que estructura toda la jornada y coincide exactamente con el procedimiento del Laboratorio 3 (Fase 4).
NOTAS DETALLADAS DEL EXPOSITOR:
Concepto obligatorio de la Fase 2, Sesión 4: ciclo completo descubrimiento → validación → deduplicación → clasificación → priorización → documentación. Cada uno de los siguientes bloques de esta sesión corresponde a uno o más de estos pasos — señalar explícitamente esa correspondencia a medida que se avanza. Este ciclo es literalmente el procedimiento del Laboratorio 3 de la Fase 4.
EJEMPLO O ANALOGÍA:
Es como organizar una lista de contactos recolectados en una feria: primero se junta todo (descubrimiento), se confirma que cada número funciona (validación), se eliminan los repetidos (deduplicación), se agrupan por tipo de contacto (clasificación), se decide a quién llamar primero (priorización) y se guarda todo en una agenda ordenada (documentación).
DIAGRAMA RECOMENDADO:
Cadena de 6 cajas: Descubrimiento → Validación → Deduplicación → Clasificación → Priorización → Documentación, como se muestra en la diapositiva.
PREGUNTA DE PARTICIPACIÓN:
(Se comprueba con un quiz antes de profundizar.)
TRANSICIÓN A LA SIGUIENTE DIAPOSITIVA:
Comprobar la comprensión del ciclo antes de profundizar en el primer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memorizó el orden correcto del ciclo de 6 pasos antes de verlo aplicado en la demostración.
NOTAS DETALLADAS DEL EXPOSITOR:
Pregunta de elaboración propia sobre el orden del ciclo (diapositiva anterior). El orden correcto importa: no tiene sentido clasificar candidatos que aún no se validaron, ni priorizar antes de deduplicar (se estaría priorizando entradas repetidas). Error común de los participantes: confundir 'validación' con 'clasificación' porque ambas suenan a 'evaluar el hallazgo' — la validación solo confirma si resuelve o no, sin juzgar todavía su función ni su importancia.
PREGUNTA DE PARTICIPACIÓN:
(La pregunta de participación de este bloque es el quiz mismo.)
RESPUESTA CORRECTA Y POR QUÉ:
C — el orden completo es descubrimiento → validación → deduplicación → clasificación → priorización → documentación. Clasificación y priorización van después de deduplicar y antes de documentar en la tabla final.
TRANSICIÓN A LA SIGUIENTE DIAPOSITIVA:
Profundizar en la diferencia entre el primer paso (descubrimiento) y el segundo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Fijar la diferencia entre el listado de candidatos (resultado del descubrimiento pasivo) y su validación mediante resolución DNS controlada, contenido obligatorio de la Fase 2.
NOTAS DETALLADAS DEL EXPOSITOR:
Concepto obligatorio de la Fase 2, Sesión 4. Aclarar que dig +short sobre un nombre específico ya conocido es una consulta DNS puntual y controlada, distinta de un escaneo activo o fuerza bruta de nombres — se mantiene dentro del reconocimiento pasivo/controlado definido en la Sesión 3. Pregunta difícil del banco (P6 de Sesión 4): en este curso la validación se limita a resolución DNS pasiva/controlada; el escaneo de servicios excede el alcance definido en el plan.
EJEMPLO O ANALOGÍA:
Es como tener una lista de direcciones postales (candidatos) y luego confirmar cuáles de esas casas realmente tienen a alguien viviendo hoy (validación).
PREGUNTA DE PARTICIPACIÓN:
¿Por qué consultar dig +short sobre un nombre ya conocido no se considera reconocimiento activo?
TRANSICIÓN A LA SIGUIENTE DIAPOSITIVA:
Ver ahora qué ocurre cuando un candidato no resuelve: el concepto de falso positivo.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Definir con precisión el concepto de falso positivo en subdominios, contenido obligatorio de la Fase 2, y prevenir la tentación de descartarlos sin registro.
NOTAS DETALLADAS DEL EXPOSITOR:
Pregunta difícil del banco de la Fase 2 (P1 de Sesión 4): un subdominio que no resuelve no necesariamente deja de representar riesgo — puede indicar un registro DNS colgante (dangling), que sigue siendo un hallazgo relevante a documentar y reportar. Este matiz es fácil de pasar por alto y vale la pena remarcarlo antes de la demostración, donde aparecerá un caso real de dangling en el dataset.
EJEMPLO O ANALOGÍA:
Es como encontrar un cartel con un número de teléfono desconectado: el número ya no funciona, pero el cartel (y lo que representaba) sigue siendo un dato relevante para investigar.
PREGUNTA DE PARTICIPACIÓN:
¿Por qué un subdominio 'dev' que ya no resuelve podría seguir siendo importante de reportar?
TRANSICIÓN A LA SIGUIENTE DIAPOSITIVA:
Ver ahora cómo se clasifican los subdominios que sí resuelven.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los tres criterios de clasificación obligatorios del curso, que alimentan directamente la tabla de inventario final.
NOTAS DETALLADAS DEL EXPOSITOR:
Concepto obligatorio de la Fase 2, Sesión 4. Aclarar que la función (producción/staging/desarrollo) suele inferirse del propio nombre del subdominio (ej. 'staging.', 'dev.'), pero es una inferencia, no una certeza — debe anotarse como tal. Ojo con una imprecisión frecuente: de estos tres criterios, solo 'confianza' aparece como columna explícita en la tabla de inventario final (diapositiva 17); función y antigüedad no tienen columna propia, pero son el insumo que permite llenar correctamente la columna de prioridad — evitar decir que 'los tres se copian directo a la tabla'.
EJEMPLO O ANALOGÍA:
Es similar a clasificar correspondencia recibida: por tipo de remitente (función), por fecha de envío (antigüedad) y por qué tan confiable es esa fuente de correo (confianza).
PREGUNTA DE PARTICIPACIÓN:
Si un subdominio se llama 'staging.laboratorio-bacci.test', ¿es seguro asumir su función solo por el nombre?
TRANSICIÓN A LA SIGUIENTE DIAPOSITIVA:
Antes de seguir, aclarar un matiz importante sobre qué significa el nivel de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Corregir la interpretación errónea de que un nivel de confianza bajo equivale a un hallazgo inválido, contenido obligatorio de la Fase 2.
NOTAS DETALLADAS DEL EXPOSITOR:
Pregunta difícil del banco de la Fase 2 (P2 de Sesión 4, sobre profundización): un subdominio con múltiples fuentes coincidentes tiene mayor nivel de confianza que uno hallado por una sola fuente aislada, pero esto es un metadato para priorizar la revisión, no un criterio para excluir hallazgos del inventario. Todo candidato validado permanece documentado, independientemente de su nivel de confianza.
EJEMPLO O ANALOGÍA:
Es como una alerta de tránsito reportada por un solo usuario en una app de mapas frente a una reportada por veinte usuarios: la primera no se descarta, simplemente se le da menor prioridad de verificación inmediata.
PREGUNTA DE PARTICIPACIÓN:
(Se lleva a la diapositiva siguiente como pregunta de discusión en pantalla.)
TRANSICIÓN A LA SIGUIENTE DIAPOSITIVA:
Proyectar la pregunta de discusión antes de la pausa.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Llevar a pantalla, para discusión visible de todo el grupo, la pregunta de participación que antes solo vivía en las notas del expositor.
NOTAS DETALLADAS DEL EXPOSITOR:
Pregunta de elaboración propia sobre el concepto de confianza como metadato (diapositiva anterior). Dar 2 minutos de comentario en parejas antes de pedir 1-2 respuestas al grupo completo.
EJEMPLO O ANALOGÍA:
Es la misma lógica periodística: una fuente única no invalida la noticia, solo obliga a etiquetarla como "por confirmar".
PREGUNTA DE PARTICIPACIÓN:
(Es la pregunta central de esta diapositiva.)
RESPUESTA CORRECTA Y POR QUÉ:
Se documenta igual que cualquier otro hallazgo, marcando explícitamente su nivel de confianza como bajo (fuente única, sin corroborar). No se descarta del inventario; se prioriza para verificación posterior cuando haya oportunidad de consultar una segunda fuente.
TRANSICIÓN A LA SIGUIENTE DIAPOSITIVA:
Con la respuesta de referencia dada, pasar a la pausa antes de la demostración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descanso programado entre el bloque conceptual y la demostración práctica.
NOTAS DETALLADAS DEL EXPOSITOR:
Aprovechar para verificar que el archivo candidatos.txt (dataset de subdominios de la Fase 4) está distribuido en todas las VM y que el servidor BIND local configurado en la Sesión 1 (zona laboratorio-bacci.test) sigue activo, incluyendo el registro wildcard de prueba — no se usan entradas en /etc/hosts en ningún momento del curso, precisamente porque /etc/hosts no puede expresar un wildcard y este laboratorio depende de detectarlo con dig.
PREGUNTA DE PARTICIPACIÓN:
No aplica durante la pausa.
TRANSICIÓN A LA SIGUIENTE DIAPOSITIVA:
Retomar con la demostración de validación por línea de comandos.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en vivo la validación de varios candidatos del dataset (paso 3 del procedimiento del Laboratorio 3), mostrando los distintos resultados posibles: resuelve, CNAME, no resuelve, IP privada.
NOTAS DETALLADAS DEL EXPOSITOR:
Estos cuatro candidatos provienen directamente del dataset de subdominios diseñado en la Fase 4 (sección 1.3): www (control positivo), staging (CNAME, caso antiguo), dev (dangling, NO resuelve) y vpn (resuelve a 10.10.10.10, la IP privada RFC 1918 configurada en la zona BIND de la Sesión 1). Cada resultado ejemplifica un concepto distinto ya visto en el bloque conceptual — señalarlo explícitamente al ejecutar cada comando. Troubleshooting frecuente: si algún equipo obtiene NXDOMAIN o timeout en vez de estos resultados, lo primero que hay que revisar es que el resolvedor DNS de esa VM siga apuntando al servidor BIND local (named) configurado en la Sesión 1 y no a un DNS público, ya que laboratorio-bacci.test no existe fuera de ese servidor.
EJEMPLO O ANALOGÍA:
Es como llamar uno por uno a una lista de números: algunos contestan (resuelve), algunos redirigen la llamada a otro número (CNAME), y algunos ya no existen (no resuelve).
COMANDO / DEMOSTRACIÓN:
dig www.laboratorio-bacci.test +short &amp;&amp; dig staging.laboratorio-bacci.test +short &amp;&amp; dig dev.laboratorio-bacci.test +short &amp;&amp; dig vpn.laboratorio-bacci.test +short
PREGUNTA DE PARTICIPACIÓN:
¿Qué deberían anotar en la columna 'resuelve' del inventario para el candidato vpn, y qué nota adicional amerita?
TRANSICIÓN A LA SIGUIENTE DIAPOSITIVA:
Antes de seguir validando, un caso especial que puede engañar a todo el ejercicio: el wildcard DNS.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Enseñar explícitamente a detectar un registro wildcard antes de confiar en los resultados de validación, error crítico documentado como práctica previa obligatoria del instructor en la Fase 4.
NOTAS DETALLADAS DEL EXPOSITOR:
Pregunta difícil del banco de la Fase 2 (P8 de Sesión 4): un registro comodín (*.dominio.com) hace que cualquier subdominio, exista o no, resuelva a la misma IP, generando posibles falsos positivos masivos si no se detecta antes de validar candidatos. El dataset de la Fase 4 incluye deliberadamente un wildcard de prueba (*.laboratorio-bacci.test) para que el grupo lo descubra en este momento. Error documentado en la ficha del Laboratorio 3: no detectar el wildcard y tratar los falsos positivos como hallazgos reales.
EJEMPLO O ANALOGÍA:
Es como un buzón que acepta cualquier nombre escrito en el sobre y siempre entrega algo: no significa que esa persona realmente viva ahí.
COMANDO / DEMOSTRACIÓN:
dig nombre-totalmente-inventado-xyz.laboratorio-bacci.test +short
PREGUNTA DE PARTICIPACIÓN:
(Se comprueba con un quiz antes de seguir.)
TRANSICIÓN A LA SIGUIENTE DIAPOSITIVA:
Comprobar la comprensión del wildcard antes de pasar a la deduplicación.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entendió el impacto retroactivo de un wildcard sobre toda la validación ya hecha, antes de pasar a deduplicación.
NOTAS DETALLADAS DEL EXPOSITOR:
Pregunta de elaboración propia sobre el concepto de la diapositiva anterior. Es el error más crítico del laboratorio: si no se prueba un nombre inventado ANTES de confiar en los resultados, se corre el riesgo de dar por válidos hallazgos que en realidad son artefactos del wildcard.
PREGUNTA DE PARTICIPACIÓN:
(La pregunta de participación de este bloque es el quiz mismo.)
RESPUESTA CORRECTA Y POR QUÉ:
B — un wildcard hace que cualquier nombre bajo ese dominio resuelva, exista o no. Esto obliga a revisar todos los candidatos anteriores como posibles falsos positivos, no a descartarlos automáticamente, sino a tratarlos con ese contexto adicional documentado.
TRANSICIÓN A LA SIGUIENTE DIAPOSITIVA:
Con la validación resuelta, pasar a la deduplicación de la lista consolidada.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Distinguir con precisión entre normalizar y deduplicar, y establecer el orden correcto de ambas operaciones, pregunta difícil documentada en la Fase 2.
NOTAS DETALLADAS DEL EXPOSITOR:
Pregunta difícil del banco de la Fase 2 (P3 de Sesión 4): deduplicar elimina entradas idénticas repetidas; normalizar homogeniza el formato (minúsculas, sin espacios) antes de deduplicar, para no dejar duplicados ocultos por diferencias de formato. Error común documentado en Fase 2: duplicar registros por diferencias de mayúsculas/minúsculas o espacios al consolidar manualmente — el dataset de la Fase 4 incluye deliberadamente WWW.laboratorio-bacci.test y www.laboratorio-bacci.test. (con punto final) como casos de práctica de este error.
EJEMPLO O ANALOGÍA:
Es como alfabetizar una lista de nombres antes de buscar repetidos: si no se homogeniza mayúsculas y acentos primero, 'Juan' y 'juan' parecerán dos personas distintas.
COMANDO / DEMOSTRACIÓN:
tr 'A-Z' 'a-z' &lt; candidatos.txt | sed 's/\.$//' &gt; normalizado.txt &amp;&amp; sort -u normalizado.txt &gt; unico.txt
PREGUNTA DE PARTICIPACIÓN:
En el dataset de hoy, ¿cuántas entradas distintas en el archivo corresponden en realidad al mismo subdominio www?
TRANSICIÓN A LA SIGUIENTE DIAPOSITIVA:
Ver ahora dos casos especiales que requieren una nota adicional en el inventario, más allá de resuelve/no resuelve.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dos casos especiales del dataset de práctica que exigen documentación adicional más allá del simple resuelve/no resuelve.
NOTAS DETALLADAS DEL EXPOSITOR:
Pregunta difícil del banco de la Fase 2 (P2 y P3 de profundización de Sesión 4): un subdominio que resuelve a una IP privada (RFC 1918) descubierto por una fuente pública se documenta tal cual, sin asumir automáticamente que es un error de configuración — puede ser información sensible expuesta involuntariamente. Sobre priorización: la decisión entre un subdominio de producción recién detectado y uno legacy con certificado expirado se apoya en los criterios de clasificación ya vistos (función, antigüedad, confianza), sumados a un cuarto factor práctico que se introduce aquí por primera vez, la exposición real del hallazgo (¿es alcanzable y visible, como vpn con su IP privada, o es un rastro histórico de bajo impacto inmediato, como old-portal?) — nunca de forma subjetiva.
EJEMPLO O ANALOGÍA:
La IP privada es como encontrar en un directorio público el número interno de una extensión telefónica que nunca debió publicarse.
PREGUNTA DE PARTICIPACIÓN:
Entre el subdominio vpn (IP privada, recién detectado) y old-portal (certificado expirado hace 2 años), ¿cuál priorizarían revisar primero, y por qué?
TRANSICIÓN A LA SIGUIENTE DIAPOSITIVA:
Con todos los candidatos validados y clasificados, construir la tabla de inventario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Consolidar en una sola tabla todos los criterios vistos en la sesión: el entregable central de la Evaluación Formativa 1.
NOTAS DETALLADAS DEL EXPOSITOR:
Esta tabla es la misma estructura que se pedirá completar en el Laboratorio 3 (Fase 4 del proyecto) con el dataset completo de 15-20 candidatos. El instructor debe haber construido personalmente el inventario completo antes de la sesión, cronometrando cuánto tarda (práctica previa documentada en Fase 2), para poder calibrar el tiempo del ejercicio guiado.
EJEMPLO O ANALOGÍA:
Es el mismo principio de la ficha de superficie web de la Sesión 3, adaptada específicamente a subdominios.
PREGUNTA DE PARTICIPACIÓN:
De las siete columnas, ¿cuáles ya llenaron sin darse cuenta durante la demostración de dig de hace un momento?
TRANSICIÓN A LA SIGUIENTE DIAPOSITIVA:
Antes de la Evaluación Formativa 1, una nota sobre herramientas adicionales que existen pero no son parte del plan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visibilidad a herramientas de automatización relevantes en la práctica profesional, dejando explícito que exceden el contenido obligatorio del curso (distinción establecida en la Fase 2, recursos de Sesión 4).
NOTAS DETALLADAS DEL EXPOSITOR:
Esta diapositiva corresponde a una recomendación adicional, no a contenido establecido como obligatorio en el documento fuente del curso — se presenta así intencionalmente para no generar la expectativa de que se evaluará su uso. Si el tiempo lo permite y el grupo muestra interés, el instructor puede mostrar una salida de ejemplo de Subfinder de forma únicamente ilustrativa, sin instalarlo como requisito.
EJEMPLO O ANALOGÍA:
Es como mencionar que existen calculadoras científicas avanzadas después de enseñar aritmética a mano: útil saberlo, pero no reemplaza entender el proceso base.
PREGUNTA DE PARTICIPACIÓN:
¿Por qué creen que el curso prioriza enseñar el proceso manual antes de mencionar herramientas que lo automatizan?
TRANSICIÓN A LA SIGUIENTE DIAPOSITIVA:
Antes de la Evaluación Formativa 1, repasar los errores más comunes de todo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Repasar explícitamente los tres errores comunes documentados en la Fase 2 antes de que el grupo trabaje de forma autónoma en la EF1.
NOTAS DETALLADAS DEL EXPOSITOR:
Estos tres errores están tomados directamente del banco de errores comunes de la Fase 2, Sesión 4, y del Laboratorio 3 (Fase 4, secciones 13-14). Mencionarlos justo antes del ejercicio reduce la probabilidad de que aparezcan durante el trabajo en parejas.
EJEMPLO O ANALOGÍA:
No aplica.
PREGUNTA DE PARTICIPACIÓN:
¿Cuál de estos tres errores les parece más fácil de cometer trabajando rápido contra el reloj?
TRANSICIÓN A LA SIGUIENTE DIAPOSITIVA:
Iniciar la Evaluación Formativa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la Evaluación Formativa 1 prevista en el documento fuente (Tabla 4), aplicando el ciclo completo sobre el dataset diseñado en la Fase 4 (Laboratorio 3).
NOTAS DETALLADAS DEL EXPOSITOR:
El dataset candidatos.txt debe estar ya distribuido y el servidor BIND local (zona laboratorio-bacci.test, configurado en la Sesión 1) debe estar activo en cada VM, incluyendo el registro wildcard, según la práctica previa documentada en Fase 2 y el diseño de la sección 1.3 de la Fase 4. Circular resolviendo dudas puntuales sin dar la respuesta completa de inmediato; el criterio de éxito (Fase 2) es completar el ciclo en menos de 30 minutos, dejando margen dentro de los 45 asignados para dudas y discusión. Esta actividad se califica con la rúbrica de EF1 definida en la Fase 6 (Evaluaciones y rúbricas), dentro del 25 % de "Evaluaciones prácticas formativas".
EJEMPLO O ANALOGÍA:
El dataset incluye deliberadamente los casos ya vistos: www (control), staging (CNAME), dev (dangling, solo TXT), WWW y www. (duplicados de formato), vpn (IP privada), el wildcard, mail (registro MX + A, sí resuelve) y old-portal (solo TXT, caso narrativo de certificado expirado — no hay servicio real que inspeccionar), además de entradas de relleno realista.
PREGUNTA DE PARTICIPACIÓN:
(La pregunta de participación de este bloque es la actividad misma; se retoma en la socialización.)
TRANSICIÓN A LA SIGUIENTE DIAPOSITIVA:
Iniciar el tiempo de trabajo en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Marcar visualmente el tiempo de trabajo autónomo en parejas durante la EF1.
NOTAS DETALLADAS DEL EXPOSITOR:
Durante este tiempo, hacer preguntas guía en vez de dar respuestas directas: '¿probaron un nombre inventado para descartar wildcard?', '¿esa fila es un duplicado de formato o un subdominio distinto?'. Avisar cuando falten 10 minutos.
PREGUNTA DE PARTICIPACIÓN:
No aplica; es tiempo de trabajo autónomo.
TRANSICIÓN A LA SIGUIENTE DIAPOSITIVA:
Al cumplirse el tiempo, pasar a la socialización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el bloque de aplicación con una puesta en común, reforzando el aprendizaje de forma colectiva.
NOTAS DETALLADAS DEL EXPOSITOR:
No es necesario que todas las parejas presenten. Es esperable que distintas parejas obtengan inventarios ligeramente distintos (pregunta difícil P10 del banco de Fase 2): eso es normal si usaron criterios de prioridad distintos o consultaron en momentos distintos; se aprovecha para reforzar que documentar fuente y fecha es lo que explica la diferencia.
EJEMPLO O ANALOGÍA:
No aplica.
PREGUNTA DE PARTICIPACIÓN:
¿Alguna pareja detectó el wildcard de forma distinta a las demás?
TRANSICIÓN A LA SIGUIENTE DIAPOSITIVA:
Pasar al cierre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el cierre previsto en el documento fuente (Tabla 7): encuesta de comprensión y bitácora de conceptos, y dar orientación hacia la Sesión 5, con la que inicia el Día 3.
NOTAS DETALLADAS DEL EXPOSITOR:
Con esta sesión se completa el eje de reconocimiento pasivo del curso (Sesiones 2, 3 y 4: protocolos, OSINT y subdominios) y se cierra el Día 2. La Sesión 5, al inicio del Día 3, da un giro hacia el manejo responsable de evidencias y repositorios expuestos — mantiene la misma disciplina de documentación (fuente, fecha, cadena de evidencia) pero sobre un tipo de hallazgo distinto.
EJEMPLO O ANALOGÍA:
No aplica.
PREGUNTA DE PARTICIPACIÓN:
De todo el ciclo de hoy, ¿qué paso sienten que necesita más práctica antes de la Sesión 5?
TRANSICIÓN A LA SIGUIENTE DIAPOSITIVA:
Fin de la Sesión 4 y del Día 2. (Última diapositiva del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99832" y="0"/>
            <a:ext cx="4389120" cy="6858000"/>
          </a:xfrm>
          <a:prstGeom prst="rect">
            <a:avLst/>
          </a:prstGeom>
          <a:solidFill>
            <a:srgbClr val="E2231A"/>
          </a:solidFill>
          <a:ln/>
        </p:spPr>
      </p:sp>
      <p:sp>
        <p:nvSpPr>
          <p:cNvPr id="3" name="Shape 1"/>
          <p:cNvSpPr/>
          <p:nvPr/>
        </p:nvSpPr>
        <p:spPr>
          <a:xfrm>
            <a:off x="8686800" y="457200"/>
            <a:ext cx="1234440" cy="1234440"/>
          </a:xfrm>
          <a:prstGeom prst="ellipse">
            <a:avLst/>
          </a:prstGeom>
          <a:solidFill>
            <a:srgbClr val="FFFFFF">
              <a:alpha val="18000"/>
            </a:srgbClr>
          </a:solidFill>
          <a:ln/>
        </p:spPr>
      </p:sp>
      <p:sp>
        <p:nvSpPr>
          <p:cNvPr id="4" name="Shape 2"/>
          <p:cNvSpPr/>
          <p:nvPr/>
        </p:nvSpPr>
        <p:spPr>
          <a:xfrm>
            <a:off x="10607040" y="5120640"/>
            <a:ext cx="1828800" cy="1828800"/>
          </a:xfrm>
          <a:prstGeom prst="ellipse">
            <a:avLst/>
          </a:prstGeom>
          <a:solidFill>
            <a:srgbClr val="A81810">
              <a:alpha val="75000"/>
            </a:srgbClr>
          </a:solidFill>
          <a:ln/>
        </p:spPr>
      </p:sp>
      <p:sp>
        <p:nvSpPr>
          <p:cNvPr id="5" name="Shape 3"/>
          <p:cNvSpPr/>
          <p:nvPr/>
        </p:nvSpPr>
        <p:spPr>
          <a:xfrm>
            <a:off x="137160" y="6172200"/>
            <a:ext cx="365760" cy="365760"/>
          </a:xfrm>
          <a:prstGeom prst="ellipse">
            <a:avLst/>
          </a:prstGeom>
          <a:solidFill>
            <a:srgbClr val="E2231A"/>
          </a:solidFill>
          <a:ln/>
        </p:spPr>
      </p:sp>
      <p:sp>
        <p:nvSpPr>
          <p:cNvPr id="6" name="Shape 4"/>
          <p:cNvSpPr/>
          <p:nvPr/>
        </p:nvSpPr>
        <p:spPr>
          <a:xfrm>
            <a:off x="649224" y="566928"/>
            <a:ext cx="256032" cy="0"/>
          </a:xfrm>
          <a:prstGeom prst="line">
            <a:avLst/>
          </a:prstGeom>
          <a:noFill/>
          <a:ln w="20320">
            <a:solidFill>
              <a:srgbClr val="E2231A"/>
            </a:solidFill>
            <a:prstDash val="solid"/>
          </a:ln>
        </p:spPr>
      </p:sp>
      <p:sp>
        <p:nvSpPr>
          <p:cNvPr id="7" name="Shape 5"/>
          <p:cNvSpPr/>
          <p:nvPr/>
        </p:nvSpPr>
        <p:spPr>
          <a:xfrm rot="2700000">
            <a:off x="649224" y="566928"/>
            <a:ext cx="256032" cy="0"/>
          </a:xfrm>
          <a:prstGeom prst="line">
            <a:avLst/>
          </a:prstGeom>
          <a:noFill/>
          <a:ln w="20320">
            <a:solidFill>
              <a:srgbClr val="E2231A"/>
            </a:solidFill>
            <a:prstDash val="solid"/>
          </a:ln>
        </p:spPr>
      </p:sp>
      <p:sp>
        <p:nvSpPr>
          <p:cNvPr id="8" name="Shape 6"/>
          <p:cNvSpPr/>
          <p:nvPr/>
        </p:nvSpPr>
        <p:spPr>
          <a:xfrm rot="5400000">
            <a:off x="649224" y="566928"/>
            <a:ext cx="256032" cy="0"/>
          </a:xfrm>
          <a:prstGeom prst="line">
            <a:avLst/>
          </a:prstGeom>
          <a:noFill/>
          <a:ln w="20320">
            <a:solidFill>
              <a:srgbClr val="E2231A"/>
            </a:solidFill>
            <a:prstDash val="solid"/>
          </a:ln>
        </p:spPr>
      </p:sp>
      <p:sp>
        <p:nvSpPr>
          <p:cNvPr id="9" name="Shape 7"/>
          <p:cNvSpPr/>
          <p:nvPr/>
        </p:nvSpPr>
        <p:spPr>
          <a:xfrm rot="8100000">
            <a:off x="649224" y="566928"/>
            <a:ext cx="256032" cy="0"/>
          </a:xfrm>
          <a:prstGeom prst="line">
            <a:avLst/>
          </a:prstGeom>
          <a:noFill/>
          <a:ln w="20320">
            <a:solidFill>
              <a:srgbClr val="E2231A"/>
            </a:solidFill>
            <a:prstDash val="solid"/>
          </a:ln>
        </p:spPr>
      </p:sp>
      <p:sp>
        <p:nvSpPr>
          <p:cNvPr id="10" name="Text 8"/>
          <p:cNvSpPr/>
          <p:nvPr/>
        </p:nvSpPr>
        <p:spPr>
          <a:xfrm>
            <a:off x="960120" y="438912"/>
            <a:ext cx="3657600" cy="274320"/>
          </a:xfrm>
          <a:prstGeom prst="rect">
            <a:avLst/>
          </a:prstGeom>
          <a:noFill/>
          <a:ln/>
        </p:spPr>
        <p:txBody>
          <a:bodyPr wrap="square" rtlCol="0" anchor="ctr"/>
          <a:lstStyle/>
          <a:p>
            <a:pPr indent="0" marL="0">
              <a:buNone/>
            </a:pPr>
            <a:r>
              <a:rPr lang="en-US" sz="1200" b="1" dirty="0">
                <a:solidFill>
                  <a:srgbClr val="1A1A1A"/>
                </a:solidFill>
                <a:latin typeface="Roboto" pitchFamily="34" charset="0"/>
                <a:ea typeface="Roboto" pitchFamily="34" charset="-122"/>
                <a:cs typeface="Roboto" pitchFamily="34" charset="-120"/>
              </a:rPr>
              <a:t>BACCI · CIBERDEFENSA</a:t>
            </a:r>
            <a:endParaRPr lang="en-US" sz="1200" dirty="0"/>
          </a:p>
        </p:txBody>
      </p:sp>
      <p:sp>
        <p:nvSpPr>
          <p:cNvPr id="11" name="Text 9"/>
          <p:cNvSpPr/>
          <p:nvPr/>
        </p:nvSpPr>
        <p:spPr>
          <a:xfrm>
            <a:off x="960120" y="694944"/>
            <a:ext cx="3657600" cy="228600"/>
          </a:xfrm>
          <a:prstGeom prst="rect">
            <a:avLst/>
          </a:prstGeom>
          <a:noFill/>
          <a:ln/>
        </p:spPr>
        <p:txBody>
          <a:bodyPr wrap="square" rtlCol="0" anchor="ctr"/>
          <a:lstStyle/>
          <a:p>
            <a:pPr indent="0" marL="0">
              <a:buNone/>
            </a:pPr>
            <a:r>
              <a:rPr lang="en-US" sz="900" dirty="0">
                <a:solidFill>
                  <a:srgbClr val="6B6B6B"/>
                </a:solidFill>
                <a:latin typeface="Roboto" pitchFamily="34" charset="0"/>
                <a:ea typeface="Roboto" pitchFamily="34" charset="-122"/>
                <a:cs typeface="Roboto" pitchFamily="34" charset="-120"/>
              </a:rPr>
              <a:t>Capacitación 2026</a:t>
            </a:r>
            <a:endParaRPr lang="en-US" sz="900" dirty="0"/>
          </a:p>
        </p:txBody>
      </p:sp>
      <p:sp>
        <p:nvSpPr>
          <p:cNvPr id="12" name="Text 10"/>
          <p:cNvSpPr/>
          <p:nvPr/>
        </p:nvSpPr>
        <p:spPr>
          <a:xfrm>
            <a:off x="822960" y="1737360"/>
            <a:ext cx="6766560" cy="365760"/>
          </a:xfrm>
          <a:prstGeom prst="rect">
            <a:avLst/>
          </a:prstGeom>
          <a:noFill/>
          <a:ln/>
        </p:spPr>
        <p:txBody>
          <a:bodyPr wrap="square" rtlCol="0" anchor="ctr"/>
          <a:lstStyle/>
          <a:p>
            <a:pPr indent="0" marL="0">
              <a:buNone/>
            </a:pPr>
            <a:r>
              <a:rPr lang="en-US" sz="1250" b="1" spc="120" kern="0" dirty="0">
                <a:solidFill>
                  <a:srgbClr val="E2231A"/>
                </a:solidFill>
                <a:latin typeface="Roboto" pitchFamily="34" charset="0"/>
                <a:ea typeface="Roboto" pitchFamily="34" charset="-122"/>
                <a:cs typeface="Roboto" pitchFamily="34" charset="-120"/>
              </a:rPr>
              <a:t>CAPACITACIÓN EN CIBERDEFENSA Y CIBERSEGURIDAD · 40 HORAS · BACCI</a:t>
            </a:r>
            <a:endParaRPr lang="en-US" sz="1250" dirty="0"/>
          </a:p>
        </p:txBody>
      </p:sp>
      <p:sp>
        <p:nvSpPr>
          <p:cNvPr id="13" name="Text 11"/>
          <p:cNvSpPr/>
          <p:nvPr/>
        </p:nvSpPr>
        <p:spPr>
          <a:xfrm>
            <a:off x="822960" y="2148840"/>
            <a:ext cx="6766560" cy="1828800"/>
          </a:xfrm>
          <a:prstGeom prst="rect">
            <a:avLst/>
          </a:prstGeom>
          <a:noFill/>
          <a:ln/>
        </p:spPr>
        <p:txBody>
          <a:bodyPr wrap="square" rtlCol="0" anchor="ctr"/>
          <a:lstStyle/>
          <a:p>
            <a:pPr indent="0" marL="0">
              <a:buNone/>
            </a:pPr>
            <a:r>
              <a:rPr lang="en-US" sz="3600" b="1" dirty="0">
                <a:solidFill>
                  <a:srgbClr val="1A1A1A"/>
                </a:solidFill>
                <a:latin typeface="Roboto" pitchFamily="34" charset="0"/>
                <a:ea typeface="Roboto" pitchFamily="34" charset="-122"/>
                <a:cs typeface="Roboto" pitchFamily="34" charset="-120"/>
              </a:rPr>
              <a:t>Sesión 4</a:t>
            </a:r>
            <a:endParaRPr lang="en-US" sz="3600" dirty="0"/>
          </a:p>
          <a:p>
            <a:pPr indent="0" marL="0">
              <a:buNone/>
            </a:pPr>
            <a:r>
              <a:rPr lang="en-US" sz="3600" b="1" dirty="0">
                <a:solidFill>
                  <a:srgbClr val="1A1A1A"/>
                </a:solidFill>
                <a:latin typeface="Roboto" pitchFamily="34" charset="0"/>
                <a:ea typeface="Roboto" pitchFamily="34" charset="-122"/>
                <a:cs typeface="Roboto" pitchFamily="34" charset="-120"/>
              </a:rPr>
              <a:t>Subdominios: organización y validación responsable</a:t>
            </a:r>
            <a:endParaRPr lang="en-US" sz="3600" dirty="0"/>
          </a:p>
        </p:txBody>
      </p:sp>
      <p:sp>
        <p:nvSpPr>
          <p:cNvPr id="14" name="Text 12"/>
          <p:cNvSpPr/>
          <p:nvPr/>
        </p:nvSpPr>
        <p:spPr>
          <a:xfrm>
            <a:off x="822960" y="3977640"/>
            <a:ext cx="6583680" cy="822960"/>
          </a:xfrm>
          <a:prstGeom prst="rect">
            <a:avLst/>
          </a:prstGeom>
          <a:noFill/>
          <a:ln/>
        </p:spPr>
        <p:txBody>
          <a:bodyPr wrap="square" rtlCol="0" anchor="ctr"/>
          <a:lstStyle/>
          <a:p>
            <a:pPr indent="0" marL="0">
              <a:buNone/>
            </a:pPr>
            <a:r>
              <a:rPr lang="en-US" sz="1500" dirty="0">
                <a:solidFill>
                  <a:srgbClr val="6B6B6B"/>
                </a:solidFill>
                <a:latin typeface="Roboto" pitchFamily="34" charset="0"/>
                <a:ea typeface="Roboto" pitchFamily="34" charset="-122"/>
                <a:cs typeface="Roboto" pitchFamily="34" charset="-120"/>
              </a:rPr>
              <a:t>Día 2 de 5, tarde · 1:00 p. m. – 5:00 p. m. · Comparte jornada con Sesión 3</a:t>
            </a:r>
            <a:endParaRPr lang="en-US" sz="1500" dirty="0"/>
          </a:p>
        </p:txBody>
      </p:sp>
      <p:sp>
        <p:nvSpPr>
          <p:cNvPr id="15" name="Text 13"/>
          <p:cNvSpPr/>
          <p:nvPr/>
        </p:nvSpPr>
        <p:spPr>
          <a:xfrm>
            <a:off x="822960" y="5989320"/>
            <a:ext cx="6675120" cy="548640"/>
          </a:xfrm>
          <a:prstGeom prst="rect">
            <a:avLst/>
          </a:prstGeom>
          <a:noFill/>
          <a:ln/>
        </p:spPr>
        <p:txBody>
          <a:bodyPr wrap="square" rtlCol="0" anchor="ctr"/>
          <a:lstStyle/>
          <a:p>
            <a:pPr indent="0" marL="0">
              <a:buNone/>
            </a:pPr>
            <a:r>
              <a:rPr lang="en-US" sz="1050" i="1" dirty="0">
                <a:solidFill>
                  <a:srgbClr val="6B6B6B"/>
                </a:solidFill>
                <a:latin typeface="Roboto" pitchFamily="34" charset="0"/>
                <a:ea typeface="Roboto" pitchFamily="34" charset="-122"/>
                <a:cs typeface="Roboto" pitchFamily="34" charset="-120"/>
              </a:rPr>
              <a:t>Renovación del sistema de análisis de vulnerabilidades — Contrato 035 CENAC Telemática 2026</a:t>
            </a:r>
            <a:endParaRPr lang="en-US" sz="1050" dirty="0"/>
          </a:p>
        </p:txBody>
      </p:sp>
      <p:sp>
        <p:nvSpPr>
          <p:cNvPr id="16" name="Text 14"/>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FFFFFF"/>
                </a:solidFill>
                <a:latin typeface="Roboto" pitchFamily="34" charset="0"/>
                <a:ea typeface="Roboto" pitchFamily="34" charset="-122"/>
                <a:cs typeface="Roboto"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SESIÓN 4 · AGENDA DE LA TARDE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Cómo está organizada esta tarde de 4 horas</a:t>
            </a:r>
            <a:endParaRPr lang="en-US" sz="2500" dirty="0"/>
          </a:p>
        </p:txBody>
      </p:sp>
      <p:sp>
        <p:nvSpPr>
          <p:cNvPr id="6" name="Shape 4"/>
          <p:cNvSpPr/>
          <p:nvPr/>
        </p:nvSpPr>
        <p:spPr>
          <a:xfrm>
            <a:off x="548640" y="2743200"/>
            <a:ext cx="1645920" cy="1371600"/>
          </a:xfrm>
          <a:prstGeom prst="roundRect">
            <a:avLst>
              <a:gd name="adj" fmla="val 5333"/>
            </a:avLst>
          </a:prstGeom>
          <a:solidFill>
            <a:srgbClr val="E2231A"/>
          </a:solidFill>
          <a:ln/>
        </p:spPr>
      </p:sp>
      <p:sp>
        <p:nvSpPr>
          <p:cNvPr id="7" name="Text 5"/>
          <p:cNvSpPr/>
          <p:nvPr/>
        </p:nvSpPr>
        <p:spPr>
          <a:xfrm>
            <a:off x="62179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Apertura</a:t>
            </a:r>
            <a:endParaRPr lang="en-US" sz="1250" dirty="0"/>
          </a:p>
        </p:txBody>
      </p:sp>
      <p:sp>
        <p:nvSpPr>
          <p:cNvPr id="8" name="Text 6"/>
          <p:cNvSpPr/>
          <p:nvPr/>
        </p:nvSpPr>
        <p:spPr>
          <a:xfrm>
            <a:off x="62179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13:00 · Recuperación de dudas</a:t>
            </a:r>
            <a:endParaRPr lang="en-US" sz="1000" dirty="0"/>
          </a:p>
        </p:txBody>
      </p:sp>
      <p:sp>
        <p:nvSpPr>
          <p:cNvPr id="9" name="Text 7"/>
          <p:cNvSpPr/>
          <p:nvPr/>
        </p:nvSpPr>
        <p:spPr>
          <a:xfrm>
            <a:off x="219456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432304" y="2743200"/>
            <a:ext cx="1645920" cy="1371600"/>
          </a:xfrm>
          <a:prstGeom prst="roundRect">
            <a:avLst>
              <a:gd name="adj" fmla="val 5333"/>
            </a:avLst>
          </a:prstGeom>
          <a:solidFill>
            <a:srgbClr val="1A1A1A"/>
          </a:solidFill>
          <a:ln/>
        </p:spPr>
      </p:sp>
      <p:sp>
        <p:nvSpPr>
          <p:cNvPr id="11" name="Text 9"/>
          <p:cNvSpPr/>
          <p:nvPr/>
        </p:nvSpPr>
        <p:spPr>
          <a:xfrm>
            <a:off x="2505456"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Ciclo de subdominios</a:t>
            </a:r>
            <a:endParaRPr lang="en-US" sz="1250" dirty="0"/>
          </a:p>
        </p:txBody>
      </p:sp>
      <p:sp>
        <p:nvSpPr>
          <p:cNvPr id="12" name="Text 10"/>
          <p:cNvSpPr/>
          <p:nvPr/>
        </p:nvSpPr>
        <p:spPr>
          <a:xfrm>
            <a:off x="2505456"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Descubrir a documentar</a:t>
            </a:r>
            <a:endParaRPr lang="en-US" sz="1000" dirty="0"/>
          </a:p>
        </p:txBody>
      </p:sp>
      <p:sp>
        <p:nvSpPr>
          <p:cNvPr id="13" name="Text 11"/>
          <p:cNvSpPr/>
          <p:nvPr/>
        </p:nvSpPr>
        <p:spPr>
          <a:xfrm>
            <a:off x="407822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4315968" y="2743200"/>
            <a:ext cx="1645920" cy="1371600"/>
          </a:xfrm>
          <a:prstGeom prst="roundRect">
            <a:avLst>
              <a:gd name="adj" fmla="val 5333"/>
            </a:avLst>
          </a:prstGeom>
          <a:solidFill>
            <a:srgbClr val="E2231A"/>
          </a:solidFill>
          <a:ln/>
        </p:spPr>
      </p:sp>
      <p:sp>
        <p:nvSpPr>
          <p:cNvPr id="15" name="Text 13"/>
          <p:cNvSpPr/>
          <p:nvPr/>
        </p:nvSpPr>
        <p:spPr>
          <a:xfrm>
            <a:off x="4389120"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Pausa</a:t>
            </a:r>
            <a:endParaRPr lang="en-US" sz="1250" dirty="0"/>
          </a:p>
        </p:txBody>
      </p:sp>
      <p:sp>
        <p:nvSpPr>
          <p:cNvPr id="16" name="Text 14"/>
          <p:cNvSpPr/>
          <p:nvPr/>
        </p:nvSpPr>
        <p:spPr>
          <a:xfrm>
            <a:off x="4389120"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15 min</a:t>
            </a:r>
            <a:endParaRPr lang="en-US" sz="1000" dirty="0"/>
          </a:p>
        </p:txBody>
      </p:sp>
      <p:sp>
        <p:nvSpPr>
          <p:cNvPr id="17" name="Text 15"/>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6199632" y="2743200"/>
            <a:ext cx="1645920" cy="1371600"/>
          </a:xfrm>
          <a:prstGeom prst="roundRect">
            <a:avLst>
              <a:gd name="adj" fmla="val 5333"/>
            </a:avLst>
          </a:prstGeom>
          <a:solidFill>
            <a:srgbClr val="1A1A1A"/>
          </a:solidFill>
          <a:ln/>
        </p:spPr>
      </p:sp>
      <p:sp>
        <p:nvSpPr>
          <p:cNvPr id="19" name="Text 17"/>
          <p:cNvSpPr/>
          <p:nvPr/>
        </p:nvSpPr>
        <p:spPr>
          <a:xfrm>
            <a:off x="6272784"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Demostración</a:t>
            </a:r>
            <a:endParaRPr lang="en-US" sz="1250" dirty="0"/>
          </a:p>
        </p:txBody>
      </p:sp>
      <p:sp>
        <p:nvSpPr>
          <p:cNvPr id="20" name="Text 18"/>
          <p:cNvSpPr/>
          <p:nvPr/>
        </p:nvSpPr>
        <p:spPr>
          <a:xfrm>
            <a:off x="6272784"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dig, wildcard, dedup</a:t>
            </a:r>
            <a:endParaRPr lang="en-US" sz="1000" dirty="0"/>
          </a:p>
        </p:txBody>
      </p:sp>
      <p:sp>
        <p:nvSpPr>
          <p:cNvPr id="21" name="Text 19"/>
          <p:cNvSpPr/>
          <p:nvPr/>
        </p:nvSpPr>
        <p:spPr>
          <a:xfrm>
            <a:off x="784555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8083296" y="2743200"/>
            <a:ext cx="1645920" cy="1371600"/>
          </a:xfrm>
          <a:prstGeom prst="roundRect">
            <a:avLst>
              <a:gd name="adj" fmla="val 5333"/>
            </a:avLst>
          </a:prstGeom>
          <a:solidFill>
            <a:srgbClr val="E2231A"/>
          </a:solidFill>
          <a:ln/>
        </p:spPr>
      </p:sp>
      <p:sp>
        <p:nvSpPr>
          <p:cNvPr id="23" name="Text 21"/>
          <p:cNvSpPr/>
          <p:nvPr/>
        </p:nvSpPr>
        <p:spPr>
          <a:xfrm>
            <a:off x="8156448"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EF1</a:t>
            </a:r>
            <a:endParaRPr lang="en-US" sz="1250" dirty="0"/>
          </a:p>
        </p:txBody>
      </p:sp>
      <p:sp>
        <p:nvSpPr>
          <p:cNvPr id="24" name="Text 22"/>
          <p:cNvSpPr/>
          <p:nvPr/>
        </p:nvSpPr>
        <p:spPr>
          <a:xfrm>
            <a:off x="8156448"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Inventario guiado</a:t>
            </a:r>
            <a:endParaRPr lang="en-US" sz="1000" dirty="0"/>
          </a:p>
        </p:txBody>
      </p:sp>
      <p:sp>
        <p:nvSpPr>
          <p:cNvPr id="25" name="Text 23"/>
          <p:cNvSpPr/>
          <p:nvPr/>
        </p:nvSpPr>
        <p:spPr>
          <a:xfrm>
            <a:off x="972921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9966960" y="2743200"/>
            <a:ext cx="1645920" cy="1371600"/>
          </a:xfrm>
          <a:prstGeom prst="roundRect">
            <a:avLst>
              <a:gd name="adj" fmla="val 5333"/>
            </a:avLst>
          </a:prstGeom>
          <a:solidFill>
            <a:srgbClr val="1A1A1A"/>
          </a:solidFill>
          <a:ln/>
        </p:spPr>
      </p:sp>
      <p:sp>
        <p:nvSpPr>
          <p:cNvPr id="27" name="Text 25"/>
          <p:cNvSpPr/>
          <p:nvPr/>
        </p:nvSpPr>
        <p:spPr>
          <a:xfrm>
            <a:off x="1004011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Cierre</a:t>
            </a:r>
            <a:endParaRPr lang="en-US" sz="1250" dirty="0"/>
          </a:p>
        </p:txBody>
      </p:sp>
      <p:sp>
        <p:nvSpPr>
          <p:cNvPr id="28" name="Text 26"/>
          <p:cNvSpPr/>
          <p:nvPr/>
        </p:nvSpPr>
        <p:spPr>
          <a:xfrm>
            <a:off x="1004011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Encuesta y bitácora</a:t>
            </a:r>
            <a:endParaRPr lang="en-US" sz="10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SESIÓN 4 · AGENDA DE LA TARDE</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APERTURA · ACTIVACIÓN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Recuperación: dudas de la Sesión 3</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Revisemos las dudas registradas en la encuesta/bitácora de esta mañana</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instructor prioriza las 2-3 más recurrentes sobre OSINT.</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Repaso relámpago: fuentes, confiabilidad y cadena de evidencia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30 segundos por concepto; hoy se usa esa misma disciplina de documentación sobre subdominios.</a:t>
            </a:r>
            <a:endParaRPr lang="en-US" sz="1250" dirty="0"/>
          </a:p>
        </p:txBody>
      </p:sp>
      <p:sp>
        <p:nvSpPr>
          <p:cNvPr id="14" name="Shape 12"/>
          <p:cNvSpPr/>
          <p:nvPr/>
        </p:nvSpPr>
        <p:spPr>
          <a:xfrm>
            <a:off x="548640" y="5623560"/>
            <a:ext cx="11064240" cy="685800"/>
          </a:xfrm>
          <a:prstGeom prst="roundRect">
            <a:avLst>
              <a:gd name="adj" fmla="val 10667"/>
            </a:avLst>
          </a:prstGeom>
          <a:solidFill>
            <a:srgbClr val="FCEBEA"/>
          </a:solidFill>
          <a:ln/>
        </p:spPr>
      </p:sp>
      <p:sp>
        <p:nvSpPr>
          <p:cNvPr id="15" name="Shape 13"/>
          <p:cNvSpPr/>
          <p:nvPr/>
        </p:nvSpPr>
        <p:spPr>
          <a:xfrm>
            <a:off x="548640" y="5623560"/>
            <a:ext cx="54864" cy="685800"/>
          </a:xfrm>
          <a:prstGeom prst="rect">
            <a:avLst/>
          </a:prstGeom>
          <a:solidFill>
            <a:srgbClr val="E2231A"/>
          </a:solidFill>
          <a:ln/>
        </p:spPr>
      </p:sp>
      <p:sp>
        <p:nvSpPr>
          <p:cNvPr id="16" name="Text 14"/>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Este bloque de recuperación es corto (10-15 min): el objetivo es cerrar huecos puntuales antes de pasar al ciclo de subdominios.</a:t>
            </a:r>
            <a:endParaRPr lang="en-US" sz="1200" dirty="0"/>
          </a:p>
        </p:txBody>
      </p:sp>
      <p:sp>
        <p:nvSpPr>
          <p:cNvPr id="17" name="Shape 15"/>
          <p:cNvSpPr/>
          <p:nvPr/>
        </p:nvSpPr>
        <p:spPr>
          <a:xfrm rot="2700000">
            <a:off x="502920" y="6501384"/>
            <a:ext cx="82296" cy="82296"/>
          </a:xfrm>
          <a:prstGeom prst="rect">
            <a:avLst/>
          </a:prstGeom>
          <a:solidFill>
            <a:srgbClr val="E2231A"/>
          </a:solidFill>
          <a:ln/>
        </p:spPr>
      </p:sp>
      <p:sp>
        <p:nvSpPr>
          <p:cNvPr id="18" name="Text 1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APERTURA · ACTIVACIÓN</a:t>
            </a:r>
            <a:endParaRPr lang="en-US" sz="800" dirty="0"/>
          </a:p>
        </p:txBody>
      </p:sp>
      <p:sp>
        <p:nvSpPr>
          <p:cNvPr id="19" name="Text 1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CICLO DE SUBDOMINIOS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Ciclo completo: de candidato a inventario documentado</a:t>
            </a:r>
            <a:endParaRPr lang="en-US" sz="2500" dirty="0"/>
          </a:p>
        </p:txBody>
      </p:sp>
      <p:sp>
        <p:nvSpPr>
          <p:cNvPr id="6" name="Shape 4"/>
          <p:cNvSpPr/>
          <p:nvPr/>
        </p:nvSpPr>
        <p:spPr>
          <a:xfrm>
            <a:off x="548640" y="2743200"/>
            <a:ext cx="1645920" cy="1371600"/>
          </a:xfrm>
          <a:prstGeom prst="roundRect">
            <a:avLst>
              <a:gd name="adj" fmla="val 5333"/>
            </a:avLst>
          </a:prstGeom>
          <a:solidFill>
            <a:srgbClr val="E2231A"/>
          </a:solidFill>
          <a:ln/>
        </p:spPr>
      </p:sp>
      <p:sp>
        <p:nvSpPr>
          <p:cNvPr id="7" name="Text 5"/>
          <p:cNvSpPr/>
          <p:nvPr/>
        </p:nvSpPr>
        <p:spPr>
          <a:xfrm>
            <a:off x="62179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Descubrimiento</a:t>
            </a:r>
            <a:endParaRPr lang="en-US" sz="1250" dirty="0"/>
          </a:p>
        </p:txBody>
      </p:sp>
      <p:sp>
        <p:nvSpPr>
          <p:cNvPr id="8" name="Text 6"/>
          <p:cNvSpPr/>
          <p:nvPr/>
        </p:nvSpPr>
        <p:spPr>
          <a:xfrm>
            <a:off x="62179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Listar candidatos</a:t>
            </a:r>
            <a:endParaRPr lang="en-US" sz="1000" dirty="0"/>
          </a:p>
        </p:txBody>
      </p:sp>
      <p:sp>
        <p:nvSpPr>
          <p:cNvPr id="9" name="Text 7"/>
          <p:cNvSpPr/>
          <p:nvPr/>
        </p:nvSpPr>
        <p:spPr>
          <a:xfrm>
            <a:off x="219456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432304" y="2743200"/>
            <a:ext cx="1645920" cy="1371600"/>
          </a:xfrm>
          <a:prstGeom prst="roundRect">
            <a:avLst>
              <a:gd name="adj" fmla="val 5333"/>
            </a:avLst>
          </a:prstGeom>
          <a:solidFill>
            <a:srgbClr val="1A1A1A"/>
          </a:solidFill>
          <a:ln/>
        </p:spPr>
      </p:sp>
      <p:sp>
        <p:nvSpPr>
          <p:cNvPr id="11" name="Text 9"/>
          <p:cNvSpPr/>
          <p:nvPr/>
        </p:nvSpPr>
        <p:spPr>
          <a:xfrm>
            <a:off x="2505456"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Validación</a:t>
            </a:r>
            <a:endParaRPr lang="en-US" sz="1250" dirty="0"/>
          </a:p>
        </p:txBody>
      </p:sp>
      <p:sp>
        <p:nvSpPr>
          <p:cNvPr id="12" name="Text 10"/>
          <p:cNvSpPr/>
          <p:nvPr/>
        </p:nvSpPr>
        <p:spPr>
          <a:xfrm>
            <a:off x="2505456"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¿Resuelve realmente?</a:t>
            </a:r>
            <a:endParaRPr lang="en-US" sz="1000" dirty="0"/>
          </a:p>
        </p:txBody>
      </p:sp>
      <p:sp>
        <p:nvSpPr>
          <p:cNvPr id="13" name="Text 11"/>
          <p:cNvSpPr/>
          <p:nvPr/>
        </p:nvSpPr>
        <p:spPr>
          <a:xfrm>
            <a:off x="407822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4315968" y="2743200"/>
            <a:ext cx="1645920" cy="1371600"/>
          </a:xfrm>
          <a:prstGeom prst="roundRect">
            <a:avLst>
              <a:gd name="adj" fmla="val 5333"/>
            </a:avLst>
          </a:prstGeom>
          <a:solidFill>
            <a:srgbClr val="E2231A"/>
          </a:solidFill>
          <a:ln/>
        </p:spPr>
      </p:sp>
      <p:sp>
        <p:nvSpPr>
          <p:cNvPr id="15" name="Text 13"/>
          <p:cNvSpPr/>
          <p:nvPr/>
        </p:nvSpPr>
        <p:spPr>
          <a:xfrm>
            <a:off x="4389120"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Deduplicación</a:t>
            </a:r>
            <a:endParaRPr lang="en-US" sz="1250" dirty="0"/>
          </a:p>
        </p:txBody>
      </p:sp>
      <p:sp>
        <p:nvSpPr>
          <p:cNvPr id="16" name="Text 14"/>
          <p:cNvSpPr/>
          <p:nvPr/>
        </p:nvSpPr>
        <p:spPr>
          <a:xfrm>
            <a:off x="4389120"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Eliminar repetidos</a:t>
            </a:r>
            <a:endParaRPr lang="en-US" sz="1000" dirty="0"/>
          </a:p>
        </p:txBody>
      </p:sp>
      <p:sp>
        <p:nvSpPr>
          <p:cNvPr id="17" name="Text 15"/>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6199632" y="2743200"/>
            <a:ext cx="1645920" cy="1371600"/>
          </a:xfrm>
          <a:prstGeom prst="roundRect">
            <a:avLst>
              <a:gd name="adj" fmla="val 5333"/>
            </a:avLst>
          </a:prstGeom>
          <a:solidFill>
            <a:srgbClr val="1A1A1A"/>
          </a:solidFill>
          <a:ln/>
        </p:spPr>
      </p:sp>
      <p:sp>
        <p:nvSpPr>
          <p:cNvPr id="19" name="Text 17"/>
          <p:cNvSpPr/>
          <p:nvPr/>
        </p:nvSpPr>
        <p:spPr>
          <a:xfrm>
            <a:off x="6272784"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Clasificación</a:t>
            </a:r>
            <a:endParaRPr lang="en-US" sz="1250" dirty="0"/>
          </a:p>
        </p:txBody>
      </p:sp>
      <p:sp>
        <p:nvSpPr>
          <p:cNvPr id="20" name="Text 18"/>
          <p:cNvSpPr/>
          <p:nvPr/>
        </p:nvSpPr>
        <p:spPr>
          <a:xfrm>
            <a:off x="6272784"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Función, antigüedad, confianza</a:t>
            </a:r>
            <a:endParaRPr lang="en-US" sz="1000" dirty="0"/>
          </a:p>
        </p:txBody>
      </p:sp>
      <p:sp>
        <p:nvSpPr>
          <p:cNvPr id="21" name="Text 19"/>
          <p:cNvSpPr/>
          <p:nvPr/>
        </p:nvSpPr>
        <p:spPr>
          <a:xfrm>
            <a:off x="784555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8083296" y="2743200"/>
            <a:ext cx="1645920" cy="1371600"/>
          </a:xfrm>
          <a:prstGeom prst="roundRect">
            <a:avLst>
              <a:gd name="adj" fmla="val 5333"/>
            </a:avLst>
          </a:prstGeom>
          <a:solidFill>
            <a:srgbClr val="E2231A"/>
          </a:solidFill>
          <a:ln/>
        </p:spPr>
      </p:sp>
      <p:sp>
        <p:nvSpPr>
          <p:cNvPr id="23" name="Text 21"/>
          <p:cNvSpPr/>
          <p:nvPr/>
        </p:nvSpPr>
        <p:spPr>
          <a:xfrm>
            <a:off x="8156448"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Priorización</a:t>
            </a:r>
            <a:endParaRPr lang="en-US" sz="1250" dirty="0"/>
          </a:p>
        </p:txBody>
      </p:sp>
      <p:sp>
        <p:nvSpPr>
          <p:cNvPr id="24" name="Text 22"/>
          <p:cNvSpPr/>
          <p:nvPr/>
        </p:nvSpPr>
        <p:spPr>
          <a:xfrm>
            <a:off x="8156448"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¿Qué se revisa primero?</a:t>
            </a:r>
            <a:endParaRPr lang="en-US" sz="1000" dirty="0"/>
          </a:p>
        </p:txBody>
      </p:sp>
      <p:sp>
        <p:nvSpPr>
          <p:cNvPr id="25" name="Text 23"/>
          <p:cNvSpPr/>
          <p:nvPr/>
        </p:nvSpPr>
        <p:spPr>
          <a:xfrm>
            <a:off x="972921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9966960" y="2743200"/>
            <a:ext cx="1645920" cy="1371600"/>
          </a:xfrm>
          <a:prstGeom prst="roundRect">
            <a:avLst>
              <a:gd name="adj" fmla="val 5333"/>
            </a:avLst>
          </a:prstGeom>
          <a:solidFill>
            <a:srgbClr val="1A1A1A"/>
          </a:solidFill>
          <a:ln/>
        </p:spPr>
      </p:sp>
      <p:sp>
        <p:nvSpPr>
          <p:cNvPr id="27" name="Text 25"/>
          <p:cNvSpPr/>
          <p:nvPr/>
        </p:nvSpPr>
        <p:spPr>
          <a:xfrm>
            <a:off x="1004011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Documentación</a:t>
            </a:r>
            <a:endParaRPr lang="en-US" sz="1250" dirty="0"/>
          </a:p>
        </p:txBody>
      </p:sp>
      <p:sp>
        <p:nvSpPr>
          <p:cNvPr id="28" name="Text 26"/>
          <p:cNvSpPr/>
          <p:nvPr/>
        </p:nvSpPr>
        <p:spPr>
          <a:xfrm>
            <a:off x="1004011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Inventario final (EF1)</a:t>
            </a:r>
            <a:endParaRPr lang="en-US" sz="10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CICLO DE SUBDOMINIOS</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¿Cuál de estos pasos del ciclo va DESPUÉS de "deduplicación" y ANTES de "documentación"?</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Descubrimiento (listar candidatos).</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Validación (¿resuelve realmente?).</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Clasificación y priorización.</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Ninguno — deduplicación es el último paso del ciclo.</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CICLO DE SUBDOMINIOS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Candidatos vs. confirmación de resolución activa</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Listado de candidatos (pasivo)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Proviene de fuentes indexadas: Certificate Transparency, datasets, búsqueda</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Un nombre en la lista NO garantiza que exista hoy</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Es el punto de partida, no el resultado</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Confirmación de resolución (validación controlada)</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Consulta DNS puntual y controlada: dig +short por cada candidato</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Confirma si el nombre resuelve, no resuelve, o es un CNAME</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Es lo que convierte un candidato en un hallazgo verificado</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CICLO DE SUBDOMINIOS</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CICLO DE SUBDOMINIOS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Qué es un falso positivo en subdominios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Definición</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 nombre que aparece en una fuente (ej. Certificate Transparency) pero no resuelve o ya no existe.</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 siempre significa "sin riesgo"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Puede tratarse de un registro DNS colgante (dangling), que sigue siendo un hallazgo relevante.</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Se documenta, no se descarta silenciosamente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La ausencia de resolución es en sí misma información que va al inventario.</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CICLO DE SUBDOMINIOS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CICLO DE SUBDOMINIOS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Criterios de clasificación</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Por función</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Producción</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Staging / pruebas</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Desarrollo</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Por antigüedad y por confianza de la fuente</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Antigüedad: ¿hace cuánto se registró o se vio por última vez?</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Confianza: ¿de cuántas fuentes independientes proviene el hallazgo?</a:t>
            </a:r>
            <a:endParaRPr lang="en-US" sz="1300" dirty="0"/>
          </a:p>
        </p:txBody>
      </p:sp>
      <p:sp>
        <p:nvSpPr>
          <p:cNvPr id="24" name="Shape 22"/>
          <p:cNvSpPr/>
          <p:nvPr/>
        </p:nvSpPr>
        <p:spPr>
          <a:xfrm rot="2700000">
            <a:off x="502920" y="6501384"/>
            <a:ext cx="82296" cy="82296"/>
          </a:xfrm>
          <a:prstGeom prst="rect">
            <a:avLst/>
          </a:prstGeom>
          <a:solidFill>
            <a:srgbClr val="E2231A"/>
          </a:solidFill>
          <a:ln/>
        </p:spPr>
      </p:sp>
      <p:sp>
        <p:nvSpPr>
          <p:cNvPr id="25" name="Text 23"/>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CICLO DE SUBDOMINIOS</a:t>
            </a:r>
            <a:endParaRPr lang="en-US" sz="800" dirty="0"/>
          </a:p>
        </p:txBody>
      </p:sp>
      <p:sp>
        <p:nvSpPr>
          <p:cNvPr id="26" name="Text 24"/>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CICLO DE SUBDOMINIOS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El nivel de confianza es un metadato, no un veredicto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Confianza baja no significa "descartar"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Significa que se necesita más verificación antes de actuar sobre ese hallazgo.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Es información que viaja con el hallazgo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Se documenta junto al subdominio, igual que la fuente y la fecha.</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Múltiples fuentes coincidentes elevan la confianza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Una sola fuente aislada no es igual de sólida que dos fuentes independientes que coinciden.</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CICLO DE SUBDOMINIOS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A81810">
              <a:alpha val="70000"/>
            </a:srgbClr>
          </a:solidFill>
          <a:ln/>
        </p:spPr>
      </p:sp>
      <p:sp>
        <p:nvSpPr>
          <p:cNvPr id="3" name="Shape 1"/>
          <p:cNvSpPr/>
          <p:nvPr/>
        </p:nvSpPr>
        <p:spPr>
          <a:xfrm>
            <a:off x="10332720" y="-1371600"/>
            <a:ext cx="3108960" cy="3108960"/>
          </a:xfrm>
          <a:prstGeom prst="ellipse">
            <a:avLst/>
          </a:prstGeom>
          <a:solidFill>
            <a:srgbClr val="A81810">
              <a:alpha val="70000"/>
            </a:srgbClr>
          </a:solidFill>
          <a:ln/>
        </p:spPr>
      </p:sp>
      <p:sp>
        <p:nvSpPr>
          <p:cNvPr id="4" name="Text 2"/>
          <p:cNvSpPr/>
          <p:nvPr/>
        </p:nvSpPr>
        <p:spPr>
          <a:xfrm>
            <a:off x="640080" y="502920"/>
            <a:ext cx="2286000" cy="2011680"/>
          </a:xfrm>
          <a:prstGeom prst="rect">
            <a:avLst/>
          </a:prstGeom>
          <a:noFill/>
          <a:ln/>
        </p:spPr>
        <p:txBody>
          <a:bodyPr wrap="square" rtlCol="0" anchor="ctr"/>
          <a:lstStyle/>
          <a:p>
            <a:pPr indent="0" marL="0">
              <a:buNone/>
            </a:pPr>
            <a:r>
              <a:rPr lang="en-US" sz="13000" b="1" i="1" dirty="0">
                <a:solidFill>
                  <a:srgbClr val="A81810"/>
                </a:solidFill>
                <a:latin typeface="Georgia" pitchFamily="34" charset="0"/>
                <a:ea typeface="Georgia" pitchFamily="34" charset="-122"/>
                <a:cs typeface="Georgia" pitchFamily="34" charset="-120"/>
              </a:rPr>
              <a:t>”</a:t>
            </a:r>
            <a:endParaRPr lang="en-US" sz="13000" dirty="0"/>
          </a:p>
        </p:txBody>
      </p:sp>
      <p:sp>
        <p:nvSpPr>
          <p:cNvPr id="5" name="Text 3"/>
          <p:cNvSpPr/>
          <p:nvPr/>
        </p:nvSpPr>
        <p:spPr>
          <a:xfrm>
            <a:off x="914400" y="1965960"/>
            <a:ext cx="987552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PREGUNTA PARA DISCUTIR EN GRUPO</a:t>
            </a:r>
            <a:endParaRPr lang="en-US" sz="1300" dirty="0"/>
          </a:p>
        </p:txBody>
      </p:sp>
      <p:sp>
        <p:nvSpPr>
          <p:cNvPr id="6" name="Text 4"/>
          <p:cNvSpPr/>
          <p:nvPr/>
        </p:nvSpPr>
        <p:spPr>
          <a:xfrm>
            <a:off x="914400" y="2423160"/>
            <a:ext cx="10058400" cy="2377440"/>
          </a:xfrm>
          <a:prstGeom prst="rect">
            <a:avLst/>
          </a:prstGeom>
          <a:noFill/>
          <a:ln/>
        </p:spPr>
        <p:txBody>
          <a:bodyPr wrap="square" rtlCol="0" anchor="ctr"/>
          <a:lstStyle/>
          <a:p>
            <a:pPr indent="0" marL="0">
              <a:buNone/>
            </a:pPr>
            <a:r>
              <a:rPr lang="en-US" sz="2800" b="1" dirty="0">
                <a:solidFill>
                  <a:srgbClr val="FFFFFF"/>
                </a:solidFill>
                <a:latin typeface="Roboto" pitchFamily="34" charset="0"/>
                <a:ea typeface="Roboto" pitchFamily="34" charset="-122"/>
                <a:cs typeface="Roboto" pitchFamily="34" charset="-120"/>
              </a:rPr>
              <a:t>¿Qué harían con un subdominio hallado por una sola fuente que además no ha sido posible confirmar con una segunda?</a:t>
            </a:r>
            <a:endParaRPr lang="en-US" sz="2800" dirty="0"/>
          </a:p>
        </p:txBody>
      </p:sp>
      <p:sp>
        <p:nvSpPr>
          <p:cNvPr id="7" name="Text 5"/>
          <p:cNvSpPr/>
          <p:nvPr/>
        </p:nvSpPr>
        <p:spPr>
          <a:xfrm>
            <a:off x="914400" y="4937760"/>
            <a:ext cx="9601200" cy="731520"/>
          </a:xfrm>
          <a:prstGeom prst="rect">
            <a:avLst/>
          </a:prstGeom>
          <a:noFill/>
          <a:ln/>
        </p:spPr>
        <p:txBody>
          <a:bodyPr wrap="square" rtlCol="0" anchor="ctr"/>
          <a:lstStyle/>
          <a:p>
            <a:pPr indent="0" marL="0">
              <a:buNone/>
            </a:pPr>
            <a:r>
              <a:rPr lang="en-US" sz="1350" i="1" dirty="0">
                <a:solidFill>
                  <a:srgbClr val="FBDAD8"/>
                </a:solidFill>
                <a:latin typeface="Roboto" pitchFamily="34" charset="0"/>
                <a:ea typeface="Roboto" pitchFamily="34" charset="-122"/>
                <a:cs typeface="Roboto" pitchFamily="34" charset="-120"/>
              </a:rPr>
              <a:t>Coméntenlo con la persona de al lado (2 minutos) antes de que el instructor comparta la respuesta de referencia.</a:t>
            </a:r>
            <a:endParaRPr lang="en-US" sz="1350" dirty="0"/>
          </a:p>
        </p:txBody>
      </p:sp>
      <p:sp>
        <p:nvSpPr>
          <p:cNvPr id="8" name="Shape 6"/>
          <p:cNvSpPr/>
          <p:nvPr/>
        </p:nvSpPr>
        <p:spPr>
          <a:xfrm rot="2700000">
            <a:off x="502920" y="6501384"/>
            <a:ext cx="82296" cy="82296"/>
          </a:xfrm>
          <a:prstGeom prst="rect">
            <a:avLst/>
          </a:prstGeom>
          <a:solidFill>
            <a:srgbClr val="FFFFFF"/>
          </a:solidFill>
          <a:ln/>
        </p:spPr>
      </p:sp>
      <p:sp>
        <p:nvSpPr>
          <p:cNvPr id="9" name="Text 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10" name="Text 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demostración en vivo con dig, detección de wildcard y deduplicación.</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Validación de candidatos con dig</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Dominio de laboratorio: laboratorio-bacci.test (TLD .test reservado por IANA, RFC 2606). Registrar resuelve / no resuelve / CNAME por cada candidato.</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www.laboratorio-bacci.test +short</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Resuelve (A) — fuente: DNS público + CT</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staging.laboratorio-bacci.test +short</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Resuelve (CNAME a www) — caso "antiguo"</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dev.laboratorio-bacci.test +short</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NO resuelve — caso de registro colgante (dangling)</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vpn.laboratorio-bacci.test +short</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Resuelve a IP privada (10.x.x.x) — caso especial</a:t>
            </a:r>
            <a:endParaRPr lang="en-US" sz="11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EN VIVO SOBRE KALI</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CASO ESPECIAL</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El registro comodín (wildcard): el falso positivo masivo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Un registro *.dominio hace que CUALQUIER nombre resuelva</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Exista o no exista realmente ese subdominio.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Prueba de detección obligatoria (paso 4 del laboratorio)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Consultar un nombre aleatorio NO listado en el dataset; si también resuelve, hay wildcard.</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Si no se detecta a tiempo, invalida buena parte del ejercicio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Todos los candidatos parecerían "resolver", incluso los inventados.</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CASO ESPECIAL</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Consultas nombre-totalmente-inventado-xyz.laboratorio-bacci.test y también resuelve. ¿Qué significa esto para TODOS los resultados anteriores?</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Nada — cada resultado anterior sigue siendo válido de forma independiente.</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Que hay un registro wildcard (*.dominio); todos los "resuelve" anteriores deben revalidarse como posibles falsos positivos.</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Que el dominio de laboratorio está caído y hay que reiniciar la VM.</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Que se debe reportar el hallazgo como una intrusión activa de un tercero.</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DEDUPLICACIÓN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Deduplicar y normalizar antes de contar resultados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Normalizar primero (paso 1 del laboratorio)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Convertir a minúsculas y eliminar espacios o el punto final del nombre de dominio.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Deduplicar después (paso 2 del laboratorio)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Eliminar entradas idénticas repetidas, por ejemplo con sort -u o el equivalente en hoja de cálculo.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orden importa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Deduplicar antes de normalizar deja duplicados ocultos por diferencias de formato.</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DEDUPLICACIÓN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CASOS ESPECIALES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Casos que requieren una nota adicional en el inventario</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IP privada (RFC 1918)</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Un subdominio público que resuelve a una IP interna (10.x.x.x)</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No es un error del ejercicio: se documenta tal cual se encuentra</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Puede indicar una configuración interna expuesta por error</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Certificado expirado / registro antiguo</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Aparece solo en Certificate Transparency, ya no resuelve</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Certificado vencido hace tiempo: baja actividad reciente</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Se documenta como hallazgo de baja prioridad, no se descarta</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CASOS ESPECIALES</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DOCUMENTACIÓN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Tabla de inventario final: las columnas obligatorias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Subdominio, fuente(s) y fecha</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Igual disciplina de trazabilidad vista en la Sesión 3 con OSINT.</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Resuelve y tipo de registro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Resultado de la validación con dig (sí / no / CNAME).</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Confianza y prioridad</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Metadatos de clasificación, nunca un veredicto definitivo sobre el hallazgo.</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DOCUMENTACIÓN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NOTA · HERRAMIENTAS ADICIONALES (NO EXIGIDAS POR EL PLAN)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Amass y Subfinder: mencionadas como referencia, no evaluadas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OWASP Amass y ProjectDiscovery Subfinder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Automatizan buena parte del descubrimiento pasivo que hoy se hizo con crt.sh y consultas manuales.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 forman parte del contenido obligatorio de este curso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Se mencionan como recurso adicional recomendado para quien quiera profundizar por su cuenta.</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criterio de validación manual sigue siendo la base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Entender el proceso a mano es lo que permite usar estas herramientas con criterio después.</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NOTA · HERRAMIENTAS ADICIONALES (NO EXIGIDAS POR EL PLAN)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ANTES DE LA EF1 · ERRORES COMUNES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Errores frecuentes al construir el inventario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Asumir que "no resuelve" significa "el activo no existe"</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Puede resolver solo internamente o tratarse de un registro colgante.</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Duplicar registros por mayúsculas o espacios al consolidar a mano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Normalizar siempre antes de deduplicar.</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Perder la trazabilidad de la fuente original al copiar/pegar entre planillas</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Cada fila debe conservar su fuente y fecha originales.</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ANTES DE LA EF1 · ERRORES COMUNES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EVALUACIÓN FORMATIVA 1 (EF1) · ACTIVIDAD GUIADA Y EVALUADA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EF1: inventario completo del dataset de laboratorio</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Ejecutar el ciclo completo descubrimiento → validación → deduplicación → clasificación → priorización → documentación sobre el dataset candidatos.txt de laboratorio-bacci.test — Evaluación Formativa 1 prevista en el documento fuente.</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0-8 — Normalicen (minúsculas, sin punto final) y deduplicquen candidatos.txt (15-20 entradas) con sort -u o a mano.</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8-20 — Validen con dig +short cada candidato único; registren resuelve / no resuelve / CNAME.</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20-25 — Prueben un nombre aleatorio NO listado; si también resuelve, documenten el wildcard antes de seguir.</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25-35 — Clasifiquen cada entrada por función, antigüedad y confianza; prioricen los casos especiales (IP privada, certificado expirado).</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35-45 — Completen la tabla de inventario final: subdominio, fuente(s), fecha, resuelve, tipo de registro, confianza, prioridad.</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Tabla de inventario completa del dataset, con el caso de wildcard documentado por separado — entregable formal de la EF1, evaluado con la rúbrica de la Fase 6.</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45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EVALUACIÓN FORMATIVA 1 (EF1) · ACTIVIDAD GUIADA Y EVALUADA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TRABAJO EN GRUPO · EF1</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45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El instructor circula por el aula resolviendo dudas puntuales, aplicando la rúbrica de EF1.</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SOCIALIZACIÓN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Compartamos resultados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2-3 parejas presentan su tabla de inventario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 foco en cómo documentaron el wildcard y los casos especiales.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grupo compara criterios de priorización</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¿Todos priorizaron igual entre vpn y old-portal? ¿Por qué?</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instructor cierra conectando con el ciclo completo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Vinculando cada decisión con los seis pasos de la diapositiva 4.</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SOCIALIZACIÓN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48840"/>
          </a:xfrm>
          <a:prstGeom prst="rect">
            <a:avLst/>
          </a:prstGeom>
          <a:solidFill>
            <a:srgbClr val="E2231A"/>
          </a:solidFill>
          <a:ln/>
        </p:spPr>
      </p:sp>
      <p:sp>
        <p:nvSpPr>
          <p:cNvPr id="3" name="Shape 1"/>
          <p:cNvSpPr/>
          <p:nvPr/>
        </p:nvSpPr>
        <p:spPr>
          <a:xfrm>
            <a:off x="10607040" y="-1005840"/>
            <a:ext cx="2926080" cy="2926080"/>
          </a:xfrm>
          <a:prstGeom prst="ellipse">
            <a:avLst/>
          </a:prstGeom>
          <a:solidFill>
            <a:srgbClr val="A81810">
              <a:alpha val="70000"/>
            </a:srgbClr>
          </a:solidFill>
          <a:ln/>
        </p:spPr>
      </p:sp>
      <p:sp>
        <p:nvSpPr>
          <p:cNvPr id="4" name="Text 2"/>
          <p:cNvSpPr/>
          <p:nvPr/>
        </p:nvSpPr>
        <p:spPr>
          <a:xfrm>
            <a:off x="822960" y="502920"/>
            <a:ext cx="100584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CIERRE DE LA SESIÓN 4 · FIN DEL DÍA 2</a:t>
            </a:r>
            <a:endParaRPr lang="en-US" sz="1300" dirty="0"/>
          </a:p>
        </p:txBody>
      </p:sp>
      <p:sp>
        <p:nvSpPr>
          <p:cNvPr id="5" name="Text 3"/>
          <p:cNvSpPr/>
          <p:nvPr/>
        </p:nvSpPr>
        <p:spPr>
          <a:xfrm>
            <a:off x="822960" y="868680"/>
            <a:ext cx="10241280" cy="1097280"/>
          </a:xfrm>
          <a:prstGeom prst="rect">
            <a:avLst/>
          </a:prstGeom>
          <a:noFill/>
          <a:ln/>
        </p:spPr>
        <p:txBody>
          <a:bodyPr wrap="square" rtlCol="0" anchor="ctr"/>
          <a:lstStyle/>
          <a:p>
            <a:pPr indent="0" marL="0">
              <a:buNone/>
            </a:pPr>
            <a:r>
              <a:rPr lang="en-US" sz="2700" b="1" dirty="0">
                <a:solidFill>
                  <a:srgbClr val="FFFFFF"/>
                </a:solidFill>
                <a:latin typeface="Roboto" pitchFamily="34" charset="0"/>
                <a:ea typeface="Roboto" pitchFamily="34" charset="-122"/>
                <a:cs typeface="Roboto" pitchFamily="34" charset="-120"/>
              </a:rPr>
              <a:t>Próxima sesión: Repositorios expuestos y manejo responsable de evidencias</a:t>
            </a:r>
            <a:endParaRPr lang="en-US" sz="2700" dirty="0"/>
          </a:p>
        </p:txBody>
      </p:sp>
      <p:sp>
        <p:nvSpPr>
          <p:cNvPr id="6" name="Shape 4"/>
          <p:cNvSpPr/>
          <p:nvPr/>
        </p:nvSpPr>
        <p:spPr>
          <a:xfrm>
            <a:off x="822960" y="2514600"/>
            <a:ext cx="10515600" cy="566928"/>
          </a:xfrm>
          <a:prstGeom prst="roundRect">
            <a:avLst>
              <a:gd name="adj" fmla="val 9677"/>
            </a:avLst>
          </a:prstGeom>
          <a:solidFill>
            <a:srgbClr val="F7F5F4"/>
          </a:solidFill>
          <a:ln/>
        </p:spPr>
      </p:sp>
      <p:sp>
        <p:nvSpPr>
          <p:cNvPr id="7" name="Shape 5"/>
          <p:cNvSpPr/>
          <p:nvPr/>
        </p:nvSpPr>
        <p:spPr>
          <a:xfrm>
            <a:off x="822960" y="2514600"/>
            <a:ext cx="54864" cy="566928"/>
          </a:xfrm>
          <a:prstGeom prst="rect">
            <a:avLst/>
          </a:prstGeom>
          <a:solidFill>
            <a:srgbClr val="E2231A"/>
          </a:solidFill>
          <a:ln/>
        </p:spPr>
      </p:sp>
      <p:sp>
        <p:nvSpPr>
          <p:cNvPr id="8" name="Text 6"/>
          <p:cNvSpPr/>
          <p:nvPr/>
        </p:nvSpPr>
        <p:spPr>
          <a:xfrm>
            <a:off x="1097280" y="2514600"/>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Cierre del eje de reconocimiento pasivo (Sesiones 2 a 4) hacia el manejo responsable de hallazgos</a:t>
            </a:r>
            <a:endParaRPr lang="en-US" sz="1350" dirty="0"/>
          </a:p>
        </p:txBody>
      </p:sp>
      <p:sp>
        <p:nvSpPr>
          <p:cNvPr id="9" name="Shape 7"/>
          <p:cNvSpPr/>
          <p:nvPr/>
        </p:nvSpPr>
        <p:spPr>
          <a:xfrm>
            <a:off x="822960" y="3191256"/>
            <a:ext cx="10515600" cy="566928"/>
          </a:xfrm>
          <a:prstGeom prst="roundRect">
            <a:avLst>
              <a:gd name="adj" fmla="val 9677"/>
            </a:avLst>
          </a:prstGeom>
          <a:solidFill>
            <a:srgbClr val="F7F5F4"/>
          </a:solidFill>
          <a:ln/>
        </p:spPr>
      </p:sp>
      <p:sp>
        <p:nvSpPr>
          <p:cNvPr id="10" name="Shape 8"/>
          <p:cNvSpPr/>
          <p:nvPr/>
        </p:nvSpPr>
        <p:spPr>
          <a:xfrm>
            <a:off x="822960" y="3191256"/>
            <a:ext cx="54864" cy="566928"/>
          </a:xfrm>
          <a:prstGeom prst="rect">
            <a:avLst/>
          </a:prstGeom>
          <a:solidFill>
            <a:srgbClr val="E2231A"/>
          </a:solidFill>
          <a:ln/>
        </p:spPr>
      </p:sp>
      <p:sp>
        <p:nvSpPr>
          <p:cNvPr id="11" name="Text 9"/>
          <p:cNvSpPr/>
          <p:nvPr/>
        </p:nvSpPr>
        <p:spPr>
          <a:xfrm>
            <a:off x="1097280" y="3191256"/>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Análisis de historial de Git y exposición accidental de secretos</a:t>
            </a:r>
            <a:endParaRPr lang="en-US" sz="1350" dirty="0"/>
          </a:p>
        </p:txBody>
      </p:sp>
      <p:sp>
        <p:nvSpPr>
          <p:cNvPr id="12" name="Shape 10"/>
          <p:cNvSpPr/>
          <p:nvPr/>
        </p:nvSpPr>
        <p:spPr>
          <a:xfrm>
            <a:off x="822960" y="3867912"/>
            <a:ext cx="10515600" cy="566928"/>
          </a:xfrm>
          <a:prstGeom prst="roundRect">
            <a:avLst>
              <a:gd name="adj" fmla="val 9677"/>
            </a:avLst>
          </a:prstGeom>
          <a:solidFill>
            <a:srgbClr val="F7F5F4"/>
          </a:solidFill>
          <a:ln/>
        </p:spPr>
      </p:sp>
      <p:sp>
        <p:nvSpPr>
          <p:cNvPr id="13" name="Shape 11"/>
          <p:cNvSpPr/>
          <p:nvPr/>
        </p:nvSpPr>
        <p:spPr>
          <a:xfrm>
            <a:off x="822960" y="3867912"/>
            <a:ext cx="54864" cy="566928"/>
          </a:xfrm>
          <a:prstGeom prst="rect">
            <a:avLst/>
          </a:prstGeom>
          <a:solidFill>
            <a:srgbClr val="E2231A"/>
          </a:solidFill>
          <a:ln/>
        </p:spPr>
      </p:sp>
      <p:sp>
        <p:nvSpPr>
          <p:cNvPr id="14" name="Text 12"/>
          <p:cNvSpPr/>
          <p:nvPr/>
        </p:nvSpPr>
        <p:spPr>
          <a:xfrm>
            <a:off x="1097280" y="3867912"/>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Cadena de custodia aplicada a evidencia digital, retomando lo visto en OSINT y subdominios</a:t>
            </a:r>
            <a:endParaRPr lang="en-US" sz="1350" dirty="0"/>
          </a:p>
        </p:txBody>
      </p:sp>
      <p:sp>
        <p:nvSpPr>
          <p:cNvPr id="15" name="Shape 13"/>
          <p:cNvSpPr/>
          <p:nvPr/>
        </p:nvSpPr>
        <p:spPr>
          <a:xfrm>
            <a:off x="822960" y="4544568"/>
            <a:ext cx="10515600" cy="566928"/>
          </a:xfrm>
          <a:prstGeom prst="roundRect">
            <a:avLst>
              <a:gd name="adj" fmla="val 9677"/>
            </a:avLst>
          </a:prstGeom>
          <a:solidFill>
            <a:srgbClr val="F7F5F4"/>
          </a:solidFill>
          <a:ln/>
        </p:spPr>
      </p:sp>
      <p:sp>
        <p:nvSpPr>
          <p:cNvPr id="16" name="Shape 14"/>
          <p:cNvSpPr/>
          <p:nvPr/>
        </p:nvSpPr>
        <p:spPr>
          <a:xfrm>
            <a:off x="822960" y="4544568"/>
            <a:ext cx="54864" cy="566928"/>
          </a:xfrm>
          <a:prstGeom prst="rect">
            <a:avLst/>
          </a:prstGeom>
          <a:solidFill>
            <a:srgbClr val="E2231A"/>
          </a:solidFill>
          <a:ln/>
        </p:spPr>
      </p:sp>
      <p:sp>
        <p:nvSpPr>
          <p:cNvPr id="17" name="Text 15"/>
          <p:cNvSpPr/>
          <p:nvPr/>
        </p:nvSpPr>
        <p:spPr>
          <a:xfrm>
            <a:off x="1097280" y="4544568"/>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El inventario de subdominios de hoy (EF1) queda como insumo de referencia para el resto del curso</a:t>
            </a:r>
            <a:endParaRPr lang="en-US" sz="1350" dirty="0"/>
          </a:p>
        </p:txBody>
      </p:sp>
      <p:sp>
        <p:nvSpPr>
          <p:cNvPr id="18" name="Text 16"/>
          <p:cNvSpPr/>
          <p:nvPr/>
        </p:nvSpPr>
        <p:spPr>
          <a:xfrm>
            <a:off x="822960" y="5358384"/>
            <a:ext cx="10332720" cy="548640"/>
          </a:xfrm>
          <a:prstGeom prst="rect">
            <a:avLst/>
          </a:prstGeom>
          <a:noFill/>
          <a:ln/>
        </p:spPr>
        <p:txBody>
          <a:bodyPr wrap="square" rtlCol="0" anchor="ctr"/>
          <a:lstStyle/>
          <a:p>
            <a:pPr indent="0" marL="0">
              <a:buNone/>
            </a:pPr>
            <a:r>
              <a:rPr lang="en-US" sz="1400" i="1" dirty="0">
                <a:solidFill>
                  <a:srgbClr val="E2231A"/>
                </a:solidFill>
                <a:latin typeface="Roboto" pitchFamily="34" charset="0"/>
                <a:ea typeface="Roboto" pitchFamily="34" charset="-122"/>
                <a:cs typeface="Roboto" pitchFamily="34" charset="-120"/>
              </a:rPr>
              <a:t>Encuesta de comprensión y bitácora de conceptos: registrar los 3 aprendizajes clave y 1 duda antes de salir.</a:t>
            </a:r>
            <a:endParaRPr lang="en-US" sz="1400" dirty="0"/>
          </a:p>
        </p:txBody>
      </p:sp>
      <p:sp>
        <p:nvSpPr>
          <p:cNvPr id="19" name="Text 17"/>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E2231A"/>
                </a:solidFill>
                <a:latin typeface="Roboto" pitchFamily="34" charset="0"/>
                <a:ea typeface="Roboto" pitchFamily="34" charset="-122"/>
                <a:cs typeface="Roboto"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4 — Subdominios: organización y validación responsable</dc:title>
  <dc:subject>PptxGenJS Presentation</dc:subject>
  <dc:creator>REDNEET — Capacitación 40 horas CENAC Telemática</dc:creator>
  <cp:lastModifiedBy>REDNEET — Capacitación 40 horas CENAC Telemática</cp:lastModifiedBy>
  <cp:revision>1</cp:revision>
  <dcterms:created xsi:type="dcterms:W3CDTF">2026-08-17T20:27:06Z</dcterms:created>
  <dcterms:modified xsi:type="dcterms:W3CDTF">2026-08-17T20:27:06Z</dcterms:modified>
</cp:coreProperties>
</file>