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la bienvenida a la jornada de la tarde y presentar la primera herramienta de intercepción activa del curso.
NOTAS DETALLADAS DEL EXPOSITOR:
Esta sesión da un giro respecto a las anteriores: hasta ahora todo el reconocimiento fue pasivo (OSINT, subdominios, historial de Git); hoy se introduce la primera técnica de intercepción activa y controlada — un MITM (man-in-the-middle) autorizado sobre el propio tráfico del participante. Es la sesión más extensa del curso: se extiende deliberadamente hasta la mañana del Día 4 para dar tiempo suficiente a los 12 pasos de configuración y a una Evaluación Formativa 3 con el tiempo completo del Laboratorio 5 (90 minutos).
EJEMPLO O ANALOGÍA:
Ninguno; es la portada de apertura.
PREGUNTA DE PARTICIPACIÓN:
¿Alguien sabe qué es un proxy, en términos generales, aunque no lo relacione todavía con seguridad?
TRANSICIÓN A LA SIGUIENTE DIAPOSITIVA:
Pasar a la agenda de la tarde.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el mapa mental de la tarde del Día 3, dejando claro desde el inicio que la sesión no termina hoy.
NOTAS DETALLADAS DEL EXPOSITOR:
La tarde de hoy cubre todo el bloque conceptual y la primera mitad de la configuración de Burp (pasos 1-8, hasta lograr interceptar HTTPS sin advertencias). Los pasos 9-12 (Intercept, History, Repeater, restauración) y la Evaluación Formativa 3 se practican mañana en la mañana del Día 4, con el grupo descansado.
EJEMPLO O ANALOGÍA:
No aplica.
PREGUNTA DE PARTICIPACIÓN:
¿Alguna pregunta logística antes de comenzar?
TRANSICIÓN A LA SIGUIENTE DIAPOSITIVA:
Iniciar con la recuperación de dudas de la Sesión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dudas pendientes de la Sesión 5 y reactivar específicamente el conocimiento de TLS/certificados de la Sesión 2, prerrequisito directo de hoy.
NOTAS DETALLADAS DEL EXPOSITOR:
Usar el registro de la encuesta de comprensión y bitácora de la Sesión 5 como insumo real. Conviene un repaso relámpago adicional de TLS/certificados (Sesión 2), ya que es la base conceptual directa de la intercepción HTTPS de hoy.
EJEMPLO O ANALOGÍA:
No aplica.
PREGUNTA DE PARTICIPACIÓN:
¿Qué recuerdan sobre por qué un navegador confía o no en un certificado?
TRANSICIÓN A LA SIGUIENTE DIAPOSITIVA:
Entrar de lleno al concepto de 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Definir con precisión qué es un proxy y distinguir el tipo específico que se usará en el curso, contenido obligatorio de la Fase 2, Sesión 6.
NOTAS DETALLADAS DEL EXPOSITOR:
Concepto obligatorio de la Fase 2, Sesión 6. Un forward proxy tradicional prioriza reenviar tráfico de forma transparente; un intercepting proxy como Burp está diseñado explícitamente para pausar, inspeccionar y alterar cada solicitud/respuesta bajo control del analista.
EJEMPLO O ANALOGÍA:
Un forward proxy es como un cartero que solo entrega la correspondencia; un intercepting proxy es como si el cartero abriera cada sobre, lo leyera y, si se lo autorizan, cambiara el contenido antes de sellarlo y entregarlo.
PREGUNTA DE PARTICIPACIÓN:
¿Por qué un forward proxy común no serviría para lo que haremos hoy en el laboratorio?
TRANSICIÓN A LA SIGUIENTE DIAPOSITIVA:
Ver ahora el flujo completo de cómo el proxy se inserta entre navegador y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Mostrar por qué el proxy puede ver y modificar el tráfico en ambas direcciones: nada llega directo entre navegador y servidor sin pasar por Burp.
NOTAS DETALLADAS DEL EXPOSITOR:
Concepto obligatorio de la Fase 2, Sesión 6: flujo navegador → proxy → servidor y por qué el proxy puede ver/modificar el tráfico. Es clave remarcar que esto ocurre en AMBAS direcciones: tanto la solicitud saliente como la respuesta entrante pasan por Burp, lo cual es lo que permite tanto Intercept como Repeater.
EJEMPLO O ANALOGÍA:
Es como una llamada telefónica donde un tercero está en la línea desde el inicio, escuchando y, si quiere, interrumpiendo antes de que el mensaje llegue al otro lado — en ambas direcciones de la conversación.
PREGUNTA DE PARTICIPACIÓN:
Ver la comprobación rápida en la siguiente diapositiva.
TRANSICIÓN A LA SIGUIENTE DIAPOSITIVA:
Comprobar la comprensión de este flujo antes de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Confirmar que el grupo entendió que la intercepción depende por completo de la configuración explícita del navegador, antes de entrar al mecanismo de HTTPS.
NOTAS DETALLADAS DEL EXPOSITOR:
Respuesta correcta: B. Burp no intercepta tráfico de red a nivel de sistema operativo; solo ve lo que el navegador (u otra aplicación) decide enviarle explícitamente como proxy configurado. Esta es la base de por qué el paso 3 de la configuración (proxy manual en Firefox) es indispensable.
EJEMPLO O ANALOGÍA:
No aplica.
PREGUNTA DE PARTICIPACIÓN:
No aplica.
TRANSICIÓN A LA SIGUIENTE DIAPOSITIVA:
Con HTTP claro, ver el caso más delicado: ¿qué pasa con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Explicar el mecanismo técnico central de la sesión: cómo Burp intercepta HTTPS sin romper la validación del navegador, contenido obligatorio de la Fase 2.
NOTAS DETALLADAS DEL EXPOSITOR:
Concepto obligatorio de la Fase 2, Sesión 6, y prerrequisito directo del laboratorio de certificados visto en la Sesión 2. Burp en realidad termina dos conexiones TLS distintas: una entre navegador y Burp (con el certificado de Burp), y otra entre Burp y el servidor real (con el certificado real del servidor) — el navegador solo ve la primera.
EJEMPLO O ANALOGÍA:
Es como si alguien interceptara una carta sellada, la abriera con su propio sello oficial (que tú decidiste reconocer como válido), la leyera, y la volviera a sellar con el sello original antes de continuar el envío.
PREGUNTA DE PARTICIPACIÓN:
¿Por qué el navegador NO mostraría advertencia si ya instalamos la CA de Burp como confiable?
TRANSICIÓN A LA SIGUIENTE DIAPOSITIVA:
Este mecanismo tiene un nombre técnico preciso: MITM autorizado y controlado.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Activar la discusión sobre la pregunta más importante de la sesión antes de presentarla de forma explícita en la siguiente diapositiva.
NOTAS DETALLADAS DEL EXPOSITOR:
Pregunta difícil del banco de la Fase 2 (P2 de Sesión 6). Respuesta de referencia: técnicamente el mecanismo sería idéntico; éticamente dejaría de ser autorizado, porque la otra persona no dio su consentimiento informado — se convertiría en un ataque MITM real. Vincular explícitamente con el marco de alcance autorizado de la Sesión 1.
EJEMPLO O ANALOGÍA:
Es la diferencia entre que un cerrajero abra la puerta de tu propia casa porque perdiste la llave, y que alguien use las mismas herramientas para entrar a la casa de otra persona sin permiso.
PREGUNTA DE PARTICIPACIÓN:
Ver la diapositiva.
TRANSICIÓN A LA SIGUIENTE DIAPOSITIVA:
Formalizar esta distinción de forma explícita.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Fijar con total claridad la línea ética entre esta práctica autorizada y un ataque MITM real, retomando el marco de alcance autorizado de la Sesión 1.
NOTAS DETALLADAS DEL EXPOSITOR:
El mecanismo técnico es exactamente el mismo en ambos casos; la diferencia crítica es la autorización y el consentimiento informado. Sin esa autorización, la misma técnica sería un ataque.
EJEMPLO O ANALOGÍA:
No aplica; ya cubierto en la discusión anterior.
PREGUNTA DE PARTICIPACIÓN:
No aplica.
TRANSICIÓN A LA SIGUIENTE DIAPOSITIVA:
Conocer ahora los componentes concretos de Burp que se usarán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los tres componentes obligatorios del curso (Intercept, HTTP History, Repeater), dejando explícito qué NO se usará.
NOTAS DETALLADAS DEL EXPOSITOR:
Concepto obligatorio de la Fase 2, Sesión 6. El escáner activo automatizado es una función de Burp Suite Professional; la edición Community usada en este curso incluye Proxy y Repeater manual, que es exactamente lo que se practica hoy — ninguna automatización de ataques forma parte del alcance de este curso.
EJEMPLO O ANALOGÍA:
HTTP History es como el registro de llamadas de un teléfono; Repeater es como volver a marcar el mismo número pero cambiando algo del mensaje antes de hablar, para comparar la respuesta.
PREGUNTA DE PARTICIPACIÓN:
¿Por qué Repeater es una herramienta manual y no un 'atacante automático' de la aplicación?
TRANSICIÓN A LA SIGUIENTE DIAPOSITIVA:
Antes de la pausa, aclarar una última distinción: navegador embebido de Burp vs. Firefox externo.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Justificar la decisión pedagógica de configurar Firefox manualmente en vez de usar el navegador embebido, contenido obligatorio de la Fase 2.
NOTAS DETALLADAS DEL EXPOSITOR:
El navegador embebido ya trae proxy y certificado preconfigurados; configurar Firefox manualmente enseña el mecanismo subyacente (proxy del sistema, gestor de certificados) aplicable también a ZAP en la Sesión 7 — esta es la razón pedagógica explícita de por qué el curso elige el camino más largo.
EJEMPLO O ANALOGÍA:
Es la diferencia entre usar un electrodoméstico con ajustes automáticos de fábrica y aprender a configurarlo manualmente: lo segundo toma más tiempo, pero enseña cómo funciona por dentro.
PREGUNTA DE PARTICIPACIÓN:
¿Qué conocimiento de hoy creen que van a poder reutilizar directamente en la Sesión 7 con ZAP?
TRANSICIÓN A LA SIGUIENTE DIAPOSITIVA:
Pausa antes de la configuración guiada.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un descanso programado antes del bloque más largo y técnico de la tarde.
NOTAS DETALLADAS DEL EXPOSITOR:
Aprovechar para verificar que Burp Suite está instalado y validado en todas las VM (checklist LAB-READY) y que los dos servicios de práctica (Juice Shop y el sitio HTTPS de laboratorio) están arriba y accesibles.
PREGUNTA DE PARTICIPACIÓN:
No aplica durante la pausa.
TRANSICIÓN A LA SIGUIENTE DIAPOSITIVA:
Retomar presentando el entorno de práctica antes de configurar Burp.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el entorno de práctica antes de iniciar la configuración, aclarando explícitamente el alcance de Juice Shop dentro de la EF3.
NOTAS DETALLADAS DEL EXPOSITOR:
Aclaración de alcance explícita para la EF3 (documentada en la Fase 4): dentro de esta evaluación formativa, Juice Shop se usa como generador de tráfico HTTP realista y sus vulnerabilidades deliberadas no se explotan — el objetivo de la EF3 es la configuración e intercepción, no la explotación. Son los mismos dos servicios usados en el Laboratorio 1 (Sesión 2). Para quienes quieran profundizar en explotación manual con Burp (Repeater), existe un anexo complementario con 6 guías guiadas (inyección SQL, XSS, control de acceso, autenticación, SSRF y lógica de negocio) sobre este mismo Juice Shop — material adicional fuera de las 40 horas contratadas; el instructor decide si se ofrece como reto opcional para quien termine antes, o como material de autoestudio para después del curso.
EJEMPLO O ANALOGÍA:
Es como practicar con un vehículo de entrenamiento en un circuito cerrado: el vehículo tiene todas las funciones reales, pero el uso está limitado estrictamente al ejercicio definido.
PREGUNTA DE PARTICIPACIÓN:
¿Por qué el curso necesita un sitio HTTP y uno HTTPS distintos para cubrir todo lo visto en la Sesión 2?
TRANSICIÓN A LA SIGUIENTE DIAPOSITIVA:
Iniciar la configuración guiada de Burp, paso a paso.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en vivo los primeros 4 de los 12 pasos de la guía de configuración de Burp (Fase 4, sección 2), estableciendo la conexión básica sobre HTTP antes de abordar HTTPS.
NOTAS DETALLADAS DEL EXPOSITOR:
Contenido obligatorio de la Fase 2, Sesión 6 (bloque práctico). Estos primeros 4 pasos ya permiten observar tráfico HTTP completo en HTTP History — es un buen punto de control para confirmar que todo el grupo llegó hasta aquí antes de avanzar a la parte más delicada: el certificado de Burp para HTTPS. Dar tiempo generoso: es una demostración de interfaz gráfica y cada participante debe reproducirla en su propia VM al mismo ritmo.
EJEMPLO O ANALOGÍA:
No aplica.
PREGUNTA DE PARTICIPACIÓN:
Si en este punto navegan a un sitio HTTPS, ¿qué esperarían que pase todavía?
TRANSICIÓN A LA SIGUIENTE DIAPOSITIVA:
Continuar con el núcleo de la configuración: el certificado CA de Burp.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en vivo los pasos 5 a 8, el núcleo técnico de toda la sesión: el mecanismo de exportación e importación de la CA de Burp que permite interceptar HTTPS sin advertencias.
NOTAS DETALLADAS DEL EXPOSITOR:
Estos son los pasos donde ocurre con mayor frecuencia el error común documentado en Fase 2: no importar correctamente la CA de Burp, quedando como certificado no confiable. Detenerse especialmente en el paso 7 y verificar que cada participante ve efectivamente la advertencia desaparecer en el paso 8 antes de continuar — es el punto de control más crítico de toda la sesión.
EJEMPLO O ANALOGÍA:
Es el equivalente a agregar oficialmente el sello de un notario específico a la lista de sellos que reconoces como válidos, antes de aceptar cualquier documento que lleve ese sello.
COMANDO / DEMOSTRACIÓN:
No aplica; procedimiento de interfaz gráfica (Proxy settings de Burp y gestor de certificados de Firefox).
PREGUNTA DE PARTICIPACIÓN:
Ver la comprobación rápida en la siguiente diapositiva.
TRANSICIÓN A LA SIGUIENTE DIAPOSITIVA:
Comprobar la comprensión de este mecanismo antes de cerrar el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Confirmar que el grupo entendió por qué la advertencia aparece y desaparece exactamente en el punto de importar la CA, antes de cerrar la tarde.
NOTAS DETALLADAS DEL EXPOSITOR:
Respuesta correcta: A. El navegador valida el certificado que Burp genera sobre la marcha contra su lista de CA confiables; sin la CA de Burp en esa lista, el certificado siempre se ve como no confiable, sin importar que el sitio real sea legítimo.
EJEMPLO O ANALOGÍA:
No aplica.
PREGUNTA DE PARTICIPACIÓN:
No aplica.
TRANSICIÓN A LA SIGUIENTE DIAPOSITIVA:
Cerrar la jornada del Día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de forma ordenada la tarde del Día 3, dejando explícito qué falta y confirmando que no se requiere ninguna acción de los participantes fuera del horario de clase.
NOTAS DETALLADAS DEL EXPOSITOR:
El instructor debe confirmar antes de salir que los servicios de práctica (Juice Shop y sitio HTTPS) seguirán disponibles para el Día 4; si las VM se apagan, planear tiempo de arranque adicional al inicio de mañana.
EJEMPLO O ANALOGÍA:
No aplica.
PREGUNTA DE PARTICIPACIÓN:
¿Qué parte de la configuración de hoy les pareció más delicada?
TRANSICIÓN A LA SIGUIENTE DIAPOSITIVA:
Fin del bloque de la tarde del Día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Marcar visualmente la reanudación de la Sesión 6 en un nuevo día, y dar el mapa de lo que falta.
NOTAS DETALLADAS DEL EXPOSITOR:
Esta diapositiva reemplaza una portada nueva: es la misma Sesión 6, solo que retomada al día siguiente. Verificar primero que los servicios de práctica y la configuración de cada VM siguen intactos antes de avanzar al repaso.
PREGUNTA DE PARTICIPACIÓN:
¿A alguien se le reinició la VM y necesita rehacer algún paso de ayer?
TRANSICIÓN A LA SIGUIENTE DIAPOSITIVA:
Repaso relámpago de lo hecho ayer antes de continuar.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Confirmar en 5-10 minutos que todo el grupo sigue en el mismo punto de configuración antes de avanzar a Intercept y Repeater.
NOTAS DETALLADAS DEL EXPOSITOR:
Si el laboratorio usa VM persistentes, esto debería ser una verificación rápida; si las VM se reinician entre sesiones, dar tiempo para repetir los pasos 1-8 completos antes de continuar.
EJEMPLO O ANALOGÍA:
No aplica.
PREGUNTA DE PARTICIPACIÓN:
¿Alguna VM necesita repetir la importación de la CA?
TRANSICIÓN A LA SIGUIENTE DIAPOSITIVA:
Continuar con el resto de la guía de configuración: pasos 9 a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Completar los últimos 4 pasos de la guía de configuración, cerrando el ciclo completo desde la instalación hasta la restauración responsable del entorno.
NOTAS DETALLADAS DEL EXPOSITOR:
El paso 12 (restaurar) previene el error común documentado en Fase 2: olvidar devolver el navegador a 'sin proxy' al terminar. Recalcar también el error de dejar Intercept en ON accidentalmente, haciendo que la página parezca 'congelada' esperando una acción manual en Burp.
EJEMPLO O ANALOGÍA:
Restaurar la configuración de red es como devolver una herramienta prestada a su lugar: el laboratorio termina, pero el entorno debe quedar utilizable para lo que sigue.
COMANDO / DEMOSTRACIÓN:
No aplica; procedimiento de interfaz gráfica de Burp Suite.
PREGUNTA DE PARTICIPACIÓN:
¿Por qué olvidar el paso 12 podría causar problemas más allá de esta sesión?
TRANSICIÓN A LA SIGUIENTE DIAPOSITIVA:
Antes del ejercicio evaluado, resolver algunas preguntas técnicas frecuentes.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Anticipar tres preguntas técnicas de profundización documentadas en la Fase 2, que suelen surgir naturalmente durante o después de la configuración.
NOTAS DETALLADAS DEL EXPOSITOR:
No es necesario que el grupo las domine en profundidad — el objetivo es que sepan que existen y por qué son relevantes, especialmente el Target scope, que se retomará como buena práctica recomendada al iniciar cualquier sesión de intercepción real fuera del aula.
EJEMPLO O ANALOGÍA:
Certificate pinning es como una persona que reconoce la voz exacta de un contacto de confianza, sin importar qué credencial 'oficial' presente un desconocido que se hace pasar por él.
PREGUNTA DE PARTICIPACIÓN:
¿Por qué definir el Target scope antes de capturar tráfico ayuda a mantenerse dentro del alcance autorizado del ejercicio?
TRANSICIÓN A LA SIGUIENTE DIAPOSITIVA:
Repasar los errores más comunes antes de la Evaluación Formativa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Repasar explícitamente los cuatro errores comunes documentados en la Fase 2 antes de que el grupo repita la configuración de forma autónoma en la EF3.
NOTAS DETALLADAS DEL EXPOSITOR:
Estos cuatro errores están tomados directamente del banco de errores comunes de la Fase 2, Sesión 6. Práctica previa recomendada del instructor: provocar deliberadamente el error de CA no importada antes del curso, para poder mostrarlo y resolverlo en vivo con calma si aparece durante el ejercicio.
EJEMPLO O ANALOGÍA:
No aplica.
PREGUNTA DE PARTICIPACIÓN:
¿Cuál de estos cuatro errores les parece más fácil de no notar mientras están concentrados en otra cosa?
TRANSICIÓN A LA SIGUIENTE DIAPOSITIVA:
Pausa breve antes de la Evaluación Formativa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un respiro breve antes del bloque evaluado más largo del curso hasta el momento.
NOTAS DETALLADAS DEL EXPOSITOR:
Aprovechar para confirmar que los dos servicios de práctica siguen activos y que ninguna VM quedó en un estado inconsistente tras el repaso.
PREGUNTA DE PARTICIPACIÓN:
No aplica durante la pausa.
TRANSICIÓN A LA SIGUIENTE DIAPOSITIVA:
Retomar con la práctica individual antes de formar parejas.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Asegurar que cada participante, no solo cada pareja, puede operar Burp de forma autónoma antes de la actividad evaluada, siguiendo el patrón de práctica individual ya usado en sesiones anteriores.
NOTAS DETALLADAS DEL EXPOSITOR:
El criterio de éxito documentado en la Fase 2 es poder configurar Burp de cero e interceptar/modificar una solicitud en menos de 10 minutos; esta práctica individual es el punto de control más cercano a ese criterio antes de la evaluación formal.
EJEMPLO O ANALOGÍA:
No aplica.
PREGUNTA DE PARTICIPACIÓN:
(La verificación es la actividad misma.)
TRANSICIÓN A LA SIGUIENTE DIAPOSITIVA:
Formar parejas para la Evaluación Formativa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la Evaluación Formativa 3 prevista en el documento fuente (Tabla 4), replicando el Laboratorio 5 (Fase 4) completo, con su duración íntegra de 90 minutos.
NOTAS DETALLADAS DEL EXPOSITOR:
Esta actividad se califica con la rúbrica de EF3 definida en la Fase 6 (Configuración autónoma, Lectura de solicitudes, Uso de Repeater, Manejo ético del alcance), dentro del 25 % de 'Evaluaciones prácticas formativas'. Recordar constantemente el límite de alcance: Repeater solo debe usarse contra los dos servicios de práctica autorizados, nunca contra un sitio externo real.
EJEMPLO O ANALOGÍA:
Un ejemplo simple de modificación en Repeater: cambiar el valor de un parámetro de cantidad en una solicitud a Juice Shop y observar cómo cambia la respuesta.
PREGUNTA DE PARTICIPACIÓN:
(La pregunta de participación de este bloque es la actividad misma; se retoma en la socialización.)
TRANSICIÓN A LA SIGUIENTE DIAPOSITIVA:
Iniciar el tiempo de trabajo en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Marcar visualmente el tiempo de trabajo autónomo en parejas, el más largo del curso hasta ahora.
NOTAS DETALLADAS DEL EXPOSITOR:
Durante este tiempo, hacer preguntas guía en vez de dar respuestas directas: '¿en qué paso exacto se detuvo la configuración?', '¿revisaste si Intercept quedó en ON?'. Avisar cuando falten 20 y 10 minutos, dado que es el bloque de trabajo autónomo más extenso del curso.
PREGUNTA DE PARTICIPACIÓN:
No aplica; es tiempo de trabajo autónomo.
TRANSICIÓN A LA SIGUIENTE DIAPOSITIVA:
Al cumplirse el tiempo, pasar a la socialización de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la EF3 con una puesta en común, reforzando tanto el aprendizaje técnico como el marco ético de la sesión.
NOTAS DETALLADAS DEL EXPOSITOR:
No es necesario que todas las parejas presenten. Es un buen momento para preguntar explícitamente si alguien restauró correctamente el proxy de Firefox (paso 12) antes de llegar aquí, reforzando ese hábito de cierre responsable.
EJEMPLO O ANALOGÍA:
No aplica.
PREGUNTA DE PARTICIPACIÓN:
¿Alguna pareja encontró un comportamiento inesperado al modificar un parámetro en Repeater?
TRANSICIÓN A LA SIGUIENTE DIAPOSITIVA:
Pasar al cierre de la Sesión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el cierre previsto en el documento fuente (Tabla 7): encuesta de comprensión y bitácora de conceptos, y dar orientación hacia la Sesión 7, que ocurre la misma tarde del Día 4 y reutiliza directamente el conocimiento de hoy.
NOTAS DETALLADAS DEL EXPOSITOR:
Con esta sesión se completa el primer eje de intercepción activa del curso. La Sesión 7 (misma tarde, Día 4) presenta OWASP ZAP como alternativa de código abierto, usando exactamente el mismo mecanismo conceptual (proxy, CA, Firefox manual) sobre un puerto distinto (127.0.0.1:8081) para evitar conflicto con Burp. El anexo de explotación con Juice Shop es opcional y no evaluado: se puede ofrecer a quien termine la EF3 antes, o dejarlo como material de autoestudio — no debe implicar tiempo adicional de aula, para no comprometer el cronograma de 40 horas confirmado con el cliente.
EJEMPLO O ANALOGÍA:
No aplica.
PREGUNTA DE PARTICIPACIÓN:
De los 12 pasos de configuración, ¿cuál sienten que van a recordar sin necesidad de repasar la guía?
TRANSICIÓN A LA SIGUIENTE DIAPOSITIVA:
Fin de la Sesión 6. (Última diapositiva del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99832" y="0"/>
            <a:ext cx="4389120" cy="6858000"/>
          </a:xfrm>
          <a:prstGeom prst="rect">
            <a:avLst/>
          </a:prstGeom>
          <a:solidFill>
            <a:srgbClr val="E2231A"/>
          </a:solidFill>
          <a:ln/>
        </p:spPr>
      </p:sp>
      <p:sp>
        <p:nvSpPr>
          <p:cNvPr id="3" name="Shape 1"/>
          <p:cNvSpPr/>
          <p:nvPr/>
        </p:nvSpPr>
        <p:spPr>
          <a:xfrm>
            <a:off x="8686800" y="457200"/>
            <a:ext cx="1234440" cy="1234440"/>
          </a:xfrm>
          <a:prstGeom prst="ellipse">
            <a:avLst/>
          </a:prstGeom>
          <a:solidFill>
            <a:srgbClr val="FFFFFF">
              <a:alpha val="18000"/>
            </a:srgbClr>
          </a:solidFill>
          <a:ln/>
        </p:spPr>
      </p:sp>
      <p:sp>
        <p:nvSpPr>
          <p:cNvPr id="4" name="Shape 2"/>
          <p:cNvSpPr/>
          <p:nvPr/>
        </p:nvSpPr>
        <p:spPr>
          <a:xfrm>
            <a:off x="10607040" y="5120640"/>
            <a:ext cx="1828800" cy="1828800"/>
          </a:xfrm>
          <a:prstGeom prst="ellipse">
            <a:avLst/>
          </a:prstGeom>
          <a:solidFill>
            <a:srgbClr val="A81810">
              <a:alpha val="75000"/>
            </a:srgbClr>
          </a:solidFill>
          <a:ln/>
        </p:spPr>
      </p:sp>
      <p:sp>
        <p:nvSpPr>
          <p:cNvPr id="5" name="Shape 3"/>
          <p:cNvSpPr/>
          <p:nvPr/>
        </p:nvSpPr>
        <p:spPr>
          <a:xfrm>
            <a:off x="137160" y="6172200"/>
            <a:ext cx="365760" cy="365760"/>
          </a:xfrm>
          <a:prstGeom prst="ellipse">
            <a:avLst/>
          </a:prstGeom>
          <a:solidFill>
            <a:srgbClr val="E2231A"/>
          </a:solidFill>
          <a:ln/>
        </p:spPr>
      </p:sp>
      <p:sp>
        <p:nvSpPr>
          <p:cNvPr id="6" name="Shape 4"/>
          <p:cNvSpPr/>
          <p:nvPr/>
        </p:nvSpPr>
        <p:spPr>
          <a:xfrm>
            <a:off x="649224" y="566928"/>
            <a:ext cx="256032" cy="0"/>
          </a:xfrm>
          <a:prstGeom prst="line">
            <a:avLst/>
          </a:prstGeom>
          <a:noFill/>
          <a:ln w="20320">
            <a:solidFill>
              <a:srgbClr val="E2231A"/>
            </a:solidFill>
            <a:prstDash val="solid"/>
          </a:ln>
        </p:spPr>
      </p:sp>
      <p:sp>
        <p:nvSpPr>
          <p:cNvPr id="7" name="Shape 5"/>
          <p:cNvSpPr/>
          <p:nvPr/>
        </p:nvSpPr>
        <p:spPr>
          <a:xfrm rot="2700000">
            <a:off x="649224" y="566928"/>
            <a:ext cx="256032" cy="0"/>
          </a:xfrm>
          <a:prstGeom prst="line">
            <a:avLst/>
          </a:prstGeom>
          <a:noFill/>
          <a:ln w="20320">
            <a:solidFill>
              <a:srgbClr val="E2231A"/>
            </a:solidFill>
            <a:prstDash val="solid"/>
          </a:ln>
        </p:spPr>
      </p:sp>
      <p:sp>
        <p:nvSpPr>
          <p:cNvPr id="8" name="Shape 6"/>
          <p:cNvSpPr/>
          <p:nvPr/>
        </p:nvSpPr>
        <p:spPr>
          <a:xfrm rot="5400000">
            <a:off x="649224" y="566928"/>
            <a:ext cx="256032" cy="0"/>
          </a:xfrm>
          <a:prstGeom prst="line">
            <a:avLst/>
          </a:prstGeom>
          <a:noFill/>
          <a:ln w="20320">
            <a:solidFill>
              <a:srgbClr val="E2231A"/>
            </a:solidFill>
            <a:prstDash val="solid"/>
          </a:ln>
        </p:spPr>
      </p:sp>
      <p:sp>
        <p:nvSpPr>
          <p:cNvPr id="9" name="Shape 7"/>
          <p:cNvSpPr/>
          <p:nvPr/>
        </p:nvSpPr>
        <p:spPr>
          <a:xfrm rot="8100000">
            <a:off x="649224" y="566928"/>
            <a:ext cx="256032" cy="0"/>
          </a:xfrm>
          <a:prstGeom prst="line">
            <a:avLst/>
          </a:prstGeom>
          <a:noFill/>
          <a:ln w="20320">
            <a:solidFill>
              <a:srgbClr val="E2231A"/>
            </a:solidFill>
            <a:prstDash val="solid"/>
          </a:ln>
        </p:spPr>
      </p:sp>
      <p:sp>
        <p:nvSpPr>
          <p:cNvPr id="10" name="Text 8"/>
          <p:cNvSpPr/>
          <p:nvPr/>
        </p:nvSpPr>
        <p:spPr>
          <a:xfrm>
            <a:off x="960120" y="438912"/>
            <a:ext cx="3657600" cy="274320"/>
          </a:xfrm>
          <a:prstGeom prst="rect">
            <a:avLst/>
          </a:prstGeom>
          <a:noFill/>
          <a:ln/>
        </p:spPr>
        <p:txBody>
          <a:bodyPr wrap="square" rtlCol="0" anchor="ctr"/>
          <a:lstStyle/>
          <a:p>
            <a:pPr indent="0" marL="0">
              <a:buNone/>
            </a:pPr>
            <a:r>
              <a:rPr lang="en-US" sz="1200" b="1" dirty="0">
                <a:solidFill>
                  <a:srgbClr val="1A1A1A"/>
                </a:solidFill>
                <a:latin typeface="Roboto" pitchFamily="34" charset="0"/>
                <a:ea typeface="Roboto" pitchFamily="34" charset="-122"/>
                <a:cs typeface="Roboto" pitchFamily="34" charset="-120"/>
              </a:rPr>
              <a:t>BACCI · CIBERDEFENSA</a:t>
            </a:r>
            <a:endParaRPr lang="en-US" sz="1200" dirty="0"/>
          </a:p>
        </p:txBody>
      </p:sp>
      <p:sp>
        <p:nvSpPr>
          <p:cNvPr id="11" name="Text 9"/>
          <p:cNvSpPr/>
          <p:nvPr/>
        </p:nvSpPr>
        <p:spPr>
          <a:xfrm>
            <a:off x="960120" y="694944"/>
            <a:ext cx="3657600" cy="228600"/>
          </a:xfrm>
          <a:prstGeom prst="rect">
            <a:avLst/>
          </a:prstGeom>
          <a:noFill/>
          <a:ln/>
        </p:spPr>
        <p:txBody>
          <a:bodyPr wrap="square" rtlCol="0" anchor="ctr"/>
          <a:lstStyle/>
          <a:p>
            <a:pPr indent="0" marL="0">
              <a:buNone/>
            </a:pPr>
            <a:r>
              <a:rPr lang="en-US" sz="900" dirty="0">
                <a:solidFill>
                  <a:srgbClr val="6B6B6B"/>
                </a:solidFill>
                <a:latin typeface="Roboto" pitchFamily="34" charset="0"/>
                <a:ea typeface="Roboto" pitchFamily="34" charset="-122"/>
                <a:cs typeface="Roboto" pitchFamily="34" charset="-120"/>
              </a:rPr>
              <a:t>Capacitación 2026</a:t>
            </a:r>
            <a:endParaRPr lang="en-US" sz="900" dirty="0"/>
          </a:p>
        </p:txBody>
      </p:sp>
      <p:sp>
        <p:nvSpPr>
          <p:cNvPr id="12" name="Text 10"/>
          <p:cNvSpPr/>
          <p:nvPr/>
        </p:nvSpPr>
        <p:spPr>
          <a:xfrm>
            <a:off x="822960" y="1737360"/>
            <a:ext cx="6766560" cy="365760"/>
          </a:xfrm>
          <a:prstGeom prst="rect">
            <a:avLst/>
          </a:prstGeom>
          <a:noFill/>
          <a:ln/>
        </p:spPr>
        <p:txBody>
          <a:bodyPr wrap="square" rtlCol="0" anchor="ctr"/>
          <a:lstStyle/>
          <a:p>
            <a:pPr indent="0" marL="0">
              <a:buNone/>
            </a:pPr>
            <a:r>
              <a:rPr lang="en-US" sz="1250" b="1" spc="120" kern="0" dirty="0">
                <a:solidFill>
                  <a:srgbClr val="E2231A"/>
                </a:solidFill>
                <a:latin typeface="Roboto" pitchFamily="34" charset="0"/>
                <a:ea typeface="Roboto" pitchFamily="34" charset="-122"/>
                <a:cs typeface="Roboto" pitchFamily="34" charset="-120"/>
              </a:rPr>
              <a:t>CAPACITACIÓN EN CIBERDEFENSA Y CIBERSEGURIDAD · 40 HORAS · BACCI</a:t>
            </a:r>
            <a:endParaRPr lang="en-US" sz="1250" dirty="0"/>
          </a:p>
        </p:txBody>
      </p:sp>
      <p:sp>
        <p:nvSpPr>
          <p:cNvPr id="13" name="Text 11"/>
          <p:cNvSpPr/>
          <p:nvPr/>
        </p:nvSpPr>
        <p:spPr>
          <a:xfrm>
            <a:off x="822960" y="2148840"/>
            <a:ext cx="6766560" cy="1828800"/>
          </a:xfrm>
          <a:prstGeom prst="rect">
            <a:avLst/>
          </a:prstGeom>
          <a:noFill/>
          <a:ln/>
        </p:spPr>
        <p:txBody>
          <a:bodyPr wrap="square" rtlCol="0" anchor="ctr"/>
          <a:lstStyle/>
          <a:p>
            <a:pPr indent="0" marL="0">
              <a:buNone/>
            </a:pPr>
            <a:r>
              <a:rPr lang="en-US" sz="3600" b="1" dirty="0">
                <a:solidFill>
                  <a:srgbClr val="1A1A1A"/>
                </a:solidFill>
                <a:latin typeface="Roboto" pitchFamily="34" charset="0"/>
                <a:ea typeface="Roboto" pitchFamily="34" charset="-122"/>
                <a:cs typeface="Roboto" pitchFamily="34" charset="-120"/>
              </a:rPr>
              <a:t>Sesión 6</a:t>
            </a:r>
            <a:endParaRPr lang="en-US" sz="3600" dirty="0"/>
          </a:p>
          <a:p>
            <a:pPr indent="0" marL="0">
              <a:buNone/>
            </a:pPr>
            <a:r>
              <a:rPr lang="en-US" sz="3600" b="1" dirty="0">
                <a:solidFill>
                  <a:srgbClr val="1A1A1A"/>
                </a:solidFill>
                <a:latin typeface="Roboto" pitchFamily="34" charset="0"/>
                <a:ea typeface="Roboto" pitchFamily="34" charset="-122"/>
                <a:cs typeface="Roboto" pitchFamily="34" charset="-120"/>
              </a:rPr>
              <a:t>Intercepción de tráfico y Burp Suite</a:t>
            </a:r>
            <a:endParaRPr lang="en-US" sz="3600" dirty="0"/>
          </a:p>
        </p:txBody>
      </p:sp>
      <p:sp>
        <p:nvSpPr>
          <p:cNvPr id="14" name="Text 12"/>
          <p:cNvSpPr/>
          <p:nvPr/>
        </p:nvSpPr>
        <p:spPr>
          <a:xfrm>
            <a:off x="822960" y="3977640"/>
            <a:ext cx="6583680" cy="822960"/>
          </a:xfrm>
          <a:prstGeom prst="rect">
            <a:avLst/>
          </a:prstGeom>
          <a:noFill/>
          <a:ln/>
        </p:spPr>
        <p:txBody>
          <a:bodyPr wrap="square" rtlCol="0" anchor="ctr"/>
          <a:lstStyle/>
          <a:p>
            <a:pPr indent="0" marL="0">
              <a:buNone/>
            </a:pPr>
            <a:r>
              <a:rPr lang="en-US" sz="1500" dirty="0">
                <a:solidFill>
                  <a:srgbClr val="6B6B6B"/>
                </a:solidFill>
                <a:latin typeface="Roboto" pitchFamily="34" charset="0"/>
                <a:ea typeface="Roboto" pitchFamily="34" charset="-122"/>
                <a:cs typeface="Roboto" pitchFamily="34" charset="-120"/>
              </a:rPr>
              <a:t>Día 3 de 5, tarde · 1:00 p. m. – 5:00 p. m. · Inicia hoy — cierra el Día 4 en la mañana con la EF3</a:t>
            </a:r>
            <a:endParaRPr lang="en-US" sz="1500" dirty="0"/>
          </a:p>
        </p:txBody>
      </p:sp>
      <p:sp>
        <p:nvSpPr>
          <p:cNvPr id="15" name="Text 13"/>
          <p:cNvSpPr/>
          <p:nvPr/>
        </p:nvSpPr>
        <p:spPr>
          <a:xfrm>
            <a:off x="822960" y="5989320"/>
            <a:ext cx="6675120" cy="548640"/>
          </a:xfrm>
          <a:prstGeom prst="rect">
            <a:avLst/>
          </a:prstGeom>
          <a:noFill/>
          <a:ln/>
        </p:spPr>
        <p:txBody>
          <a:bodyPr wrap="square" rtlCol="0" anchor="ctr"/>
          <a:lstStyle/>
          <a:p>
            <a:pPr indent="0" marL="0">
              <a:buNone/>
            </a:pPr>
            <a:r>
              <a:rPr lang="en-US" sz="1050" i="1" dirty="0">
                <a:solidFill>
                  <a:srgbClr val="6B6B6B"/>
                </a:solidFill>
                <a:latin typeface="Roboto" pitchFamily="34" charset="0"/>
                <a:ea typeface="Roboto" pitchFamily="34" charset="-122"/>
                <a:cs typeface="Roboto" pitchFamily="34" charset="-120"/>
              </a:rPr>
              <a:t>Renovación del sistema de análisis de vulnerabilidades — Contrato 035 CENAC Telemática 2026</a:t>
            </a:r>
            <a:endParaRPr lang="en-US" sz="1050" dirty="0"/>
          </a:p>
        </p:txBody>
      </p:sp>
      <p:sp>
        <p:nvSpPr>
          <p:cNvPr id="16" name="Text 14"/>
          <p:cNvSpPr/>
          <p:nvPr/>
        </p:nvSpPr>
        <p:spPr>
          <a:xfrm>
            <a:off x="11475720" y="6473952"/>
            <a:ext cx="457200" cy="274320"/>
          </a:xfrm>
          <a:prstGeom prst="rect">
            <a:avLst/>
          </a:prstGeom>
          <a:noFill/>
          <a:ln/>
        </p:spPr>
        <p:txBody>
          <a:bodyPr wrap="square" rtlCol="0" anchor="ctr"/>
          <a:lstStyle/>
          <a:p>
            <a:pPr algn="r" indent="0" marL="0">
              <a:buNone/>
            </a:pPr>
            <a:r>
              <a:rPr lang="en-US" sz="900" dirty="0">
                <a:solidFill>
                  <a:srgbClr val="FFFFFF"/>
                </a:solidFill>
                <a:latin typeface="Roboto" pitchFamily="34" charset="0"/>
                <a:ea typeface="Roboto" pitchFamily="34" charset="-122"/>
                <a:cs typeface="Roboto"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SESIÓN 6 · AGENDA DE LA TARDE (DÍA 3)</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Cómo está organizada esta tarde — la sesión continúa mañana</a:t>
            </a:r>
            <a:endParaRPr lang="en-US" sz="2500" dirty="0"/>
          </a:p>
        </p:txBody>
      </p:sp>
      <p:sp>
        <p:nvSpPr>
          <p:cNvPr id="6" name="Shape 4"/>
          <p:cNvSpPr/>
          <p:nvPr/>
        </p:nvSpPr>
        <p:spPr>
          <a:xfrm>
            <a:off x="548640" y="2743200"/>
            <a:ext cx="2022653" cy="1371600"/>
          </a:xfrm>
          <a:prstGeom prst="roundRect">
            <a:avLst>
              <a:gd name="adj" fmla="val 5333"/>
            </a:avLst>
          </a:prstGeom>
          <a:solidFill>
            <a:srgbClr val="E2231A"/>
          </a:solidFill>
          <a:ln/>
        </p:spPr>
      </p:sp>
      <p:sp>
        <p:nvSpPr>
          <p:cNvPr id="7" name="Text 5"/>
          <p:cNvSpPr/>
          <p:nvPr/>
        </p:nvSpPr>
        <p:spPr>
          <a:xfrm>
            <a:off x="621792"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Apertura</a:t>
            </a:r>
            <a:endParaRPr lang="en-US" sz="1250" dirty="0"/>
          </a:p>
        </p:txBody>
      </p:sp>
      <p:sp>
        <p:nvSpPr>
          <p:cNvPr id="8" name="Text 6"/>
          <p:cNvSpPr/>
          <p:nvPr/>
        </p:nvSpPr>
        <p:spPr>
          <a:xfrm>
            <a:off x="621792"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13:00 · Recuperación de dudas</a:t>
            </a:r>
            <a:endParaRPr lang="en-US" sz="1000" dirty="0"/>
          </a:p>
        </p:txBody>
      </p:sp>
      <p:sp>
        <p:nvSpPr>
          <p:cNvPr id="9" name="Text 7"/>
          <p:cNvSpPr/>
          <p:nvPr/>
        </p:nvSpPr>
        <p:spPr>
          <a:xfrm>
            <a:off x="2571293"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0" name="Shape 8"/>
          <p:cNvSpPr/>
          <p:nvPr/>
        </p:nvSpPr>
        <p:spPr>
          <a:xfrm>
            <a:off x="2809037" y="2743200"/>
            <a:ext cx="2022653" cy="1371600"/>
          </a:xfrm>
          <a:prstGeom prst="roundRect">
            <a:avLst>
              <a:gd name="adj" fmla="val 5333"/>
            </a:avLst>
          </a:prstGeom>
          <a:solidFill>
            <a:srgbClr val="1A1A1A"/>
          </a:solidFill>
          <a:ln/>
        </p:spPr>
      </p:sp>
      <p:sp>
        <p:nvSpPr>
          <p:cNvPr id="11" name="Text 9"/>
          <p:cNvSpPr/>
          <p:nvPr/>
        </p:nvSpPr>
        <p:spPr>
          <a:xfrm>
            <a:off x="2882189"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Proxy y MITM</a:t>
            </a:r>
            <a:endParaRPr lang="en-US" sz="1250" dirty="0"/>
          </a:p>
        </p:txBody>
      </p:sp>
      <p:sp>
        <p:nvSpPr>
          <p:cNvPr id="12" name="Text 10"/>
          <p:cNvSpPr/>
          <p:nvPr/>
        </p:nvSpPr>
        <p:spPr>
          <a:xfrm>
            <a:off x="2882189"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Concepto y componentes</a:t>
            </a:r>
            <a:endParaRPr lang="en-US" sz="1000" dirty="0"/>
          </a:p>
        </p:txBody>
      </p:sp>
      <p:sp>
        <p:nvSpPr>
          <p:cNvPr id="13" name="Text 11"/>
          <p:cNvSpPr/>
          <p:nvPr/>
        </p:nvSpPr>
        <p:spPr>
          <a:xfrm>
            <a:off x="4831690"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4" name="Shape 12"/>
          <p:cNvSpPr/>
          <p:nvPr/>
        </p:nvSpPr>
        <p:spPr>
          <a:xfrm>
            <a:off x="5069434" y="2743200"/>
            <a:ext cx="2022653" cy="1371600"/>
          </a:xfrm>
          <a:prstGeom prst="roundRect">
            <a:avLst>
              <a:gd name="adj" fmla="val 5333"/>
            </a:avLst>
          </a:prstGeom>
          <a:solidFill>
            <a:srgbClr val="E2231A"/>
          </a:solidFill>
          <a:ln/>
        </p:spPr>
      </p:sp>
      <p:sp>
        <p:nvSpPr>
          <p:cNvPr id="15" name="Text 13"/>
          <p:cNvSpPr/>
          <p:nvPr/>
        </p:nvSpPr>
        <p:spPr>
          <a:xfrm>
            <a:off x="5142586"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Pausa</a:t>
            </a:r>
            <a:endParaRPr lang="en-US" sz="1250" dirty="0"/>
          </a:p>
        </p:txBody>
      </p:sp>
      <p:sp>
        <p:nvSpPr>
          <p:cNvPr id="16" name="Text 14"/>
          <p:cNvSpPr/>
          <p:nvPr/>
        </p:nvSpPr>
        <p:spPr>
          <a:xfrm>
            <a:off x="5142586"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15 min</a:t>
            </a:r>
            <a:endParaRPr lang="en-US" sz="1000" dirty="0"/>
          </a:p>
        </p:txBody>
      </p:sp>
      <p:sp>
        <p:nvSpPr>
          <p:cNvPr id="17" name="Text 15"/>
          <p:cNvSpPr/>
          <p:nvPr/>
        </p:nvSpPr>
        <p:spPr>
          <a:xfrm>
            <a:off x="7092086"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8" name="Shape 16"/>
          <p:cNvSpPr/>
          <p:nvPr/>
        </p:nvSpPr>
        <p:spPr>
          <a:xfrm>
            <a:off x="7329830" y="2743200"/>
            <a:ext cx="2022653" cy="1371600"/>
          </a:xfrm>
          <a:prstGeom prst="roundRect">
            <a:avLst>
              <a:gd name="adj" fmla="val 5333"/>
            </a:avLst>
          </a:prstGeom>
          <a:solidFill>
            <a:srgbClr val="1A1A1A"/>
          </a:solidFill>
          <a:ln/>
        </p:spPr>
      </p:sp>
      <p:sp>
        <p:nvSpPr>
          <p:cNvPr id="19" name="Text 17"/>
          <p:cNvSpPr/>
          <p:nvPr/>
        </p:nvSpPr>
        <p:spPr>
          <a:xfrm>
            <a:off x="7402982"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Config. Burp (1/2)</a:t>
            </a:r>
            <a:endParaRPr lang="en-US" sz="1250" dirty="0"/>
          </a:p>
        </p:txBody>
      </p:sp>
      <p:sp>
        <p:nvSpPr>
          <p:cNvPr id="20" name="Text 18"/>
          <p:cNvSpPr/>
          <p:nvPr/>
        </p:nvSpPr>
        <p:spPr>
          <a:xfrm>
            <a:off x="7402982"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Pasos 1-8: listener y CA</a:t>
            </a:r>
            <a:endParaRPr lang="en-US" sz="1000" dirty="0"/>
          </a:p>
        </p:txBody>
      </p:sp>
      <p:sp>
        <p:nvSpPr>
          <p:cNvPr id="21" name="Text 19"/>
          <p:cNvSpPr/>
          <p:nvPr/>
        </p:nvSpPr>
        <p:spPr>
          <a:xfrm>
            <a:off x="9352483"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2" name="Shape 20"/>
          <p:cNvSpPr/>
          <p:nvPr/>
        </p:nvSpPr>
        <p:spPr>
          <a:xfrm>
            <a:off x="9590227" y="2743200"/>
            <a:ext cx="2022653" cy="1371600"/>
          </a:xfrm>
          <a:prstGeom prst="roundRect">
            <a:avLst>
              <a:gd name="adj" fmla="val 5333"/>
            </a:avLst>
          </a:prstGeom>
          <a:solidFill>
            <a:srgbClr val="E2231A"/>
          </a:solidFill>
          <a:ln/>
        </p:spPr>
      </p:sp>
      <p:sp>
        <p:nvSpPr>
          <p:cNvPr id="23" name="Text 21"/>
          <p:cNvSpPr/>
          <p:nvPr/>
        </p:nvSpPr>
        <p:spPr>
          <a:xfrm>
            <a:off x="9663379"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Cierre del día</a:t>
            </a:r>
            <a:endParaRPr lang="en-US" sz="1250" dirty="0"/>
          </a:p>
        </p:txBody>
      </p:sp>
      <p:sp>
        <p:nvSpPr>
          <p:cNvPr id="24" name="Text 22"/>
          <p:cNvSpPr/>
          <p:nvPr/>
        </p:nvSpPr>
        <p:spPr>
          <a:xfrm>
            <a:off x="9663379"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Continúa mañana</a:t>
            </a:r>
            <a:endParaRPr lang="en-US" sz="1000" dirty="0"/>
          </a:p>
        </p:txBody>
      </p:sp>
      <p:sp>
        <p:nvSpPr>
          <p:cNvPr id="25" name="Shape 23"/>
          <p:cNvSpPr/>
          <p:nvPr/>
        </p:nvSpPr>
        <p:spPr>
          <a:xfrm rot="2700000">
            <a:off x="502920" y="6501384"/>
            <a:ext cx="82296" cy="82296"/>
          </a:xfrm>
          <a:prstGeom prst="rect">
            <a:avLst/>
          </a:prstGeom>
          <a:solidFill>
            <a:srgbClr val="E2231A"/>
          </a:solidFill>
          <a:ln/>
        </p:spPr>
      </p:sp>
      <p:sp>
        <p:nvSpPr>
          <p:cNvPr id="26" name="Text 24"/>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SESIÓN 6 · AGENDA DE LA TARDE (DÍA 3)</a:t>
            </a:r>
            <a:endParaRPr lang="en-US" sz="800" dirty="0"/>
          </a:p>
        </p:txBody>
      </p:sp>
      <p:sp>
        <p:nvSpPr>
          <p:cNvPr id="27" name="Text 25"/>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APERTURA · ACTIVACIÓN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Recuperación: dudas de la Sesión 5</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Revisemos las dudas registradas en la encuesta/bitácora de esta mañana</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El instructor prioriza las 2-3 más recurrentes sobre Git y manejo de secretos (EF2).</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Repaso relámpago: HTTP, TLS y certificados (Sesión 2)</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Hoy se retoma directamente ese conocimiento para entender por qué Burp necesita su propio certificado.</a:t>
            </a:r>
            <a:endParaRPr lang="en-US" sz="1250" dirty="0"/>
          </a:p>
        </p:txBody>
      </p:sp>
      <p:sp>
        <p:nvSpPr>
          <p:cNvPr id="14" name="Shape 12"/>
          <p:cNvSpPr/>
          <p:nvPr/>
        </p:nvSpPr>
        <p:spPr>
          <a:xfrm>
            <a:off x="548640" y="5623560"/>
            <a:ext cx="11064240" cy="685800"/>
          </a:xfrm>
          <a:prstGeom prst="roundRect">
            <a:avLst>
              <a:gd name="adj" fmla="val 10667"/>
            </a:avLst>
          </a:prstGeom>
          <a:solidFill>
            <a:srgbClr val="FCEBEA"/>
          </a:solidFill>
          <a:ln/>
        </p:spPr>
      </p:sp>
      <p:sp>
        <p:nvSpPr>
          <p:cNvPr id="15" name="Shape 13"/>
          <p:cNvSpPr/>
          <p:nvPr/>
        </p:nvSpPr>
        <p:spPr>
          <a:xfrm>
            <a:off x="548640" y="5623560"/>
            <a:ext cx="54864" cy="685800"/>
          </a:xfrm>
          <a:prstGeom prst="rect">
            <a:avLst/>
          </a:prstGeom>
          <a:solidFill>
            <a:srgbClr val="E2231A"/>
          </a:solidFill>
          <a:ln/>
        </p:spPr>
      </p:sp>
      <p:sp>
        <p:nvSpPr>
          <p:cNvPr id="16" name="Text 14"/>
          <p:cNvSpPr/>
          <p:nvPr/>
        </p:nvSpPr>
        <p:spPr>
          <a:xfrm>
            <a:off x="822960" y="5623560"/>
            <a:ext cx="10607040" cy="685800"/>
          </a:xfrm>
          <a:prstGeom prst="rect">
            <a:avLst/>
          </a:prstGeom>
          <a:noFill/>
          <a:ln/>
        </p:spPr>
        <p:txBody>
          <a:bodyPr wrap="square" rtlCol="0" anchor="ctr"/>
          <a:lstStyle/>
          <a:p>
            <a:pPr indent="0" marL="0">
              <a:buNone/>
            </a:pPr>
            <a:r>
              <a:rPr lang="en-US" sz="1200" i="1" dirty="0">
                <a:solidFill>
                  <a:srgbClr val="7A0F0B"/>
                </a:solidFill>
                <a:latin typeface="Roboto" pitchFamily="34" charset="0"/>
                <a:ea typeface="Roboto" pitchFamily="34" charset="-122"/>
                <a:cs typeface="Roboto" pitchFamily="34" charset="-120"/>
              </a:rPr>
              <a:t>Este bloque de recuperación es corto (10-15 min): el objetivo es cerrar huecos puntuales antes de entrar a intercepción de tráfico.</a:t>
            </a:r>
            <a:endParaRPr lang="en-US" sz="1200" dirty="0"/>
          </a:p>
        </p:txBody>
      </p:sp>
      <p:sp>
        <p:nvSpPr>
          <p:cNvPr id="17" name="Shape 15"/>
          <p:cNvSpPr/>
          <p:nvPr/>
        </p:nvSpPr>
        <p:spPr>
          <a:xfrm rot="2700000">
            <a:off x="502920" y="6501384"/>
            <a:ext cx="82296" cy="82296"/>
          </a:xfrm>
          <a:prstGeom prst="rect">
            <a:avLst/>
          </a:prstGeom>
          <a:solidFill>
            <a:srgbClr val="E2231A"/>
          </a:solidFill>
          <a:ln/>
        </p:spPr>
      </p:sp>
      <p:sp>
        <p:nvSpPr>
          <p:cNvPr id="18" name="Text 1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APERTURA · ACTIVACIÓN</a:t>
            </a:r>
            <a:endParaRPr lang="en-US" sz="800" dirty="0"/>
          </a:p>
        </p:txBody>
      </p:sp>
      <p:sp>
        <p:nvSpPr>
          <p:cNvPr id="19" name="Text 1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PROXY</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Qué es un proxy: dos tipos distintos</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Forward proxy</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Intermediario que reenvía solicitudes en nombre del cliente</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El servidor de destino no siempre distingue al cliente real</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Uso típico: control de acceso, caché, anonimato parcial</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Intercepting proxy (el que usaremos)</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Se coloca deliberadamente entre cliente y servidor</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Permite VER y MODIFICAR el tráfico antes de que continúe su camino</a:t>
            </a:r>
            <a:endParaRPr lang="en-US" sz="1300" dirty="0"/>
          </a:p>
        </p:txBody>
      </p:sp>
      <p:sp>
        <p:nvSpPr>
          <p:cNvPr id="24" name="Shape 22"/>
          <p:cNvSpPr/>
          <p:nvPr/>
        </p:nvSpPr>
        <p:spPr>
          <a:xfrm>
            <a:off x="6537960" y="3849624"/>
            <a:ext cx="82296" cy="82296"/>
          </a:xfrm>
          <a:prstGeom prst="ellipse">
            <a:avLst/>
          </a:prstGeom>
          <a:solidFill>
            <a:srgbClr val="1A1A1A"/>
          </a:solidFill>
          <a:ln/>
        </p:spPr>
      </p:sp>
      <p:sp>
        <p:nvSpPr>
          <p:cNvPr id="25" name="Text 23"/>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Es exactamente lo que hace Burp Suite</a:t>
            </a:r>
            <a:endParaRPr lang="en-US" sz="13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PROXY</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PROXY</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Flujo: navegador → proxy → servidor</a:t>
            </a:r>
            <a:endParaRPr lang="en-US" sz="2500" dirty="0"/>
          </a:p>
        </p:txBody>
      </p:sp>
      <p:sp>
        <p:nvSpPr>
          <p:cNvPr id="6" name="Shape 4"/>
          <p:cNvSpPr/>
          <p:nvPr/>
        </p:nvSpPr>
        <p:spPr>
          <a:xfrm>
            <a:off x="548640" y="2743200"/>
            <a:ext cx="2022653" cy="1371600"/>
          </a:xfrm>
          <a:prstGeom prst="roundRect">
            <a:avLst>
              <a:gd name="adj" fmla="val 5333"/>
            </a:avLst>
          </a:prstGeom>
          <a:solidFill>
            <a:srgbClr val="E2231A"/>
          </a:solidFill>
          <a:ln/>
        </p:spPr>
      </p:sp>
      <p:sp>
        <p:nvSpPr>
          <p:cNvPr id="7" name="Text 5"/>
          <p:cNvSpPr/>
          <p:nvPr/>
        </p:nvSpPr>
        <p:spPr>
          <a:xfrm>
            <a:off x="621792"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Navegador</a:t>
            </a:r>
            <a:endParaRPr lang="en-US" sz="1250" dirty="0"/>
          </a:p>
        </p:txBody>
      </p:sp>
      <p:sp>
        <p:nvSpPr>
          <p:cNvPr id="8" name="Text 6"/>
          <p:cNvSpPr/>
          <p:nvPr/>
        </p:nvSpPr>
        <p:spPr>
          <a:xfrm>
            <a:off x="621792"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Configurado para usar el proxy</a:t>
            </a:r>
            <a:endParaRPr lang="en-US" sz="1000" dirty="0"/>
          </a:p>
        </p:txBody>
      </p:sp>
      <p:sp>
        <p:nvSpPr>
          <p:cNvPr id="9" name="Text 7"/>
          <p:cNvSpPr/>
          <p:nvPr/>
        </p:nvSpPr>
        <p:spPr>
          <a:xfrm>
            <a:off x="2571293"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0" name="Shape 8"/>
          <p:cNvSpPr/>
          <p:nvPr/>
        </p:nvSpPr>
        <p:spPr>
          <a:xfrm>
            <a:off x="2809037" y="2743200"/>
            <a:ext cx="2022653" cy="1371600"/>
          </a:xfrm>
          <a:prstGeom prst="roundRect">
            <a:avLst>
              <a:gd name="adj" fmla="val 5333"/>
            </a:avLst>
          </a:prstGeom>
          <a:solidFill>
            <a:srgbClr val="1A1A1A"/>
          </a:solidFill>
          <a:ln/>
        </p:spPr>
      </p:sp>
      <p:sp>
        <p:nvSpPr>
          <p:cNvPr id="11" name="Text 9"/>
          <p:cNvSpPr/>
          <p:nvPr/>
        </p:nvSpPr>
        <p:spPr>
          <a:xfrm>
            <a:off x="2882189"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Burp (proxy)</a:t>
            </a:r>
            <a:endParaRPr lang="en-US" sz="1250" dirty="0"/>
          </a:p>
        </p:txBody>
      </p:sp>
      <p:sp>
        <p:nvSpPr>
          <p:cNvPr id="12" name="Text 10"/>
          <p:cNvSpPr/>
          <p:nvPr/>
        </p:nvSpPr>
        <p:spPr>
          <a:xfrm>
            <a:off x="2882189"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Recibe, puede pausar/modificar</a:t>
            </a:r>
            <a:endParaRPr lang="en-US" sz="1000" dirty="0"/>
          </a:p>
        </p:txBody>
      </p:sp>
      <p:sp>
        <p:nvSpPr>
          <p:cNvPr id="13" name="Text 11"/>
          <p:cNvSpPr/>
          <p:nvPr/>
        </p:nvSpPr>
        <p:spPr>
          <a:xfrm>
            <a:off x="4831690"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4" name="Shape 12"/>
          <p:cNvSpPr/>
          <p:nvPr/>
        </p:nvSpPr>
        <p:spPr>
          <a:xfrm>
            <a:off x="5069434" y="2743200"/>
            <a:ext cx="2022653" cy="1371600"/>
          </a:xfrm>
          <a:prstGeom prst="roundRect">
            <a:avLst>
              <a:gd name="adj" fmla="val 5333"/>
            </a:avLst>
          </a:prstGeom>
          <a:solidFill>
            <a:srgbClr val="E2231A"/>
          </a:solidFill>
          <a:ln/>
        </p:spPr>
      </p:sp>
      <p:sp>
        <p:nvSpPr>
          <p:cNvPr id="15" name="Text 13"/>
          <p:cNvSpPr/>
          <p:nvPr/>
        </p:nvSpPr>
        <p:spPr>
          <a:xfrm>
            <a:off x="5142586"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Servidor</a:t>
            </a:r>
            <a:endParaRPr lang="en-US" sz="1250" dirty="0"/>
          </a:p>
        </p:txBody>
      </p:sp>
      <p:sp>
        <p:nvSpPr>
          <p:cNvPr id="16" name="Text 14"/>
          <p:cNvSpPr/>
          <p:nvPr/>
        </p:nvSpPr>
        <p:spPr>
          <a:xfrm>
            <a:off x="5142586"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Recibe lo que Burp reenvía</a:t>
            </a:r>
            <a:endParaRPr lang="en-US" sz="1000" dirty="0"/>
          </a:p>
        </p:txBody>
      </p:sp>
      <p:sp>
        <p:nvSpPr>
          <p:cNvPr id="17" name="Text 15"/>
          <p:cNvSpPr/>
          <p:nvPr/>
        </p:nvSpPr>
        <p:spPr>
          <a:xfrm>
            <a:off x="7092086"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8" name="Shape 16"/>
          <p:cNvSpPr/>
          <p:nvPr/>
        </p:nvSpPr>
        <p:spPr>
          <a:xfrm>
            <a:off x="7329830" y="2743200"/>
            <a:ext cx="2022653" cy="1371600"/>
          </a:xfrm>
          <a:prstGeom prst="roundRect">
            <a:avLst>
              <a:gd name="adj" fmla="val 5333"/>
            </a:avLst>
          </a:prstGeom>
          <a:solidFill>
            <a:srgbClr val="1A1A1A"/>
          </a:solidFill>
          <a:ln/>
        </p:spPr>
      </p:sp>
      <p:sp>
        <p:nvSpPr>
          <p:cNvPr id="19" name="Text 17"/>
          <p:cNvSpPr/>
          <p:nvPr/>
        </p:nvSpPr>
        <p:spPr>
          <a:xfrm>
            <a:off x="7402982"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Burp (proxy)</a:t>
            </a:r>
            <a:endParaRPr lang="en-US" sz="1250" dirty="0"/>
          </a:p>
        </p:txBody>
      </p:sp>
      <p:sp>
        <p:nvSpPr>
          <p:cNvPr id="20" name="Text 18"/>
          <p:cNvSpPr/>
          <p:nvPr/>
        </p:nvSpPr>
        <p:spPr>
          <a:xfrm>
            <a:off x="7402982"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Recibe la respuesta, puede pausar/modificar</a:t>
            </a:r>
            <a:endParaRPr lang="en-US" sz="1000" dirty="0"/>
          </a:p>
        </p:txBody>
      </p:sp>
      <p:sp>
        <p:nvSpPr>
          <p:cNvPr id="21" name="Text 19"/>
          <p:cNvSpPr/>
          <p:nvPr/>
        </p:nvSpPr>
        <p:spPr>
          <a:xfrm>
            <a:off x="9352483"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2" name="Shape 20"/>
          <p:cNvSpPr/>
          <p:nvPr/>
        </p:nvSpPr>
        <p:spPr>
          <a:xfrm>
            <a:off x="9590227" y="2743200"/>
            <a:ext cx="2022653" cy="1371600"/>
          </a:xfrm>
          <a:prstGeom prst="roundRect">
            <a:avLst>
              <a:gd name="adj" fmla="val 5333"/>
            </a:avLst>
          </a:prstGeom>
          <a:solidFill>
            <a:srgbClr val="E2231A"/>
          </a:solidFill>
          <a:ln/>
        </p:spPr>
      </p:sp>
      <p:sp>
        <p:nvSpPr>
          <p:cNvPr id="23" name="Text 21"/>
          <p:cNvSpPr/>
          <p:nvPr/>
        </p:nvSpPr>
        <p:spPr>
          <a:xfrm>
            <a:off x="9663379"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Navegador</a:t>
            </a:r>
            <a:endParaRPr lang="en-US" sz="1250" dirty="0"/>
          </a:p>
        </p:txBody>
      </p:sp>
      <p:sp>
        <p:nvSpPr>
          <p:cNvPr id="24" name="Text 22"/>
          <p:cNvSpPr/>
          <p:nvPr/>
        </p:nvSpPr>
        <p:spPr>
          <a:xfrm>
            <a:off x="9663379"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Recibe lo que Burp reenvía</a:t>
            </a:r>
            <a:endParaRPr lang="en-US" sz="1000" dirty="0"/>
          </a:p>
        </p:txBody>
      </p:sp>
      <p:sp>
        <p:nvSpPr>
          <p:cNvPr id="25" name="Shape 23"/>
          <p:cNvSpPr/>
          <p:nvPr/>
        </p:nvSpPr>
        <p:spPr>
          <a:xfrm rot="2700000">
            <a:off x="502920" y="6501384"/>
            <a:ext cx="82296" cy="82296"/>
          </a:xfrm>
          <a:prstGeom prst="rect">
            <a:avLst/>
          </a:prstGeom>
          <a:solidFill>
            <a:srgbClr val="E2231A"/>
          </a:solidFill>
          <a:ln/>
        </p:spPr>
      </p:sp>
      <p:sp>
        <p:nvSpPr>
          <p:cNvPr id="26" name="Text 24"/>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PROXY</a:t>
            </a:r>
            <a:endParaRPr lang="en-US" sz="800" dirty="0"/>
          </a:p>
        </p:txBody>
      </p:sp>
      <p:sp>
        <p:nvSpPr>
          <p:cNvPr id="27" name="Text 25"/>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COMPROBACIÓN RÁPIDA</a:t>
            </a:r>
            <a:endParaRPr lang="en-US" sz="1150" dirty="0"/>
          </a:p>
        </p:txBody>
      </p:sp>
      <p:sp>
        <p:nvSpPr>
          <p:cNvPr id="5" name="Text 3"/>
          <p:cNvSpPr/>
          <p:nvPr/>
        </p:nvSpPr>
        <p:spPr>
          <a:xfrm>
            <a:off x="548640" y="749808"/>
            <a:ext cx="10332720" cy="1234440"/>
          </a:xfrm>
          <a:prstGeom prst="rect">
            <a:avLst/>
          </a:prstGeom>
          <a:noFill/>
          <a:ln/>
        </p:spPr>
        <p:txBody>
          <a:bodyPr wrap="square" rtlCol="0" anchor="t"/>
          <a:lstStyle/>
          <a:p>
            <a:pPr indent="0" marL="0">
              <a:buNone/>
            </a:pPr>
            <a:r>
              <a:rPr lang="en-US" sz="2000" b="1" dirty="0">
                <a:solidFill>
                  <a:srgbClr val="1A1A1A"/>
                </a:solidFill>
                <a:latin typeface="Roboto" pitchFamily="34" charset="0"/>
                <a:ea typeface="Roboto" pitchFamily="34" charset="-122"/>
                <a:cs typeface="Roboto" pitchFamily="34" charset="-120"/>
              </a:rPr>
              <a:t>Si el navegador NO está configurado para usar el proxy, ¿Burp vería algo del tráfico?</a:t>
            </a:r>
            <a:endParaRPr lang="en-US" sz="2000" dirty="0"/>
          </a:p>
        </p:txBody>
      </p:sp>
      <p:sp>
        <p:nvSpPr>
          <p:cNvPr id="6" name="Shape 4"/>
          <p:cNvSpPr/>
          <p:nvPr/>
        </p:nvSpPr>
        <p:spPr>
          <a:xfrm>
            <a:off x="548640" y="2240280"/>
            <a:ext cx="5349240" cy="1371600"/>
          </a:xfrm>
          <a:prstGeom prst="roundRect">
            <a:avLst>
              <a:gd name="adj" fmla="val 6000"/>
            </a:avLst>
          </a:prstGeom>
          <a:solidFill>
            <a:srgbClr val="F7F5F4"/>
          </a:solidFill>
          <a:ln w="9525">
            <a:solidFill>
              <a:srgbClr val="E7E1DF"/>
            </a:solidFill>
            <a:prstDash val="solid"/>
          </a:ln>
        </p:spPr>
      </p:sp>
      <p:sp>
        <p:nvSpPr>
          <p:cNvPr id="7" name="Shape 5"/>
          <p:cNvSpPr/>
          <p:nvPr/>
        </p:nvSpPr>
        <p:spPr>
          <a:xfrm>
            <a:off x="777240" y="2468880"/>
            <a:ext cx="420624" cy="420624"/>
          </a:xfrm>
          <a:prstGeom prst="ellipse">
            <a:avLst/>
          </a:prstGeom>
          <a:solidFill>
            <a:srgbClr val="E2231A"/>
          </a:solidFill>
          <a:ln/>
        </p:spPr>
      </p:sp>
      <p:sp>
        <p:nvSpPr>
          <p:cNvPr id="8" name="Text 6"/>
          <p:cNvSpPr/>
          <p:nvPr/>
        </p:nvSpPr>
        <p:spPr>
          <a:xfrm>
            <a:off x="77724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A</a:t>
            </a:r>
            <a:endParaRPr lang="en-US" sz="1500" dirty="0"/>
          </a:p>
        </p:txBody>
      </p:sp>
      <p:sp>
        <p:nvSpPr>
          <p:cNvPr id="9" name="Text 7"/>
          <p:cNvSpPr/>
          <p:nvPr/>
        </p:nvSpPr>
        <p:spPr>
          <a:xfrm>
            <a:off x="137160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A)  Sí — Burp intercepta todo el tráfico de red del equipo automáticamente.</a:t>
            </a:r>
            <a:endParaRPr lang="en-US" sz="1250" dirty="0"/>
          </a:p>
        </p:txBody>
      </p:sp>
      <p:sp>
        <p:nvSpPr>
          <p:cNvPr id="10" name="Shape 8"/>
          <p:cNvSpPr/>
          <p:nvPr/>
        </p:nvSpPr>
        <p:spPr>
          <a:xfrm>
            <a:off x="6217920" y="2240280"/>
            <a:ext cx="5349240" cy="1371600"/>
          </a:xfrm>
          <a:prstGeom prst="roundRect">
            <a:avLst>
              <a:gd name="adj" fmla="val 6000"/>
            </a:avLst>
          </a:prstGeom>
          <a:solidFill>
            <a:srgbClr val="F7F5F4"/>
          </a:solidFill>
          <a:ln w="9525">
            <a:solidFill>
              <a:srgbClr val="E7E1DF"/>
            </a:solidFill>
            <a:prstDash val="solid"/>
          </a:ln>
        </p:spPr>
      </p:sp>
      <p:sp>
        <p:nvSpPr>
          <p:cNvPr id="11" name="Shape 9"/>
          <p:cNvSpPr/>
          <p:nvPr/>
        </p:nvSpPr>
        <p:spPr>
          <a:xfrm>
            <a:off x="6446520" y="2468880"/>
            <a:ext cx="420624" cy="420624"/>
          </a:xfrm>
          <a:prstGeom prst="ellipse">
            <a:avLst/>
          </a:prstGeom>
          <a:solidFill>
            <a:srgbClr val="E2231A"/>
          </a:solidFill>
          <a:ln/>
        </p:spPr>
      </p:sp>
      <p:sp>
        <p:nvSpPr>
          <p:cNvPr id="12" name="Text 10"/>
          <p:cNvSpPr/>
          <p:nvPr/>
        </p:nvSpPr>
        <p:spPr>
          <a:xfrm>
            <a:off x="644652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B</a:t>
            </a:r>
            <a:endParaRPr lang="en-US" sz="1500" dirty="0"/>
          </a:p>
        </p:txBody>
      </p:sp>
      <p:sp>
        <p:nvSpPr>
          <p:cNvPr id="13" name="Text 11"/>
          <p:cNvSpPr/>
          <p:nvPr/>
        </p:nvSpPr>
        <p:spPr>
          <a:xfrm>
            <a:off x="704088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B)  No — sin configurar el proxy en el navegador, el tráfico nunca pasa por Burp.</a:t>
            </a:r>
            <a:endParaRPr lang="en-US" sz="1250" dirty="0"/>
          </a:p>
        </p:txBody>
      </p:sp>
      <p:sp>
        <p:nvSpPr>
          <p:cNvPr id="14" name="Shape 12"/>
          <p:cNvSpPr/>
          <p:nvPr/>
        </p:nvSpPr>
        <p:spPr>
          <a:xfrm>
            <a:off x="548640" y="3867912"/>
            <a:ext cx="5349240" cy="1371600"/>
          </a:xfrm>
          <a:prstGeom prst="roundRect">
            <a:avLst>
              <a:gd name="adj" fmla="val 6000"/>
            </a:avLst>
          </a:prstGeom>
          <a:solidFill>
            <a:srgbClr val="F7F5F4"/>
          </a:solidFill>
          <a:ln w="9525">
            <a:solidFill>
              <a:srgbClr val="E7E1DF"/>
            </a:solidFill>
            <a:prstDash val="solid"/>
          </a:ln>
        </p:spPr>
      </p:sp>
      <p:sp>
        <p:nvSpPr>
          <p:cNvPr id="15" name="Shape 13"/>
          <p:cNvSpPr/>
          <p:nvPr/>
        </p:nvSpPr>
        <p:spPr>
          <a:xfrm>
            <a:off x="777240" y="4096512"/>
            <a:ext cx="420624" cy="420624"/>
          </a:xfrm>
          <a:prstGeom prst="ellipse">
            <a:avLst/>
          </a:prstGeom>
          <a:solidFill>
            <a:srgbClr val="E2231A"/>
          </a:solidFill>
          <a:ln/>
        </p:spPr>
      </p:sp>
      <p:sp>
        <p:nvSpPr>
          <p:cNvPr id="16" name="Text 14"/>
          <p:cNvSpPr/>
          <p:nvPr/>
        </p:nvSpPr>
        <p:spPr>
          <a:xfrm>
            <a:off x="77724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C</a:t>
            </a:r>
            <a:endParaRPr lang="en-US" sz="1500" dirty="0"/>
          </a:p>
        </p:txBody>
      </p:sp>
      <p:sp>
        <p:nvSpPr>
          <p:cNvPr id="17" name="Text 15"/>
          <p:cNvSpPr/>
          <p:nvPr/>
        </p:nvSpPr>
        <p:spPr>
          <a:xfrm>
            <a:off x="137160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C)  Solo el tráfico HTTPS, nunca el HTTP.</a:t>
            </a:r>
            <a:endParaRPr lang="en-US" sz="1250" dirty="0"/>
          </a:p>
        </p:txBody>
      </p:sp>
      <p:sp>
        <p:nvSpPr>
          <p:cNvPr id="18" name="Shape 16"/>
          <p:cNvSpPr/>
          <p:nvPr/>
        </p:nvSpPr>
        <p:spPr>
          <a:xfrm>
            <a:off x="6217920" y="3867912"/>
            <a:ext cx="5349240" cy="1371600"/>
          </a:xfrm>
          <a:prstGeom prst="roundRect">
            <a:avLst>
              <a:gd name="adj" fmla="val 6000"/>
            </a:avLst>
          </a:prstGeom>
          <a:solidFill>
            <a:srgbClr val="F7F5F4"/>
          </a:solidFill>
          <a:ln w="9525">
            <a:solidFill>
              <a:srgbClr val="E7E1DF"/>
            </a:solidFill>
            <a:prstDash val="solid"/>
          </a:ln>
        </p:spPr>
      </p:sp>
      <p:sp>
        <p:nvSpPr>
          <p:cNvPr id="19" name="Shape 17"/>
          <p:cNvSpPr/>
          <p:nvPr/>
        </p:nvSpPr>
        <p:spPr>
          <a:xfrm>
            <a:off x="6446520" y="4096512"/>
            <a:ext cx="420624" cy="420624"/>
          </a:xfrm>
          <a:prstGeom prst="ellipse">
            <a:avLst/>
          </a:prstGeom>
          <a:solidFill>
            <a:srgbClr val="E2231A"/>
          </a:solidFill>
          <a:ln/>
        </p:spPr>
      </p:sp>
      <p:sp>
        <p:nvSpPr>
          <p:cNvPr id="20" name="Text 18"/>
          <p:cNvSpPr/>
          <p:nvPr/>
        </p:nvSpPr>
        <p:spPr>
          <a:xfrm>
            <a:off x="644652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D</a:t>
            </a:r>
            <a:endParaRPr lang="en-US" sz="1500" dirty="0"/>
          </a:p>
        </p:txBody>
      </p:sp>
      <p:sp>
        <p:nvSpPr>
          <p:cNvPr id="21" name="Text 19"/>
          <p:cNvSpPr/>
          <p:nvPr/>
        </p:nvSpPr>
        <p:spPr>
          <a:xfrm>
            <a:off x="704088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D)  Depende de si Intercept está en ON o OFF.</a:t>
            </a:r>
            <a:endParaRPr lang="en-US" sz="1250" dirty="0"/>
          </a:p>
        </p:txBody>
      </p:sp>
      <p:sp>
        <p:nvSpPr>
          <p:cNvPr id="22" name="Text 20"/>
          <p:cNvSpPr/>
          <p:nvPr/>
        </p:nvSpPr>
        <p:spPr>
          <a:xfrm>
            <a:off x="548640" y="5541264"/>
            <a:ext cx="11064240" cy="365760"/>
          </a:xfrm>
          <a:prstGeom prst="rect">
            <a:avLst/>
          </a:prstGeom>
          <a:noFill/>
          <a:ln/>
        </p:spPr>
        <p:txBody>
          <a:bodyPr wrap="square" rtlCol="0" anchor="ctr"/>
          <a:lstStyle/>
          <a:p>
            <a:pPr indent="0" marL="0">
              <a:buNone/>
            </a:pPr>
            <a:r>
              <a:rPr lang="en-US" sz="1150" i="1" dirty="0">
                <a:solidFill>
                  <a:srgbClr val="6B6B6B"/>
                </a:solidFill>
                <a:latin typeface="Roboto" pitchFamily="34" charset="0"/>
                <a:ea typeface="Roboto" pitchFamily="34" charset="-122"/>
                <a:cs typeface="Roboto" pitchFamily="34" charset="-120"/>
              </a:rPr>
              <a:t>Elige tu respuesta antes de que el instructor revele la correcta.</a:t>
            </a:r>
            <a:endParaRPr lang="en-US" sz="115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COMPROBACIÓN RÁPIDA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HTTPS E INTERCEPCIÓN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Por qué HTTPS exige que el proxy presente su propio certificado</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HTTPS cifra extremo a extremo entre navegador y servidor real</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Un tercero en el medio no puede leer ni modificar el tráfico sin romper el cifrado.</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Burp resuelve esto presentándose como si fuera el servidor</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Genera un certificado propio, firmado por su propia CA, para cada sitio interceptado.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navegador debe confiar en esa CA de Burp explícitamente</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Solo así acepta el certificado sin mostrar advertencia — y solo si el usuario lo instaló voluntariamente.</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HTTPS E INTERCEPCIÓN</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1280160" y="4206240"/>
            <a:ext cx="3840480" cy="3840480"/>
          </a:xfrm>
          <a:prstGeom prst="ellipse">
            <a:avLst/>
          </a:prstGeom>
          <a:solidFill>
            <a:srgbClr val="A81810">
              <a:alpha val="70000"/>
            </a:srgbClr>
          </a:solidFill>
          <a:ln/>
        </p:spPr>
      </p:sp>
      <p:sp>
        <p:nvSpPr>
          <p:cNvPr id="3" name="Shape 1"/>
          <p:cNvSpPr/>
          <p:nvPr/>
        </p:nvSpPr>
        <p:spPr>
          <a:xfrm>
            <a:off x="10332720" y="-1371600"/>
            <a:ext cx="3108960" cy="3108960"/>
          </a:xfrm>
          <a:prstGeom prst="ellipse">
            <a:avLst/>
          </a:prstGeom>
          <a:solidFill>
            <a:srgbClr val="A81810">
              <a:alpha val="70000"/>
            </a:srgbClr>
          </a:solidFill>
          <a:ln/>
        </p:spPr>
      </p:sp>
      <p:sp>
        <p:nvSpPr>
          <p:cNvPr id="4" name="Text 2"/>
          <p:cNvSpPr/>
          <p:nvPr/>
        </p:nvSpPr>
        <p:spPr>
          <a:xfrm>
            <a:off x="640080" y="502920"/>
            <a:ext cx="2286000" cy="2011680"/>
          </a:xfrm>
          <a:prstGeom prst="rect">
            <a:avLst/>
          </a:prstGeom>
          <a:noFill/>
          <a:ln/>
        </p:spPr>
        <p:txBody>
          <a:bodyPr wrap="square" rtlCol="0" anchor="ctr"/>
          <a:lstStyle/>
          <a:p>
            <a:pPr indent="0" marL="0">
              <a:buNone/>
            </a:pPr>
            <a:r>
              <a:rPr lang="en-US" sz="13000" b="1" i="1" dirty="0">
                <a:solidFill>
                  <a:srgbClr val="A81810"/>
                </a:solidFill>
                <a:latin typeface="Georgia" pitchFamily="34" charset="0"/>
                <a:ea typeface="Georgia" pitchFamily="34" charset="-122"/>
                <a:cs typeface="Georgia" pitchFamily="34" charset="-120"/>
              </a:rPr>
              <a:t>”</a:t>
            </a:r>
            <a:endParaRPr lang="en-US" sz="13000" dirty="0"/>
          </a:p>
        </p:txBody>
      </p:sp>
      <p:sp>
        <p:nvSpPr>
          <p:cNvPr id="5" name="Text 3"/>
          <p:cNvSpPr/>
          <p:nvPr/>
        </p:nvSpPr>
        <p:spPr>
          <a:xfrm>
            <a:off x="914400" y="1965960"/>
            <a:ext cx="987552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PREGUNTA PARA DISCUTIR EN GRUPO</a:t>
            </a:r>
            <a:endParaRPr lang="en-US" sz="1300" dirty="0"/>
          </a:p>
        </p:txBody>
      </p:sp>
      <p:sp>
        <p:nvSpPr>
          <p:cNvPr id="6" name="Text 4"/>
          <p:cNvSpPr/>
          <p:nvPr/>
        </p:nvSpPr>
        <p:spPr>
          <a:xfrm>
            <a:off x="914400" y="2423160"/>
            <a:ext cx="10058400" cy="2377440"/>
          </a:xfrm>
          <a:prstGeom prst="rect">
            <a:avLst/>
          </a:prstGeom>
          <a:noFill/>
          <a:ln/>
        </p:spPr>
        <p:txBody>
          <a:bodyPr wrap="square" rtlCol="0" anchor="ctr"/>
          <a:lstStyle/>
          <a:p>
            <a:pPr indent="0" marL="0">
              <a:buNone/>
            </a:pPr>
            <a:r>
              <a:rPr lang="en-US" sz="2800" b="1" dirty="0">
                <a:solidFill>
                  <a:srgbClr val="FFFFFF"/>
                </a:solidFill>
                <a:latin typeface="Roboto" pitchFamily="34" charset="0"/>
                <a:ea typeface="Roboto" pitchFamily="34" charset="-122"/>
                <a:cs typeface="Roboto" pitchFamily="34" charset="-120"/>
              </a:rPr>
              <a:t>Si instalaran la CA de Burp en el navegador de otra persona sin decírselo, ¿qué habría cambiado técnica y éticamente?</a:t>
            </a:r>
            <a:endParaRPr lang="en-US" sz="2800" dirty="0"/>
          </a:p>
        </p:txBody>
      </p:sp>
      <p:sp>
        <p:nvSpPr>
          <p:cNvPr id="7" name="Text 5"/>
          <p:cNvSpPr/>
          <p:nvPr/>
        </p:nvSpPr>
        <p:spPr>
          <a:xfrm>
            <a:off x="914400" y="4937760"/>
            <a:ext cx="9601200" cy="731520"/>
          </a:xfrm>
          <a:prstGeom prst="rect">
            <a:avLst/>
          </a:prstGeom>
          <a:noFill/>
          <a:ln/>
        </p:spPr>
        <p:txBody>
          <a:bodyPr wrap="square" rtlCol="0" anchor="ctr"/>
          <a:lstStyle/>
          <a:p>
            <a:pPr indent="0" marL="0">
              <a:buNone/>
            </a:pPr>
            <a:r>
              <a:rPr lang="en-US" sz="1350" i="1" dirty="0">
                <a:solidFill>
                  <a:srgbClr val="FBDAD8"/>
                </a:solidFill>
                <a:latin typeface="Roboto" pitchFamily="34" charset="0"/>
                <a:ea typeface="Roboto" pitchFamily="34" charset="-122"/>
                <a:cs typeface="Roboto" pitchFamily="34" charset="-120"/>
              </a:rPr>
              <a:t>Coméntenlo con la persona de al lado (2 minutos) antes de que el instructor comparta la respuesta de referencia.</a:t>
            </a:r>
            <a:endParaRPr lang="en-US" sz="1350" dirty="0"/>
          </a:p>
        </p:txBody>
      </p:sp>
      <p:sp>
        <p:nvSpPr>
          <p:cNvPr id="8" name="Shape 6"/>
          <p:cNvSpPr/>
          <p:nvPr/>
        </p:nvSpPr>
        <p:spPr>
          <a:xfrm rot="2700000">
            <a:off x="502920" y="6501384"/>
            <a:ext cx="82296" cy="82296"/>
          </a:xfrm>
          <a:prstGeom prst="rect">
            <a:avLst/>
          </a:prstGeom>
          <a:solidFill>
            <a:srgbClr val="FFFFFF"/>
          </a:solidFill>
          <a:ln/>
        </p:spPr>
      </p:sp>
      <p:sp>
        <p:nvSpPr>
          <p:cNvPr id="9" name="Text 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10" name="Text 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ÉTICA Y ALCANCE</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MITM autorizado vs. un ataque MITM malicioso</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Lo que hacemos hoy (autorizado)</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El sistema es propio o expresamente autorizado</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La CA se instala voluntariamente, con conocimiento pleno</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El objetivo es analizar el propio tráfico para aprender</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Un ataque MITM real (no autorizado)</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Se ejecuta sobre el tráfico de un tercero sin su conocimiento</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La víctima nunca instaló ninguna CA a propósito</a:t>
            </a:r>
            <a:endParaRPr lang="en-US" sz="1300" dirty="0"/>
          </a:p>
        </p:txBody>
      </p:sp>
      <p:sp>
        <p:nvSpPr>
          <p:cNvPr id="24" name="Shape 22"/>
          <p:cNvSpPr/>
          <p:nvPr/>
        </p:nvSpPr>
        <p:spPr>
          <a:xfrm>
            <a:off x="6537960" y="3849624"/>
            <a:ext cx="82296" cy="82296"/>
          </a:xfrm>
          <a:prstGeom prst="ellipse">
            <a:avLst/>
          </a:prstGeom>
          <a:solidFill>
            <a:srgbClr val="1A1A1A"/>
          </a:solidFill>
          <a:ln/>
        </p:spPr>
      </p:sp>
      <p:sp>
        <p:nvSpPr>
          <p:cNvPr id="25" name="Text 23"/>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El objetivo es interceptar información ajena sin consentimiento</a:t>
            </a:r>
            <a:endParaRPr lang="en-US" sz="13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ÉTICA Y ALCANCE</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BURP SUITE</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Componentes de Burp que usaremos</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Proxy</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Intercept — pausa cada solicitud/respuesta en tiempo real</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HTTP History — registro completo de todo el tráfico capturado</a:t>
            </a:r>
            <a:endParaRPr lang="en-US" sz="1300" dirty="0"/>
          </a:p>
        </p:txBody>
      </p:sp>
      <p:sp>
        <p:nvSpPr>
          <p:cNvPr id="14" name="Shape 12"/>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5" name="Shape 13"/>
          <p:cNvSpPr/>
          <p:nvPr/>
        </p:nvSpPr>
        <p:spPr>
          <a:xfrm>
            <a:off x="6263640" y="1691640"/>
            <a:ext cx="5212080" cy="685800"/>
          </a:xfrm>
          <a:prstGeom prst="roundRect">
            <a:avLst>
              <a:gd name="adj" fmla="val 10667"/>
            </a:avLst>
          </a:prstGeom>
          <a:solidFill>
            <a:srgbClr val="1A1A1A"/>
          </a:solidFill>
          <a:ln/>
        </p:spPr>
      </p:sp>
      <p:sp>
        <p:nvSpPr>
          <p:cNvPr id="16" name="Shape 14"/>
          <p:cNvSpPr/>
          <p:nvPr/>
        </p:nvSpPr>
        <p:spPr>
          <a:xfrm>
            <a:off x="6263640" y="2148840"/>
            <a:ext cx="5212080" cy="228600"/>
          </a:xfrm>
          <a:prstGeom prst="rect">
            <a:avLst/>
          </a:prstGeom>
          <a:solidFill>
            <a:srgbClr val="1A1A1A"/>
          </a:solidFill>
          <a:ln/>
        </p:spPr>
      </p:sp>
      <p:sp>
        <p:nvSpPr>
          <p:cNvPr id="17" name="Text 15"/>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Repeater</a:t>
            </a:r>
            <a:endParaRPr lang="en-US" sz="1600" dirty="0"/>
          </a:p>
        </p:txBody>
      </p:sp>
      <p:sp>
        <p:nvSpPr>
          <p:cNvPr id="18" name="Shape 16"/>
          <p:cNvSpPr/>
          <p:nvPr/>
        </p:nvSpPr>
        <p:spPr>
          <a:xfrm>
            <a:off x="6537960" y="2715768"/>
            <a:ext cx="82296" cy="82296"/>
          </a:xfrm>
          <a:prstGeom prst="ellipse">
            <a:avLst/>
          </a:prstGeom>
          <a:solidFill>
            <a:srgbClr val="1A1A1A"/>
          </a:solidFill>
          <a:ln/>
        </p:spPr>
      </p:sp>
      <p:sp>
        <p:nvSpPr>
          <p:cNvPr id="19" name="Text 17"/>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Toma una solicitud capturada y permite reenviarla modificada</a:t>
            </a:r>
            <a:endParaRPr lang="en-US" sz="1300" dirty="0"/>
          </a:p>
        </p:txBody>
      </p:sp>
      <p:sp>
        <p:nvSpPr>
          <p:cNvPr id="20" name="Shape 18"/>
          <p:cNvSpPr/>
          <p:nvPr/>
        </p:nvSpPr>
        <p:spPr>
          <a:xfrm>
            <a:off x="6537960" y="3282696"/>
            <a:ext cx="82296" cy="82296"/>
          </a:xfrm>
          <a:prstGeom prst="ellipse">
            <a:avLst/>
          </a:prstGeom>
          <a:solidFill>
            <a:srgbClr val="1A1A1A"/>
          </a:solidFill>
          <a:ln/>
        </p:spPr>
      </p:sp>
      <p:sp>
        <p:nvSpPr>
          <p:cNvPr id="21" name="Text 19"/>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Ideal para comparar respuestas cambiando un parámetro o cabecera</a:t>
            </a:r>
            <a:endParaRPr lang="en-US" sz="1300" dirty="0"/>
          </a:p>
        </p:txBody>
      </p:sp>
      <p:sp>
        <p:nvSpPr>
          <p:cNvPr id="22" name="Shape 20"/>
          <p:cNvSpPr/>
          <p:nvPr/>
        </p:nvSpPr>
        <p:spPr>
          <a:xfrm>
            <a:off x="6537960" y="3849624"/>
            <a:ext cx="82296" cy="82296"/>
          </a:xfrm>
          <a:prstGeom prst="ellipse">
            <a:avLst/>
          </a:prstGeom>
          <a:solidFill>
            <a:srgbClr val="1A1A1A"/>
          </a:solidFill>
          <a:ln/>
        </p:spPr>
      </p:sp>
      <p:sp>
        <p:nvSpPr>
          <p:cNvPr id="23" name="Text 21"/>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No automatiza nada: cada envío es una acción manual y controlada</a:t>
            </a:r>
            <a:endParaRPr lang="en-US" sz="1300" dirty="0"/>
          </a:p>
        </p:txBody>
      </p:sp>
      <p:sp>
        <p:nvSpPr>
          <p:cNvPr id="24" name="Shape 22"/>
          <p:cNvSpPr/>
          <p:nvPr/>
        </p:nvSpPr>
        <p:spPr>
          <a:xfrm rot="2700000">
            <a:off x="502920" y="6501384"/>
            <a:ext cx="82296" cy="82296"/>
          </a:xfrm>
          <a:prstGeom prst="rect">
            <a:avLst/>
          </a:prstGeom>
          <a:solidFill>
            <a:srgbClr val="E2231A"/>
          </a:solidFill>
          <a:ln/>
        </p:spPr>
      </p:sp>
      <p:sp>
        <p:nvSpPr>
          <p:cNvPr id="25" name="Text 23"/>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BURP SUITE</a:t>
            </a:r>
            <a:endParaRPr lang="en-US" sz="800" dirty="0"/>
          </a:p>
        </p:txBody>
      </p:sp>
      <p:sp>
        <p:nvSpPr>
          <p:cNvPr id="26" name="Text 24"/>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BURP SUITE</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Navegador embebido de Burp vs. Firefox externo</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Navegador embebido de Burp</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Proxy y certificado ya preconfigurados automáticamente</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Rápido para empezar, pero oculta el mecanismo subyacente</a:t>
            </a:r>
            <a:endParaRPr lang="en-US" sz="1300" dirty="0"/>
          </a:p>
        </p:txBody>
      </p:sp>
      <p:sp>
        <p:nvSpPr>
          <p:cNvPr id="14" name="Shape 12"/>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5" name="Shape 13"/>
          <p:cNvSpPr/>
          <p:nvPr/>
        </p:nvSpPr>
        <p:spPr>
          <a:xfrm>
            <a:off x="6263640" y="1691640"/>
            <a:ext cx="5212080" cy="685800"/>
          </a:xfrm>
          <a:prstGeom prst="roundRect">
            <a:avLst>
              <a:gd name="adj" fmla="val 10667"/>
            </a:avLst>
          </a:prstGeom>
          <a:solidFill>
            <a:srgbClr val="1A1A1A"/>
          </a:solidFill>
          <a:ln/>
        </p:spPr>
      </p:sp>
      <p:sp>
        <p:nvSpPr>
          <p:cNvPr id="16" name="Shape 14"/>
          <p:cNvSpPr/>
          <p:nvPr/>
        </p:nvSpPr>
        <p:spPr>
          <a:xfrm>
            <a:off x="6263640" y="2148840"/>
            <a:ext cx="5212080" cy="228600"/>
          </a:xfrm>
          <a:prstGeom prst="rect">
            <a:avLst/>
          </a:prstGeom>
          <a:solidFill>
            <a:srgbClr val="1A1A1A"/>
          </a:solidFill>
          <a:ln/>
        </p:spPr>
      </p:sp>
      <p:sp>
        <p:nvSpPr>
          <p:cNvPr id="17" name="Text 15"/>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Firefox externo (lo que haremos hoy)</a:t>
            </a:r>
            <a:endParaRPr lang="en-US" sz="1600" dirty="0"/>
          </a:p>
        </p:txBody>
      </p:sp>
      <p:sp>
        <p:nvSpPr>
          <p:cNvPr id="18" name="Shape 16"/>
          <p:cNvSpPr/>
          <p:nvPr/>
        </p:nvSpPr>
        <p:spPr>
          <a:xfrm>
            <a:off x="6537960" y="2715768"/>
            <a:ext cx="82296" cy="82296"/>
          </a:xfrm>
          <a:prstGeom prst="ellipse">
            <a:avLst/>
          </a:prstGeom>
          <a:solidFill>
            <a:srgbClr val="1A1A1A"/>
          </a:solidFill>
          <a:ln/>
        </p:spPr>
      </p:sp>
      <p:sp>
        <p:nvSpPr>
          <p:cNvPr id="19" name="Text 17"/>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Se configura manualmente: proxy y certificado, paso a paso</a:t>
            </a:r>
            <a:endParaRPr lang="en-US" sz="1300" dirty="0"/>
          </a:p>
        </p:txBody>
      </p:sp>
      <p:sp>
        <p:nvSpPr>
          <p:cNvPr id="20" name="Shape 18"/>
          <p:cNvSpPr/>
          <p:nvPr/>
        </p:nvSpPr>
        <p:spPr>
          <a:xfrm>
            <a:off x="6537960" y="3282696"/>
            <a:ext cx="82296" cy="82296"/>
          </a:xfrm>
          <a:prstGeom prst="ellipse">
            <a:avLst/>
          </a:prstGeom>
          <a:solidFill>
            <a:srgbClr val="1A1A1A"/>
          </a:solidFill>
          <a:ln/>
        </p:spPr>
      </p:sp>
      <p:sp>
        <p:nvSpPr>
          <p:cNvPr id="21" name="Text 19"/>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Enseña el mecanismo real, aplicable también a ZAP en la Sesión 7</a:t>
            </a:r>
            <a:endParaRPr lang="en-US" sz="1300" dirty="0"/>
          </a:p>
        </p:txBody>
      </p:sp>
      <p:sp>
        <p:nvSpPr>
          <p:cNvPr id="22" name="Shape 20"/>
          <p:cNvSpPr/>
          <p:nvPr/>
        </p:nvSpPr>
        <p:spPr>
          <a:xfrm rot="2700000">
            <a:off x="502920" y="6501384"/>
            <a:ext cx="82296" cy="82296"/>
          </a:xfrm>
          <a:prstGeom prst="rect">
            <a:avLst/>
          </a:prstGeom>
          <a:solidFill>
            <a:srgbClr val="E2231A"/>
          </a:solidFill>
          <a:ln/>
        </p:spPr>
      </p:sp>
      <p:sp>
        <p:nvSpPr>
          <p:cNvPr id="23" name="Text 21"/>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BURP SUITE</a:t>
            </a:r>
            <a:endParaRPr lang="en-US" sz="800" dirty="0"/>
          </a:p>
        </p:txBody>
      </p:sp>
      <p:sp>
        <p:nvSpPr>
          <p:cNvPr id="24" name="Text 22"/>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PAUSA</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15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Al volver: configuración guiada de Burp Suite, paso a paso, en vivo (pasos 1 a 8).</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ANTES DE CONFIGURAR · ENTORNO DE PRÁCTICA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Los dos servicios que interceptaremos</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OWASP Juice Shop (HTTP)</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http://localhost:3000</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En la EF3 de hoy se usa SOLO como generador de tráfico realista (no se explotan sus vulnerabilidades)</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Anexo complementario: 6 guías opcionales de explotación con Burp Suite (material adicional, fuera de las 40 horas)</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Sitio HTTPS de laboratorio</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https://www.laboratorio-bacci.test:8443</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Servido con OpenSSL y el certificado de la CA de laboratorio (Sesión 2)</a:t>
            </a:r>
            <a:endParaRPr lang="en-US" sz="1300" dirty="0"/>
          </a:p>
        </p:txBody>
      </p:sp>
      <p:sp>
        <p:nvSpPr>
          <p:cNvPr id="24" name="Shape 22"/>
          <p:cNvSpPr/>
          <p:nvPr/>
        </p:nvSpPr>
        <p:spPr>
          <a:xfrm>
            <a:off x="6537960" y="3849624"/>
            <a:ext cx="82296" cy="82296"/>
          </a:xfrm>
          <a:prstGeom prst="ellipse">
            <a:avLst/>
          </a:prstGeom>
          <a:solidFill>
            <a:srgbClr val="1A1A1A"/>
          </a:solidFill>
          <a:ln/>
        </p:spPr>
      </p:sp>
      <p:sp>
        <p:nvSpPr>
          <p:cNvPr id="25" name="Text 23"/>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Permite practicar específicamente la intercepción de HTTPS</a:t>
            </a:r>
            <a:endParaRPr lang="en-US" sz="13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ANTES DE CONFIGURAR · ENTORNO DE PRÁCTICA</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CONFIGURACIÓN GUIADA DE BURP (1/2) · EN VIVO SOBRE KALI</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Paso a paso: proyecto, listener y proxy de Firefox</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1. Crear un proyecto temporal en Burp</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Temporary project, con la configuración por defecto (Use Burp defaults). Resultado esperado: Burp abre con las pestañas Proxy, Repeater, etc. visibles.</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2. Confirmar el Proxy Listener activo</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Proxy → Proxy settings → 127.0.0.1:8080. Resultado esperado: el listener aparece como "Running" en la lista.</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3. Configurar el proxy manual en Firefox</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Configuración de red → HTTP Proxy 127.0.0.1, puerto 8080, marcando "usar también para HTTPS". Resultado esperado: Firefox guarda el cambio sin error.</a:t>
            </a:r>
            <a:endParaRPr lang="en-US" sz="1250" dirty="0"/>
          </a:p>
        </p:txBody>
      </p:sp>
      <p:sp>
        <p:nvSpPr>
          <p:cNvPr id="18" name="Shape 16"/>
          <p:cNvSpPr/>
          <p:nvPr/>
        </p:nvSpPr>
        <p:spPr>
          <a:xfrm>
            <a:off x="640080" y="4572000"/>
            <a:ext cx="384048" cy="384048"/>
          </a:xfrm>
          <a:prstGeom prst="ellipse">
            <a:avLst/>
          </a:prstGeom>
          <a:solidFill>
            <a:srgbClr val="E2231A"/>
          </a:solidFill>
          <a:ln/>
        </p:spPr>
      </p:sp>
      <p:sp>
        <p:nvSpPr>
          <p:cNvPr id="19" name="Text 17"/>
          <p:cNvSpPr/>
          <p:nvPr/>
        </p:nvSpPr>
        <p:spPr>
          <a:xfrm>
            <a:off x="640080" y="457200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51713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4. Verificar HTTP</a:t>
            </a:r>
            <a:endParaRPr lang="en-US" sz="1600" dirty="0"/>
          </a:p>
        </p:txBody>
      </p:sp>
      <p:sp>
        <p:nvSpPr>
          <p:cNvPr id="21" name="Text 19"/>
          <p:cNvSpPr/>
          <p:nvPr/>
        </p:nvSpPr>
        <p:spPr>
          <a:xfrm>
            <a:off x="1234440" y="486460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Navegar a http://localhost:3000 (Juice Shop) y confirmar la solicitud en Burp → Proxy → HTTP History. Resultado esperado: la fila con method GET y la URL de Juice Shop aparece en History.</a:t>
            </a:r>
            <a:endParaRPr lang="en-US" sz="1250" dirty="0"/>
          </a:p>
        </p:txBody>
      </p:sp>
      <p:sp>
        <p:nvSpPr>
          <p:cNvPr id="22" name="Shape 20"/>
          <p:cNvSpPr/>
          <p:nvPr/>
        </p:nvSpPr>
        <p:spPr>
          <a:xfrm rot="2700000">
            <a:off x="502920" y="6501384"/>
            <a:ext cx="82296" cy="82296"/>
          </a:xfrm>
          <a:prstGeom prst="rect">
            <a:avLst/>
          </a:prstGeom>
          <a:solidFill>
            <a:srgbClr val="E2231A"/>
          </a:solidFill>
          <a:ln/>
        </p:spPr>
      </p:sp>
      <p:sp>
        <p:nvSpPr>
          <p:cNvPr id="23" name="Text 21"/>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CONFIGURACIÓN GUIADA DE BURP (1/2) · EN VIVO SOBRE KALI</a:t>
            </a:r>
            <a:endParaRPr lang="en-US" sz="800" dirty="0"/>
          </a:p>
        </p:txBody>
      </p:sp>
      <p:sp>
        <p:nvSpPr>
          <p:cNvPr id="24" name="Text 22"/>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CONFIGURACIÓN GUIADA DE BURP (2/2) · EN VIVO SOBRE KALI</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Paso a paso: el certificado CA — el paso más importante</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5. Comprobar la advertencia de HTTPS</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Sin la CA de Burp instalada, el navegador advertirá al interceptar tráfico cifrado. Resultado esperado: pantalla de advertencia de certificado no confiable.</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6. Exportar la CA de Burp</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Proxy → Proxy settings → TLS → Import/export CA certificate → formato DER → guardar como burp-ca.der. Resultado esperado: el archivo .der se guarda sin error.</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7. Importar la CA en Firefox</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Configuración → Privacidad y seguridad → Certificados → Ver certificados → Autoridades → Importar → confiar para identificar sitios web. Resultado esperado: "PortSwigger CA" aparece listada en Autoridades.</a:t>
            </a:r>
            <a:endParaRPr lang="en-US" sz="1250" dirty="0"/>
          </a:p>
        </p:txBody>
      </p:sp>
      <p:sp>
        <p:nvSpPr>
          <p:cNvPr id="18" name="Shape 16"/>
          <p:cNvSpPr/>
          <p:nvPr/>
        </p:nvSpPr>
        <p:spPr>
          <a:xfrm>
            <a:off x="640080" y="4572000"/>
            <a:ext cx="384048" cy="384048"/>
          </a:xfrm>
          <a:prstGeom prst="ellipse">
            <a:avLst/>
          </a:prstGeom>
          <a:solidFill>
            <a:srgbClr val="E2231A"/>
          </a:solidFill>
          <a:ln/>
        </p:spPr>
      </p:sp>
      <p:sp>
        <p:nvSpPr>
          <p:cNvPr id="19" name="Text 17"/>
          <p:cNvSpPr/>
          <p:nvPr/>
        </p:nvSpPr>
        <p:spPr>
          <a:xfrm>
            <a:off x="640080" y="457200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51713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8. Capturar tráfico HTTPS</a:t>
            </a:r>
            <a:endParaRPr lang="en-US" sz="1600" dirty="0"/>
          </a:p>
        </p:txBody>
      </p:sp>
      <p:sp>
        <p:nvSpPr>
          <p:cNvPr id="21" name="Text 19"/>
          <p:cNvSpPr/>
          <p:nvPr/>
        </p:nvSpPr>
        <p:spPr>
          <a:xfrm>
            <a:off x="1234440" y="486460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Navegar a https://www.laboratorio-bacci.test:8443 y confirmar que ya no hay advertencia. Resultado esperado: el candado del navegador se ve normal y la solicitud aparece en HTTP History.</a:t>
            </a:r>
            <a:endParaRPr lang="en-US" sz="1250" dirty="0"/>
          </a:p>
        </p:txBody>
      </p:sp>
      <p:sp>
        <p:nvSpPr>
          <p:cNvPr id="22" name="Shape 20"/>
          <p:cNvSpPr/>
          <p:nvPr/>
        </p:nvSpPr>
        <p:spPr>
          <a:xfrm rot="2700000">
            <a:off x="502920" y="6501384"/>
            <a:ext cx="82296" cy="82296"/>
          </a:xfrm>
          <a:prstGeom prst="rect">
            <a:avLst/>
          </a:prstGeom>
          <a:solidFill>
            <a:srgbClr val="E2231A"/>
          </a:solidFill>
          <a:ln/>
        </p:spPr>
      </p:sp>
      <p:sp>
        <p:nvSpPr>
          <p:cNvPr id="23" name="Text 21"/>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CONFIGURACIÓN GUIADA DE BURP (2/2) · EN VIVO SOBRE KALI</a:t>
            </a:r>
            <a:endParaRPr lang="en-US" sz="800" dirty="0"/>
          </a:p>
        </p:txBody>
      </p:sp>
      <p:sp>
        <p:nvSpPr>
          <p:cNvPr id="24" name="Text 22"/>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COMPROBACIÓN RÁPIDA</a:t>
            </a:r>
            <a:endParaRPr lang="en-US" sz="1150" dirty="0"/>
          </a:p>
        </p:txBody>
      </p:sp>
      <p:sp>
        <p:nvSpPr>
          <p:cNvPr id="5" name="Text 3"/>
          <p:cNvSpPr/>
          <p:nvPr/>
        </p:nvSpPr>
        <p:spPr>
          <a:xfrm>
            <a:off x="548640" y="749808"/>
            <a:ext cx="10332720" cy="1234440"/>
          </a:xfrm>
          <a:prstGeom prst="rect">
            <a:avLst/>
          </a:prstGeom>
          <a:noFill/>
          <a:ln/>
        </p:spPr>
        <p:txBody>
          <a:bodyPr wrap="square" rtlCol="0" anchor="t"/>
          <a:lstStyle/>
          <a:p>
            <a:pPr indent="0" marL="0">
              <a:buNone/>
            </a:pPr>
            <a:r>
              <a:rPr lang="en-US" sz="2000" b="1" dirty="0">
                <a:solidFill>
                  <a:srgbClr val="1A1A1A"/>
                </a:solidFill>
                <a:latin typeface="Roboto" pitchFamily="34" charset="0"/>
                <a:ea typeface="Roboto" pitchFamily="34" charset="-122"/>
                <a:cs typeface="Roboto" pitchFamily="34" charset="-120"/>
              </a:rPr>
              <a:t>¿Qué verían en el navegador si intentan cargar el sitio HTTPS ANTES de completar el paso 7 (importar la CA)?</a:t>
            </a:r>
            <a:endParaRPr lang="en-US" sz="2000" dirty="0"/>
          </a:p>
        </p:txBody>
      </p:sp>
      <p:sp>
        <p:nvSpPr>
          <p:cNvPr id="6" name="Shape 4"/>
          <p:cNvSpPr/>
          <p:nvPr/>
        </p:nvSpPr>
        <p:spPr>
          <a:xfrm>
            <a:off x="548640" y="2240280"/>
            <a:ext cx="5349240" cy="1371600"/>
          </a:xfrm>
          <a:prstGeom prst="roundRect">
            <a:avLst>
              <a:gd name="adj" fmla="val 6000"/>
            </a:avLst>
          </a:prstGeom>
          <a:solidFill>
            <a:srgbClr val="F7F5F4"/>
          </a:solidFill>
          <a:ln w="9525">
            <a:solidFill>
              <a:srgbClr val="E7E1DF"/>
            </a:solidFill>
            <a:prstDash val="solid"/>
          </a:ln>
        </p:spPr>
      </p:sp>
      <p:sp>
        <p:nvSpPr>
          <p:cNvPr id="7" name="Shape 5"/>
          <p:cNvSpPr/>
          <p:nvPr/>
        </p:nvSpPr>
        <p:spPr>
          <a:xfrm>
            <a:off x="777240" y="2468880"/>
            <a:ext cx="420624" cy="420624"/>
          </a:xfrm>
          <a:prstGeom prst="ellipse">
            <a:avLst/>
          </a:prstGeom>
          <a:solidFill>
            <a:srgbClr val="E2231A"/>
          </a:solidFill>
          <a:ln/>
        </p:spPr>
      </p:sp>
      <p:sp>
        <p:nvSpPr>
          <p:cNvPr id="8" name="Text 6"/>
          <p:cNvSpPr/>
          <p:nvPr/>
        </p:nvSpPr>
        <p:spPr>
          <a:xfrm>
            <a:off x="77724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A</a:t>
            </a:r>
            <a:endParaRPr lang="en-US" sz="1500" dirty="0"/>
          </a:p>
        </p:txBody>
      </p:sp>
      <p:sp>
        <p:nvSpPr>
          <p:cNvPr id="9" name="Text 7"/>
          <p:cNvSpPr/>
          <p:nvPr/>
        </p:nvSpPr>
        <p:spPr>
          <a:xfrm>
            <a:off x="137160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A)  Una advertencia de certificado no confiable, porque el navegador no reconoce la CA de Burp.</a:t>
            </a:r>
            <a:endParaRPr lang="en-US" sz="1250" dirty="0"/>
          </a:p>
        </p:txBody>
      </p:sp>
      <p:sp>
        <p:nvSpPr>
          <p:cNvPr id="10" name="Shape 8"/>
          <p:cNvSpPr/>
          <p:nvPr/>
        </p:nvSpPr>
        <p:spPr>
          <a:xfrm>
            <a:off x="6217920" y="2240280"/>
            <a:ext cx="5349240" cy="1371600"/>
          </a:xfrm>
          <a:prstGeom prst="roundRect">
            <a:avLst>
              <a:gd name="adj" fmla="val 6000"/>
            </a:avLst>
          </a:prstGeom>
          <a:solidFill>
            <a:srgbClr val="F7F5F4"/>
          </a:solidFill>
          <a:ln w="9525">
            <a:solidFill>
              <a:srgbClr val="E7E1DF"/>
            </a:solidFill>
            <a:prstDash val="solid"/>
          </a:ln>
        </p:spPr>
      </p:sp>
      <p:sp>
        <p:nvSpPr>
          <p:cNvPr id="11" name="Shape 9"/>
          <p:cNvSpPr/>
          <p:nvPr/>
        </p:nvSpPr>
        <p:spPr>
          <a:xfrm>
            <a:off x="6446520" y="2468880"/>
            <a:ext cx="420624" cy="420624"/>
          </a:xfrm>
          <a:prstGeom prst="ellipse">
            <a:avLst/>
          </a:prstGeom>
          <a:solidFill>
            <a:srgbClr val="E2231A"/>
          </a:solidFill>
          <a:ln/>
        </p:spPr>
      </p:sp>
      <p:sp>
        <p:nvSpPr>
          <p:cNvPr id="12" name="Text 10"/>
          <p:cNvSpPr/>
          <p:nvPr/>
        </p:nvSpPr>
        <p:spPr>
          <a:xfrm>
            <a:off x="644652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B</a:t>
            </a:r>
            <a:endParaRPr lang="en-US" sz="1500" dirty="0"/>
          </a:p>
        </p:txBody>
      </p:sp>
      <p:sp>
        <p:nvSpPr>
          <p:cNvPr id="13" name="Text 11"/>
          <p:cNvSpPr/>
          <p:nvPr/>
        </p:nvSpPr>
        <p:spPr>
          <a:xfrm>
            <a:off x="704088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B)  La página cargaría normalmente, sin ninguna diferencia visible.</a:t>
            </a:r>
            <a:endParaRPr lang="en-US" sz="1250" dirty="0"/>
          </a:p>
        </p:txBody>
      </p:sp>
      <p:sp>
        <p:nvSpPr>
          <p:cNvPr id="14" name="Shape 12"/>
          <p:cNvSpPr/>
          <p:nvPr/>
        </p:nvSpPr>
        <p:spPr>
          <a:xfrm>
            <a:off x="548640" y="3867912"/>
            <a:ext cx="5349240" cy="1371600"/>
          </a:xfrm>
          <a:prstGeom prst="roundRect">
            <a:avLst>
              <a:gd name="adj" fmla="val 6000"/>
            </a:avLst>
          </a:prstGeom>
          <a:solidFill>
            <a:srgbClr val="F7F5F4"/>
          </a:solidFill>
          <a:ln w="9525">
            <a:solidFill>
              <a:srgbClr val="E7E1DF"/>
            </a:solidFill>
            <a:prstDash val="solid"/>
          </a:ln>
        </p:spPr>
      </p:sp>
      <p:sp>
        <p:nvSpPr>
          <p:cNvPr id="15" name="Shape 13"/>
          <p:cNvSpPr/>
          <p:nvPr/>
        </p:nvSpPr>
        <p:spPr>
          <a:xfrm>
            <a:off x="777240" y="4096512"/>
            <a:ext cx="420624" cy="420624"/>
          </a:xfrm>
          <a:prstGeom prst="ellipse">
            <a:avLst/>
          </a:prstGeom>
          <a:solidFill>
            <a:srgbClr val="E2231A"/>
          </a:solidFill>
          <a:ln/>
        </p:spPr>
      </p:sp>
      <p:sp>
        <p:nvSpPr>
          <p:cNvPr id="16" name="Text 14"/>
          <p:cNvSpPr/>
          <p:nvPr/>
        </p:nvSpPr>
        <p:spPr>
          <a:xfrm>
            <a:off x="77724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C</a:t>
            </a:r>
            <a:endParaRPr lang="en-US" sz="1500" dirty="0"/>
          </a:p>
        </p:txBody>
      </p:sp>
      <p:sp>
        <p:nvSpPr>
          <p:cNvPr id="17" name="Text 15"/>
          <p:cNvSpPr/>
          <p:nvPr/>
        </p:nvSpPr>
        <p:spPr>
          <a:xfrm>
            <a:off x="137160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C)  Un error de "sin conexión a internet".</a:t>
            </a:r>
            <a:endParaRPr lang="en-US" sz="1250" dirty="0"/>
          </a:p>
        </p:txBody>
      </p:sp>
      <p:sp>
        <p:nvSpPr>
          <p:cNvPr id="18" name="Shape 16"/>
          <p:cNvSpPr/>
          <p:nvPr/>
        </p:nvSpPr>
        <p:spPr>
          <a:xfrm>
            <a:off x="6217920" y="3867912"/>
            <a:ext cx="5349240" cy="1371600"/>
          </a:xfrm>
          <a:prstGeom prst="roundRect">
            <a:avLst>
              <a:gd name="adj" fmla="val 6000"/>
            </a:avLst>
          </a:prstGeom>
          <a:solidFill>
            <a:srgbClr val="F7F5F4"/>
          </a:solidFill>
          <a:ln w="9525">
            <a:solidFill>
              <a:srgbClr val="E7E1DF"/>
            </a:solidFill>
            <a:prstDash val="solid"/>
          </a:ln>
        </p:spPr>
      </p:sp>
      <p:sp>
        <p:nvSpPr>
          <p:cNvPr id="19" name="Shape 17"/>
          <p:cNvSpPr/>
          <p:nvPr/>
        </p:nvSpPr>
        <p:spPr>
          <a:xfrm>
            <a:off x="6446520" y="4096512"/>
            <a:ext cx="420624" cy="420624"/>
          </a:xfrm>
          <a:prstGeom prst="ellipse">
            <a:avLst/>
          </a:prstGeom>
          <a:solidFill>
            <a:srgbClr val="E2231A"/>
          </a:solidFill>
          <a:ln/>
        </p:spPr>
      </p:sp>
      <p:sp>
        <p:nvSpPr>
          <p:cNvPr id="20" name="Text 18"/>
          <p:cNvSpPr/>
          <p:nvPr/>
        </p:nvSpPr>
        <p:spPr>
          <a:xfrm>
            <a:off x="644652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D</a:t>
            </a:r>
            <a:endParaRPr lang="en-US" sz="1500" dirty="0"/>
          </a:p>
        </p:txBody>
      </p:sp>
      <p:sp>
        <p:nvSpPr>
          <p:cNvPr id="21" name="Text 19"/>
          <p:cNvSpPr/>
          <p:nvPr/>
        </p:nvSpPr>
        <p:spPr>
          <a:xfrm>
            <a:off x="704088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D)  Burp bloquearía automáticamente la solicitud hasta que se importe la CA.</a:t>
            </a:r>
            <a:endParaRPr lang="en-US" sz="1250" dirty="0"/>
          </a:p>
        </p:txBody>
      </p:sp>
      <p:sp>
        <p:nvSpPr>
          <p:cNvPr id="22" name="Text 20"/>
          <p:cNvSpPr/>
          <p:nvPr/>
        </p:nvSpPr>
        <p:spPr>
          <a:xfrm>
            <a:off x="548640" y="5541264"/>
            <a:ext cx="11064240" cy="365760"/>
          </a:xfrm>
          <a:prstGeom prst="rect">
            <a:avLst/>
          </a:prstGeom>
          <a:noFill/>
          <a:ln/>
        </p:spPr>
        <p:txBody>
          <a:bodyPr wrap="square" rtlCol="0" anchor="ctr"/>
          <a:lstStyle/>
          <a:p>
            <a:pPr indent="0" marL="0">
              <a:buNone/>
            </a:pPr>
            <a:r>
              <a:rPr lang="en-US" sz="1150" i="1" dirty="0">
                <a:solidFill>
                  <a:srgbClr val="6B6B6B"/>
                </a:solidFill>
                <a:latin typeface="Roboto" pitchFamily="34" charset="0"/>
                <a:ea typeface="Roboto" pitchFamily="34" charset="-122"/>
                <a:cs typeface="Roboto" pitchFamily="34" charset="-120"/>
              </a:rPr>
              <a:t>Elige tu respuesta antes de que el instructor revele la correcta.</a:t>
            </a:r>
            <a:endParaRPr lang="en-US" sz="115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COMPROBACIÓN RÁPIDA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148840"/>
          </a:xfrm>
          <a:prstGeom prst="rect">
            <a:avLst/>
          </a:prstGeom>
          <a:solidFill>
            <a:srgbClr val="E2231A"/>
          </a:solidFill>
          <a:ln/>
        </p:spPr>
      </p:sp>
      <p:sp>
        <p:nvSpPr>
          <p:cNvPr id="3" name="Shape 1"/>
          <p:cNvSpPr/>
          <p:nvPr/>
        </p:nvSpPr>
        <p:spPr>
          <a:xfrm>
            <a:off x="10607040" y="-1005840"/>
            <a:ext cx="2926080" cy="2926080"/>
          </a:xfrm>
          <a:prstGeom prst="ellipse">
            <a:avLst/>
          </a:prstGeom>
          <a:solidFill>
            <a:srgbClr val="A81810">
              <a:alpha val="70000"/>
            </a:srgbClr>
          </a:solidFill>
          <a:ln/>
        </p:spPr>
      </p:sp>
      <p:sp>
        <p:nvSpPr>
          <p:cNvPr id="4" name="Text 2"/>
          <p:cNvSpPr/>
          <p:nvPr/>
        </p:nvSpPr>
        <p:spPr>
          <a:xfrm>
            <a:off x="822960" y="502920"/>
            <a:ext cx="100584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CIERRE DEL DÍA 3 · LA SESIÓN 6 CONTINÚA MAÑANA</a:t>
            </a:r>
            <a:endParaRPr lang="en-US" sz="1300" dirty="0"/>
          </a:p>
        </p:txBody>
      </p:sp>
      <p:sp>
        <p:nvSpPr>
          <p:cNvPr id="5" name="Text 3"/>
          <p:cNvSpPr/>
          <p:nvPr/>
        </p:nvSpPr>
        <p:spPr>
          <a:xfrm>
            <a:off x="822960" y="868680"/>
            <a:ext cx="10241280" cy="1097280"/>
          </a:xfrm>
          <a:prstGeom prst="rect">
            <a:avLst/>
          </a:prstGeom>
          <a:noFill/>
          <a:ln/>
        </p:spPr>
        <p:txBody>
          <a:bodyPr wrap="square" rtlCol="0" anchor="ctr"/>
          <a:lstStyle/>
          <a:p>
            <a:pPr indent="0" marL="0">
              <a:buNone/>
            </a:pPr>
            <a:r>
              <a:rPr lang="en-US" sz="2700" b="1" dirty="0">
                <a:solidFill>
                  <a:srgbClr val="FFFFFF"/>
                </a:solidFill>
                <a:latin typeface="Roboto" pitchFamily="34" charset="0"/>
                <a:ea typeface="Roboto" pitchFamily="34" charset="-122"/>
                <a:cs typeface="Roboto" pitchFamily="34" charset="-120"/>
              </a:rPr>
              <a:t>Mañana (Día 4): pasos 9-12, preguntas frecuentes y Evaluación Formativa 3</a:t>
            </a:r>
            <a:endParaRPr lang="en-US" sz="2700" dirty="0"/>
          </a:p>
        </p:txBody>
      </p:sp>
      <p:sp>
        <p:nvSpPr>
          <p:cNvPr id="6" name="Shape 4"/>
          <p:cNvSpPr/>
          <p:nvPr/>
        </p:nvSpPr>
        <p:spPr>
          <a:xfrm>
            <a:off x="822960" y="2514600"/>
            <a:ext cx="10515600" cy="566928"/>
          </a:xfrm>
          <a:prstGeom prst="roundRect">
            <a:avLst>
              <a:gd name="adj" fmla="val 9677"/>
            </a:avLst>
          </a:prstGeom>
          <a:solidFill>
            <a:srgbClr val="F7F5F4"/>
          </a:solidFill>
          <a:ln/>
        </p:spPr>
      </p:sp>
      <p:sp>
        <p:nvSpPr>
          <p:cNvPr id="7" name="Shape 5"/>
          <p:cNvSpPr/>
          <p:nvPr/>
        </p:nvSpPr>
        <p:spPr>
          <a:xfrm>
            <a:off x="822960" y="2514600"/>
            <a:ext cx="54864" cy="566928"/>
          </a:xfrm>
          <a:prstGeom prst="rect">
            <a:avLst/>
          </a:prstGeom>
          <a:solidFill>
            <a:srgbClr val="E2231A"/>
          </a:solidFill>
          <a:ln/>
        </p:spPr>
      </p:sp>
      <p:sp>
        <p:nvSpPr>
          <p:cNvPr id="8" name="Text 6"/>
          <p:cNvSpPr/>
          <p:nvPr/>
        </p:nvSpPr>
        <p:spPr>
          <a:xfrm>
            <a:off x="1097280" y="2514600"/>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Hoy quedó lista la base: proxy configurado y HTTPS interceptándose sin advertencias (pasos 1-8)</a:t>
            </a:r>
            <a:endParaRPr lang="en-US" sz="1350" dirty="0"/>
          </a:p>
        </p:txBody>
      </p:sp>
      <p:sp>
        <p:nvSpPr>
          <p:cNvPr id="9" name="Shape 7"/>
          <p:cNvSpPr/>
          <p:nvPr/>
        </p:nvSpPr>
        <p:spPr>
          <a:xfrm>
            <a:off x="822960" y="3191256"/>
            <a:ext cx="10515600" cy="566928"/>
          </a:xfrm>
          <a:prstGeom prst="roundRect">
            <a:avLst>
              <a:gd name="adj" fmla="val 9677"/>
            </a:avLst>
          </a:prstGeom>
          <a:solidFill>
            <a:srgbClr val="F7F5F4"/>
          </a:solidFill>
          <a:ln/>
        </p:spPr>
      </p:sp>
      <p:sp>
        <p:nvSpPr>
          <p:cNvPr id="10" name="Shape 8"/>
          <p:cNvSpPr/>
          <p:nvPr/>
        </p:nvSpPr>
        <p:spPr>
          <a:xfrm>
            <a:off x="822960" y="3191256"/>
            <a:ext cx="54864" cy="566928"/>
          </a:xfrm>
          <a:prstGeom prst="rect">
            <a:avLst/>
          </a:prstGeom>
          <a:solidFill>
            <a:srgbClr val="E2231A"/>
          </a:solidFill>
          <a:ln/>
        </p:spPr>
      </p:sp>
      <p:sp>
        <p:nvSpPr>
          <p:cNvPr id="11" name="Text 9"/>
          <p:cNvSpPr/>
          <p:nvPr/>
        </p:nvSpPr>
        <p:spPr>
          <a:xfrm>
            <a:off x="1097280" y="3191256"/>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Mañana en la mañana: Intercept, HTTP History, Repeater y restauración (pasos 9-12)</a:t>
            </a:r>
            <a:endParaRPr lang="en-US" sz="1350" dirty="0"/>
          </a:p>
        </p:txBody>
      </p:sp>
      <p:sp>
        <p:nvSpPr>
          <p:cNvPr id="12" name="Shape 10"/>
          <p:cNvSpPr/>
          <p:nvPr/>
        </p:nvSpPr>
        <p:spPr>
          <a:xfrm>
            <a:off x="822960" y="3867912"/>
            <a:ext cx="10515600" cy="566928"/>
          </a:xfrm>
          <a:prstGeom prst="roundRect">
            <a:avLst>
              <a:gd name="adj" fmla="val 9677"/>
            </a:avLst>
          </a:prstGeom>
          <a:solidFill>
            <a:srgbClr val="F7F5F4"/>
          </a:solidFill>
          <a:ln/>
        </p:spPr>
      </p:sp>
      <p:sp>
        <p:nvSpPr>
          <p:cNvPr id="13" name="Shape 11"/>
          <p:cNvSpPr/>
          <p:nvPr/>
        </p:nvSpPr>
        <p:spPr>
          <a:xfrm>
            <a:off x="822960" y="3867912"/>
            <a:ext cx="54864" cy="566928"/>
          </a:xfrm>
          <a:prstGeom prst="rect">
            <a:avLst/>
          </a:prstGeom>
          <a:solidFill>
            <a:srgbClr val="E2231A"/>
          </a:solidFill>
          <a:ln/>
        </p:spPr>
      </p:sp>
      <p:sp>
        <p:nvSpPr>
          <p:cNvPr id="14" name="Text 12"/>
          <p:cNvSpPr/>
          <p:nvPr/>
        </p:nvSpPr>
        <p:spPr>
          <a:xfrm>
            <a:off x="1097280" y="3867912"/>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Mañana también: la Evaluación Formativa 3, con el tiempo completo del Laboratorio 5</a:t>
            </a:r>
            <a:endParaRPr lang="en-US" sz="1350" dirty="0"/>
          </a:p>
        </p:txBody>
      </p:sp>
      <p:sp>
        <p:nvSpPr>
          <p:cNvPr id="15" name="Shape 13"/>
          <p:cNvSpPr/>
          <p:nvPr/>
        </p:nvSpPr>
        <p:spPr>
          <a:xfrm>
            <a:off x="822960" y="4544568"/>
            <a:ext cx="10515600" cy="566928"/>
          </a:xfrm>
          <a:prstGeom prst="roundRect">
            <a:avLst>
              <a:gd name="adj" fmla="val 9677"/>
            </a:avLst>
          </a:prstGeom>
          <a:solidFill>
            <a:srgbClr val="F7F5F4"/>
          </a:solidFill>
          <a:ln/>
        </p:spPr>
      </p:sp>
      <p:sp>
        <p:nvSpPr>
          <p:cNvPr id="16" name="Shape 14"/>
          <p:cNvSpPr/>
          <p:nvPr/>
        </p:nvSpPr>
        <p:spPr>
          <a:xfrm>
            <a:off x="822960" y="4544568"/>
            <a:ext cx="54864" cy="566928"/>
          </a:xfrm>
          <a:prstGeom prst="rect">
            <a:avLst/>
          </a:prstGeom>
          <a:solidFill>
            <a:srgbClr val="E2231A"/>
          </a:solidFill>
          <a:ln/>
        </p:spPr>
      </p:sp>
      <p:sp>
        <p:nvSpPr>
          <p:cNvPr id="17" name="Text 15"/>
          <p:cNvSpPr/>
          <p:nvPr/>
        </p:nvSpPr>
        <p:spPr>
          <a:xfrm>
            <a:off x="1097280" y="4544568"/>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No es necesario dejar nada configurado durante la noche; se retoma desde cero mañana como parte del repaso</a:t>
            </a:r>
            <a:endParaRPr lang="en-US" sz="1350" dirty="0"/>
          </a:p>
        </p:txBody>
      </p:sp>
      <p:sp>
        <p:nvSpPr>
          <p:cNvPr id="18" name="Text 16"/>
          <p:cNvSpPr/>
          <p:nvPr/>
        </p:nvSpPr>
        <p:spPr>
          <a:xfrm>
            <a:off x="822960" y="5358384"/>
            <a:ext cx="10332720" cy="548640"/>
          </a:xfrm>
          <a:prstGeom prst="rect">
            <a:avLst/>
          </a:prstGeom>
          <a:noFill/>
          <a:ln/>
        </p:spPr>
        <p:txBody>
          <a:bodyPr wrap="square" rtlCol="0" anchor="ctr"/>
          <a:lstStyle/>
          <a:p>
            <a:pPr indent="0" marL="0">
              <a:buNone/>
            </a:pPr>
            <a:r>
              <a:rPr lang="en-US" sz="1400" i="1" dirty="0">
                <a:solidFill>
                  <a:srgbClr val="E2231A"/>
                </a:solidFill>
                <a:latin typeface="Roboto" pitchFamily="34" charset="0"/>
                <a:ea typeface="Roboto" pitchFamily="34" charset="-122"/>
                <a:cs typeface="Roboto" pitchFamily="34" charset="-120"/>
              </a:rPr>
              <a:t>Encuesta breve del día antes de salir: registrar 2 aprendizajes clave y 1 duda sobre la configuración de hoy.</a:t>
            </a:r>
            <a:endParaRPr lang="en-US" sz="1400" dirty="0"/>
          </a:p>
        </p:txBody>
      </p:sp>
      <p:sp>
        <p:nvSpPr>
          <p:cNvPr id="19" name="Text 17"/>
          <p:cNvSpPr/>
          <p:nvPr/>
        </p:nvSpPr>
        <p:spPr>
          <a:xfrm>
            <a:off x="11475720" y="6473952"/>
            <a:ext cx="457200" cy="274320"/>
          </a:xfrm>
          <a:prstGeom prst="rect">
            <a:avLst/>
          </a:prstGeom>
          <a:noFill/>
          <a:ln/>
        </p:spPr>
        <p:txBody>
          <a:bodyPr wrap="square" rtlCol="0" anchor="ctr"/>
          <a:lstStyle/>
          <a:p>
            <a:pPr algn="r" indent="0" marL="0">
              <a:buNone/>
            </a:pPr>
            <a:r>
              <a:rPr lang="en-US" sz="900" dirty="0">
                <a:solidFill>
                  <a:srgbClr val="E2231A"/>
                </a:solidFill>
                <a:latin typeface="Roboto" pitchFamily="34" charset="0"/>
                <a:ea typeface="Roboto" pitchFamily="34" charset="-122"/>
                <a:cs typeface="Roboto"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DÍA 4 DE 5, MAÑANA · 8:00 A. M. – 12:00 M. · REANUDACIÓN</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Sesión 6 (continúa): Intercept, Repeater y Evaluación Formativa 3</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Retomamos donde quedamos ayer: el certificado CA de Burp queda instalado desde el paso 6-7 de ayer; hoy se repite rápidamente si alguna VM se reinició.</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REPASO RELÁMPAGO · LO HECHO AYER</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Dónde quedamos: pasos 1 a 8 completados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Proxy de Burp activo en 127.0.0.1:8080</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Y Firefox configurado para usarlo, incluyendo HTTPS.</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CA de Burp exportada e importada en Firefox</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El sitio HTTPS de laboratorio ya carga sin advertencias.</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Verificar rápidamente en cada VM antes de continuar</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Si algo no coincide, repetir el paso correspondiente antes de seguir.</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REPASO RELÁMPAGO · LO HECHO AYER</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CONFIGURACIÓN GUIADA DE BURP (3/3) · EN VIVO SOBRE KALI</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Paso a paso: Intercept, HTTP History, Repeater y restauración</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9. Practicar Intercept ON/OFF</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Activar Intercept, generar una solicitud, observarla pausada, decidir Forward o Drop. Resultado esperado: la solicitud queda visiblemente detenida en Burp hasta decidir.</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10. Revisar HTTP History</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Ubicar las solicitudes capturadas y examinar cabeceras, cookies y parámetros. Resultado esperado: se identifican al menos 3 solicitudes distintas.</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11. Usar Repeater</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Clic derecho en HTTP History → Send to Repeater, modificar un valor, reenviar con Send, comparar la respuesta. Resultado esperado: la respuesta cambia de forma coherente con el parámetro modificado.</a:t>
            </a:r>
            <a:endParaRPr lang="en-US" sz="1250" dirty="0"/>
          </a:p>
        </p:txBody>
      </p:sp>
      <p:sp>
        <p:nvSpPr>
          <p:cNvPr id="18" name="Shape 16"/>
          <p:cNvSpPr/>
          <p:nvPr/>
        </p:nvSpPr>
        <p:spPr>
          <a:xfrm>
            <a:off x="640080" y="4572000"/>
            <a:ext cx="384048" cy="384048"/>
          </a:xfrm>
          <a:prstGeom prst="ellipse">
            <a:avLst/>
          </a:prstGeom>
          <a:solidFill>
            <a:srgbClr val="E2231A"/>
          </a:solidFill>
          <a:ln/>
        </p:spPr>
      </p:sp>
      <p:sp>
        <p:nvSpPr>
          <p:cNvPr id="19" name="Text 17"/>
          <p:cNvSpPr/>
          <p:nvPr/>
        </p:nvSpPr>
        <p:spPr>
          <a:xfrm>
            <a:off x="640080" y="457200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51713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12. Restaurar la configuración</a:t>
            </a:r>
            <a:endParaRPr lang="en-US" sz="1600" dirty="0"/>
          </a:p>
        </p:txBody>
      </p:sp>
      <p:sp>
        <p:nvSpPr>
          <p:cNvPr id="21" name="Text 19"/>
          <p:cNvSpPr/>
          <p:nvPr/>
        </p:nvSpPr>
        <p:spPr>
          <a:xfrm>
            <a:off x="1234440" y="486460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Al finalizar, devolver Firefox a "Sin proxy" (No proxy). Resultado esperado: Firefox navega normalmente fuera del laboratorio.</a:t>
            </a:r>
            <a:endParaRPr lang="en-US" sz="1250" dirty="0"/>
          </a:p>
        </p:txBody>
      </p:sp>
      <p:sp>
        <p:nvSpPr>
          <p:cNvPr id="22" name="Shape 20"/>
          <p:cNvSpPr/>
          <p:nvPr/>
        </p:nvSpPr>
        <p:spPr>
          <a:xfrm rot="2700000">
            <a:off x="502920" y="6501384"/>
            <a:ext cx="82296" cy="82296"/>
          </a:xfrm>
          <a:prstGeom prst="rect">
            <a:avLst/>
          </a:prstGeom>
          <a:solidFill>
            <a:srgbClr val="E2231A"/>
          </a:solidFill>
          <a:ln/>
        </p:spPr>
      </p:sp>
      <p:sp>
        <p:nvSpPr>
          <p:cNvPr id="23" name="Text 21"/>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CONFIGURACIÓN GUIADA DE BURP (3/3) · EN VIVO SOBRE KALI</a:t>
            </a:r>
            <a:endParaRPr lang="en-US" sz="800" dirty="0"/>
          </a:p>
        </p:txBody>
      </p:sp>
      <p:sp>
        <p:nvSpPr>
          <p:cNvPr id="24" name="Text 22"/>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PREGUNTAS TÉCNICAS FRECUENTES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Certificate pinning, HSTS y Target scope</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Certificate pinning</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Algunas apps rechazan cualquier certificado que no sea el exacto esperado, aunque el navegador confíe en la CA de Burp — la app detecta la intercepción y bloquea la conexión.</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HSTS</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Puede complicar la primera intercepción de un sitio ya visitado antes sin proxy; suele resolverse limpiando el estado HSTS del navegador para ese dominio en el entorno de laboratorio.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Target scope</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Definir de antemano qué hosts están dentro del alcance evita capturar y mezclar tráfico irrelevante o fuera de lo autorizado.</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PREGUNTAS TÉCNICAS FRECUENTES</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ANTES DE LA EF3 · ERRORES COMUNES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Errores frecuentes al configurar y usar Burp</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Olvidar devolver el navegador a "sin proxy" al terminar</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Deja el navegador sin poder navegar normalmente fuera del laboratorio.</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No importar correctamente la CA de Burp</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El certificado queda como no confiable y las advertencias de HTTPS persisten.</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Confundir el puerto de Burp con el de otra herramienta</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Especialmente si ZAP (Sesión 7) queda corriendo simultáneamente en 8081.</a:t>
            </a:r>
            <a:endParaRPr lang="en-US" sz="1250" dirty="0"/>
          </a:p>
        </p:txBody>
      </p:sp>
      <p:sp>
        <p:nvSpPr>
          <p:cNvPr id="18" name="Shape 16"/>
          <p:cNvSpPr/>
          <p:nvPr/>
        </p:nvSpPr>
        <p:spPr>
          <a:xfrm>
            <a:off x="640080" y="4572000"/>
            <a:ext cx="384048" cy="384048"/>
          </a:xfrm>
          <a:prstGeom prst="ellipse">
            <a:avLst/>
          </a:prstGeom>
          <a:solidFill>
            <a:srgbClr val="E2231A"/>
          </a:solidFill>
          <a:ln/>
        </p:spPr>
      </p:sp>
      <p:sp>
        <p:nvSpPr>
          <p:cNvPr id="19" name="Text 17"/>
          <p:cNvSpPr/>
          <p:nvPr/>
        </p:nvSpPr>
        <p:spPr>
          <a:xfrm>
            <a:off x="640080" y="457200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51713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Dejar Intercept en ON accidentalmente</a:t>
            </a:r>
            <a:endParaRPr lang="en-US" sz="1600" dirty="0"/>
          </a:p>
        </p:txBody>
      </p:sp>
      <p:sp>
        <p:nvSpPr>
          <p:cNvPr id="21" name="Text 19"/>
          <p:cNvSpPr/>
          <p:nvPr/>
        </p:nvSpPr>
        <p:spPr>
          <a:xfrm>
            <a:off x="1234440" y="486460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La página se "congela" esperando una acción manual en Burp que nadie está mirando.</a:t>
            </a:r>
            <a:endParaRPr lang="en-US" sz="1250" dirty="0"/>
          </a:p>
        </p:txBody>
      </p:sp>
      <p:sp>
        <p:nvSpPr>
          <p:cNvPr id="22" name="Shape 20"/>
          <p:cNvSpPr/>
          <p:nvPr/>
        </p:nvSpPr>
        <p:spPr>
          <a:xfrm rot="2700000">
            <a:off x="502920" y="6501384"/>
            <a:ext cx="82296" cy="82296"/>
          </a:xfrm>
          <a:prstGeom prst="rect">
            <a:avLst/>
          </a:prstGeom>
          <a:solidFill>
            <a:srgbClr val="E2231A"/>
          </a:solidFill>
          <a:ln/>
        </p:spPr>
      </p:sp>
      <p:sp>
        <p:nvSpPr>
          <p:cNvPr id="23" name="Text 21"/>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ANTES DE LA EF3 · ERRORES COMUNES</a:t>
            </a:r>
            <a:endParaRPr lang="en-US" sz="800" dirty="0"/>
          </a:p>
        </p:txBody>
      </p:sp>
      <p:sp>
        <p:nvSpPr>
          <p:cNvPr id="24" name="Text 22"/>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PAUSA</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10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Al volver: práctica individual y luego la Evaluación Formativa 3.</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PRÁCTICA INDIVIDUAL · ANTES DE LA EF3</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Confirma tu propia configuración de Burp</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Repetir en solitario una verificación rápida de los 12 pasos de configuración, sin apoyo del instructor, antes de trabajar en parejas.</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0-4 — Verifica que el Proxy Listener de Burp sigue activo en 127.0.0.1:8080.</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4-8 — Navega a https://www.laboratorio-bacci.test:8443 y confirma que no aparece advertencia de certificado.</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8-12 — Activa Intercept, genera una solicitud y practica Forward y Drop al menos una vez cada uno.</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12-15 — Envía una solicitud a Repeater y confirma que puedes reenviarla y ver la respuesta.</a:t>
            </a:r>
            <a:endParaRPr lang="en-US" sz="1300" dirty="0"/>
          </a:p>
        </p:txBody>
      </p:sp>
      <p:sp>
        <p:nvSpPr>
          <p:cNvPr id="21" name="Shape 19"/>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2" name="Shape 20"/>
          <p:cNvSpPr/>
          <p:nvPr/>
        </p:nvSpPr>
        <p:spPr>
          <a:xfrm>
            <a:off x="548640" y="5623560"/>
            <a:ext cx="7680960" cy="64008"/>
          </a:xfrm>
          <a:prstGeom prst="rect">
            <a:avLst/>
          </a:prstGeom>
          <a:solidFill>
            <a:srgbClr val="E2231A"/>
          </a:solidFill>
          <a:ln/>
        </p:spPr>
      </p:sp>
      <p:sp>
        <p:nvSpPr>
          <p:cNvPr id="23" name="Text 21"/>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Confirmación individual de que tu propia configuración de Burp funciona de punta a punta antes de iniciar la EF3 en parejas.</a:t>
            </a:r>
            <a:endParaRPr lang="en-US" sz="1200" dirty="0"/>
          </a:p>
        </p:txBody>
      </p:sp>
      <p:sp>
        <p:nvSpPr>
          <p:cNvPr id="24" name="Shape 22"/>
          <p:cNvSpPr/>
          <p:nvPr/>
        </p:nvSpPr>
        <p:spPr>
          <a:xfrm>
            <a:off x="8412480" y="5623560"/>
            <a:ext cx="3200400" cy="685800"/>
          </a:xfrm>
          <a:prstGeom prst="roundRect">
            <a:avLst>
              <a:gd name="adj" fmla="val 10667"/>
            </a:avLst>
          </a:prstGeom>
          <a:solidFill>
            <a:srgbClr val="E2231A"/>
          </a:solidFill>
          <a:ln/>
        </p:spPr>
      </p:sp>
      <p:sp>
        <p:nvSpPr>
          <p:cNvPr id="25" name="Text 23"/>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15 min</a:t>
            </a:r>
            <a:endParaRPr lang="en-US" sz="14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PRÁCTICA INDIVIDUAL · ANTES DE LA EF3</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EVALUACIÓN FORMATIVA 3 (EF3) · ACTIVIDAD GUIADA Y EVALUADA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EF3: interceptar, capturar y modificar tráfico con Burp Suite</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Ejecutar el ciclo completo del Laboratorio 5 (Fase 4): configurar Burp de extremo a extremo, interceptar tráfico real y documentar una modificación controlada con Repeater — Evaluación Formativa 3 prevista en el documento fuente.</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0-25 — En parejas, completen la guía de configuración de Burp Suite (listener, CA, Firefox) sin apoyo del instructor, salvo dudas puntuales.</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25-40 — Con Intercept ON, generen una solicitud desde Firefox y obsérvenla en Burp antes de reenviarla.</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40-55 — Pasen a HTTP History y ubiquen tres solicitudes distintas (carga de página, una llamada de API, un envío de formulario).</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55-75 — Envíen una de ellas a Repeater, modifiquen un parámetro o cabecera de forma controlada, reenvíen y comparen la respuesta.</a:t>
            </a:r>
            <a:endParaRPr lang="en-US" sz="1300" dirty="0"/>
          </a:p>
        </p:txBody>
      </p:sp>
      <p:sp>
        <p:nvSpPr>
          <p:cNvPr id="21" name="Shape 19"/>
          <p:cNvSpPr/>
          <p:nvPr/>
        </p:nvSpPr>
        <p:spPr>
          <a:xfrm>
            <a:off x="640080" y="4773168"/>
            <a:ext cx="384048" cy="384048"/>
          </a:xfrm>
          <a:prstGeom prst="ellipse">
            <a:avLst/>
          </a:prstGeom>
          <a:solidFill>
            <a:srgbClr val="E2231A"/>
          </a:solidFill>
          <a:ln/>
        </p:spPr>
      </p:sp>
      <p:sp>
        <p:nvSpPr>
          <p:cNvPr id="22" name="Text 20"/>
          <p:cNvSpPr/>
          <p:nvPr/>
        </p:nvSpPr>
        <p:spPr>
          <a:xfrm>
            <a:off x="640080" y="4773168"/>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5</a:t>
            </a:r>
            <a:endParaRPr lang="en-US" sz="1400" dirty="0"/>
          </a:p>
        </p:txBody>
      </p:sp>
      <p:sp>
        <p:nvSpPr>
          <p:cNvPr id="23" name="Text 21"/>
          <p:cNvSpPr/>
          <p:nvPr/>
        </p:nvSpPr>
        <p:spPr>
          <a:xfrm>
            <a:off x="1234440" y="4727448"/>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75-90 — Documenten en la bitácora: método, URL, cabeceras relevantes, código de estado, y qué cambió al modificar el parámetro en Repeater.</a:t>
            </a:r>
            <a:endParaRPr lang="en-US" sz="1300" dirty="0"/>
          </a:p>
        </p:txBody>
      </p:sp>
      <p:sp>
        <p:nvSpPr>
          <p:cNvPr id="24" name="Shape 22"/>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5" name="Shape 23"/>
          <p:cNvSpPr/>
          <p:nvPr/>
        </p:nvSpPr>
        <p:spPr>
          <a:xfrm>
            <a:off x="548640" y="5623560"/>
            <a:ext cx="7680960" cy="64008"/>
          </a:xfrm>
          <a:prstGeom prst="rect">
            <a:avLst/>
          </a:prstGeom>
          <a:solidFill>
            <a:srgbClr val="E2231A"/>
          </a:solidFill>
          <a:ln/>
        </p:spPr>
      </p:sp>
      <p:sp>
        <p:nvSpPr>
          <p:cNvPr id="26" name="Text 24"/>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Bitácora con las 3 solicitudes documentadas y la comparación de Repeater (antes/después), evaluada con la rúbrica de la Fase 6 — EF3.</a:t>
            </a:r>
            <a:endParaRPr lang="en-US" sz="1200" dirty="0"/>
          </a:p>
        </p:txBody>
      </p:sp>
      <p:sp>
        <p:nvSpPr>
          <p:cNvPr id="27" name="Shape 25"/>
          <p:cNvSpPr/>
          <p:nvPr/>
        </p:nvSpPr>
        <p:spPr>
          <a:xfrm>
            <a:off x="8412480" y="5623560"/>
            <a:ext cx="3200400" cy="685800"/>
          </a:xfrm>
          <a:prstGeom prst="roundRect">
            <a:avLst>
              <a:gd name="adj" fmla="val 10667"/>
            </a:avLst>
          </a:prstGeom>
          <a:solidFill>
            <a:srgbClr val="E2231A"/>
          </a:solidFill>
          <a:ln/>
        </p:spPr>
      </p:sp>
      <p:sp>
        <p:nvSpPr>
          <p:cNvPr id="28" name="Text 26"/>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90 min</a:t>
            </a:r>
            <a:endParaRPr lang="en-US" sz="14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EVALUACIÓN FORMATIVA 3 (EF3) · ACTIVIDAD GUIADA Y EVALUADA</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TRABAJO EN GRUPO · EF3</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90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El instructor circula por el aula resolviendo dudas puntuales.</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APLICACIÓN · SOCIALIZACIÓN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Compartamos resultados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2-3 parejas presentan su comparación de Repeater</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Qué parámetro modificaron y cómo cambió la respuesta.</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grupo comenta dificultades de configuración</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¿En qué paso de los 12 se atascó más gente?</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instructor cierra reforzando el límite ético de MITM autorizado</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Retomando explícitamente la diapositiva 8 de ayer.</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APLICACIÓN · SOCIALIZACIÓN</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148840"/>
          </a:xfrm>
          <a:prstGeom prst="rect">
            <a:avLst/>
          </a:prstGeom>
          <a:solidFill>
            <a:srgbClr val="E2231A"/>
          </a:solidFill>
          <a:ln/>
        </p:spPr>
      </p:sp>
      <p:sp>
        <p:nvSpPr>
          <p:cNvPr id="3" name="Shape 1"/>
          <p:cNvSpPr/>
          <p:nvPr/>
        </p:nvSpPr>
        <p:spPr>
          <a:xfrm>
            <a:off x="10607040" y="-1005840"/>
            <a:ext cx="2926080" cy="2926080"/>
          </a:xfrm>
          <a:prstGeom prst="ellipse">
            <a:avLst/>
          </a:prstGeom>
          <a:solidFill>
            <a:srgbClr val="A81810">
              <a:alpha val="70000"/>
            </a:srgbClr>
          </a:solidFill>
          <a:ln/>
        </p:spPr>
      </p:sp>
      <p:sp>
        <p:nvSpPr>
          <p:cNvPr id="4" name="Text 2"/>
          <p:cNvSpPr/>
          <p:nvPr/>
        </p:nvSpPr>
        <p:spPr>
          <a:xfrm>
            <a:off x="822960" y="502920"/>
            <a:ext cx="100584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CIERRE DE LA SESIÓN 6 · FIN DEL BLOQUE BURP</a:t>
            </a:r>
            <a:endParaRPr lang="en-US" sz="1300" dirty="0"/>
          </a:p>
        </p:txBody>
      </p:sp>
      <p:sp>
        <p:nvSpPr>
          <p:cNvPr id="5" name="Text 3"/>
          <p:cNvSpPr/>
          <p:nvPr/>
        </p:nvSpPr>
        <p:spPr>
          <a:xfrm>
            <a:off x="822960" y="868680"/>
            <a:ext cx="10241280" cy="1097280"/>
          </a:xfrm>
          <a:prstGeom prst="rect">
            <a:avLst/>
          </a:prstGeom>
          <a:noFill/>
          <a:ln/>
        </p:spPr>
        <p:txBody>
          <a:bodyPr wrap="square" rtlCol="0" anchor="ctr"/>
          <a:lstStyle/>
          <a:p>
            <a:pPr indent="0" marL="0">
              <a:buNone/>
            </a:pPr>
            <a:r>
              <a:rPr lang="en-US" sz="2700" b="1" dirty="0">
                <a:solidFill>
                  <a:srgbClr val="FFFFFF"/>
                </a:solidFill>
                <a:latin typeface="Roboto" pitchFamily="34" charset="0"/>
                <a:ea typeface="Roboto" pitchFamily="34" charset="-122"/>
                <a:cs typeface="Roboto" pitchFamily="34" charset="-120"/>
              </a:rPr>
              <a:t>Esta tarde (Día 4): OWASP ZAP y análisis comparado de proxies</a:t>
            </a:r>
            <a:endParaRPr lang="en-US" sz="2700" dirty="0"/>
          </a:p>
        </p:txBody>
      </p:sp>
      <p:sp>
        <p:nvSpPr>
          <p:cNvPr id="6" name="Shape 4"/>
          <p:cNvSpPr/>
          <p:nvPr/>
        </p:nvSpPr>
        <p:spPr>
          <a:xfrm>
            <a:off x="822960" y="2514600"/>
            <a:ext cx="10515600" cy="566928"/>
          </a:xfrm>
          <a:prstGeom prst="roundRect">
            <a:avLst>
              <a:gd name="adj" fmla="val 9677"/>
            </a:avLst>
          </a:prstGeom>
          <a:solidFill>
            <a:srgbClr val="F7F5F4"/>
          </a:solidFill>
          <a:ln/>
        </p:spPr>
      </p:sp>
      <p:sp>
        <p:nvSpPr>
          <p:cNvPr id="7" name="Shape 5"/>
          <p:cNvSpPr/>
          <p:nvPr/>
        </p:nvSpPr>
        <p:spPr>
          <a:xfrm>
            <a:off x="822960" y="2514600"/>
            <a:ext cx="54864" cy="566928"/>
          </a:xfrm>
          <a:prstGeom prst="rect">
            <a:avLst/>
          </a:prstGeom>
          <a:solidFill>
            <a:srgbClr val="E2231A"/>
          </a:solidFill>
          <a:ln/>
        </p:spPr>
      </p:sp>
      <p:sp>
        <p:nvSpPr>
          <p:cNvPr id="8" name="Text 6"/>
          <p:cNvSpPr/>
          <p:nvPr/>
        </p:nvSpPr>
        <p:spPr>
          <a:xfrm>
            <a:off x="1097280" y="2514600"/>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Sesión 6 completa: configuración, intercepción y EF3 evaluada con rúbrica de la Fase 6</a:t>
            </a:r>
            <a:endParaRPr lang="en-US" sz="1350" dirty="0"/>
          </a:p>
        </p:txBody>
      </p:sp>
      <p:sp>
        <p:nvSpPr>
          <p:cNvPr id="9" name="Shape 7"/>
          <p:cNvSpPr/>
          <p:nvPr/>
        </p:nvSpPr>
        <p:spPr>
          <a:xfrm>
            <a:off x="822960" y="3191256"/>
            <a:ext cx="10515600" cy="566928"/>
          </a:xfrm>
          <a:prstGeom prst="roundRect">
            <a:avLst>
              <a:gd name="adj" fmla="val 9677"/>
            </a:avLst>
          </a:prstGeom>
          <a:solidFill>
            <a:srgbClr val="F7F5F4"/>
          </a:solidFill>
          <a:ln/>
        </p:spPr>
      </p:sp>
      <p:sp>
        <p:nvSpPr>
          <p:cNvPr id="10" name="Shape 8"/>
          <p:cNvSpPr/>
          <p:nvPr/>
        </p:nvSpPr>
        <p:spPr>
          <a:xfrm>
            <a:off x="822960" y="3191256"/>
            <a:ext cx="54864" cy="566928"/>
          </a:xfrm>
          <a:prstGeom prst="rect">
            <a:avLst/>
          </a:prstGeom>
          <a:solidFill>
            <a:srgbClr val="E2231A"/>
          </a:solidFill>
          <a:ln/>
        </p:spPr>
      </p:sp>
      <p:sp>
        <p:nvSpPr>
          <p:cNvPr id="11" name="Text 9"/>
          <p:cNvSpPr/>
          <p:nvPr/>
        </p:nvSpPr>
        <p:spPr>
          <a:xfrm>
            <a:off x="1097280" y="3191256"/>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Misma técnica de intercepción (MITM autorizado), esta tarde con una herramienta distinta y de código abierto</a:t>
            </a:r>
            <a:endParaRPr lang="en-US" sz="1350" dirty="0"/>
          </a:p>
        </p:txBody>
      </p:sp>
      <p:sp>
        <p:nvSpPr>
          <p:cNvPr id="12" name="Shape 10"/>
          <p:cNvSpPr/>
          <p:nvPr/>
        </p:nvSpPr>
        <p:spPr>
          <a:xfrm>
            <a:off x="822960" y="3867912"/>
            <a:ext cx="10515600" cy="566928"/>
          </a:xfrm>
          <a:prstGeom prst="roundRect">
            <a:avLst>
              <a:gd name="adj" fmla="val 9677"/>
            </a:avLst>
          </a:prstGeom>
          <a:solidFill>
            <a:srgbClr val="F7F5F4"/>
          </a:solidFill>
          <a:ln/>
        </p:spPr>
      </p:sp>
      <p:sp>
        <p:nvSpPr>
          <p:cNvPr id="13" name="Shape 11"/>
          <p:cNvSpPr/>
          <p:nvPr/>
        </p:nvSpPr>
        <p:spPr>
          <a:xfrm>
            <a:off x="822960" y="3867912"/>
            <a:ext cx="54864" cy="566928"/>
          </a:xfrm>
          <a:prstGeom prst="rect">
            <a:avLst/>
          </a:prstGeom>
          <a:solidFill>
            <a:srgbClr val="E2231A"/>
          </a:solidFill>
          <a:ln/>
        </p:spPr>
      </p:sp>
      <p:sp>
        <p:nvSpPr>
          <p:cNvPr id="14" name="Text 12"/>
          <p:cNvSpPr/>
          <p:nvPr/>
        </p:nvSpPr>
        <p:spPr>
          <a:xfrm>
            <a:off x="1097280" y="3867912"/>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Todo lo aprendido sobre proxy, CA y Firefox manual se reutiliza directamente en ZAP</a:t>
            </a:r>
            <a:endParaRPr lang="en-US" sz="1350" dirty="0"/>
          </a:p>
        </p:txBody>
      </p:sp>
      <p:sp>
        <p:nvSpPr>
          <p:cNvPr id="15" name="Shape 13"/>
          <p:cNvSpPr/>
          <p:nvPr/>
        </p:nvSpPr>
        <p:spPr>
          <a:xfrm>
            <a:off x="822960" y="4544568"/>
            <a:ext cx="10515600" cy="566928"/>
          </a:xfrm>
          <a:prstGeom prst="roundRect">
            <a:avLst>
              <a:gd name="adj" fmla="val 9677"/>
            </a:avLst>
          </a:prstGeom>
          <a:solidFill>
            <a:srgbClr val="F7F5F4"/>
          </a:solidFill>
          <a:ln/>
        </p:spPr>
      </p:sp>
      <p:sp>
        <p:nvSpPr>
          <p:cNvPr id="16" name="Shape 14"/>
          <p:cNvSpPr/>
          <p:nvPr/>
        </p:nvSpPr>
        <p:spPr>
          <a:xfrm>
            <a:off x="822960" y="4544568"/>
            <a:ext cx="54864" cy="566928"/>
          </a:xfrm>
          <a:prstGeom prst="rect">
            <a:avLst/>
          </a:prstGeom>
          <a:solidFill>
            <a:srgbClr val="E2231A"/>
          </a:solidFill>
          <a:ln/>
        </p:spPr>
      </p:sp>
      <p:sp>
        <p:nvSpPr>
          <p:cNvPr id="17" name="Text 15"/>
          <p:cNvSpPr/>
          <p:nvPr/>
        </p:nvSpPr>
        <p:spPr>
          <a:xfrm>
            <a:off x="1097280" y="4544568"/>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Recordatorio: restaurar Firefox a "sin proxy" si aún no lo hicieron, antes de continuar</a:t>
            </a:r>
            <a:endParaRPr lang="en-US" sz="1350" dirty="0"/>
          </a:p>
        </p:txBody>
      </p:sp>
      <p:sp>
        <p:nvSpPr>
          <p:cNvPr id="18" name="Shape 16"/>
          <p:cNvSpPr/>
          <p:nvPr/>
        </p:nvSpPr>
        <p:spPr>
          <a:xfrm>
            <a:off x="822960" y="5221224"/>
            <a:ext cx="10515600" cy="566928"/>
          </a:xfrm>
          <a:prstGeom prst="roundRect">
            <a:avLst>
              <a:gd name="adj" fmla="val 9677"/>
            </a:avLst>
          </a:prstGeom>
          <a:solidFill>
            <a:srgbClr val="F7F5F4"/>
          </a:solidFill>
          <a:ln/>
        </p:spPr>
      </p:sp>
      <p:sp>
        <p:nvSpPr>
          <p:cNvPr id="19" name="Shape 17"/>
          <p:cNvSpPr/>
          <p:nvPr/>
        </p:nvSpPr>
        <p:spPr>
          <a:xfrm>
            <a:off x="822960" y="5221224"/>
            <a:ext cx="54864" cy="566928"/>
          </a:xfrm>
          <a:prstGeom prst="rect">
            <a:avLst/>
          </a:prstGeom>
          <a:solidFill>
            <a:srgbClr val="E2231A"/>
          </a:solidFill>
          <a:ln/>
        </p:spPr>
      </p:sp>
      <p:sp>
        <p:nvSpPr>
          <p:cNvPr id="20" name="Text 18"/>
          <p:cNvSpPr/>
          <p:nvPr/>
        </p:nvSpPr>
        <p:spPr>
          <a:xfrm>
            <a:off x="1097280" y="5221224"/>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Para quien quiera ir más allá: anexo opcional de 6 guías de explotación con Burp Suite sobre Juice Shop (SQLi, XSS, control de acceso, autenticación, SSRF, lógica de negocio) — material adicional, no evaluado, fuera de las 40 horas</a:t>
            </a:r>
            <a:endParaRPr lang="en-US" sz="1350" dirty="0"/>
          </a:p>
        </p:txBody>
      </p:sp>
      <p:sp>
        <p:nvSpPr>
          <p:cNvPr id="21" name="Text 19"/>
          <p:cNvSpPr/>
          <p:nvPr/>
        </p:nvSpPr>
        <p:spPr>
          <a:xfrm>
            <a:off x="822960" y="6035040"/>
            <a:ext cx="10332720" cy="548640"/>
          </a:xfrm>
          <a:prstGeom prst="rect">
            <a:avLst/>
          </a:prstGeom>
          <a:noFill/>
          <a:ln/>
        </p:spPr>
        <p:txBody>
          <a:bodyPr wrap="square" rtlCol="0" anchor="ctr"/>
          <a:lstStyle/>
          <a:p>
            <a:pPr indent="0" marL="0">
              <a:buNone/>
            </a:pPr>
            <a:r>
              <a:rPr lang="en-US" sz="1400" i="1" dirty="0">
                <a:solidFill>
                  <a:srgbClr val="E2231A"/>
                </a:solidFill>
                <a:latin typeface="Roboto" pitchFamily="34" charset="0"/>
                <a:ea typeface="Roboto" pitchFamily="34" charset="-122"/>
                <a:cs typeface="Roboto" pitchFamily="34" charset="-120"/>
              </a:rPr>
              <a:t>Encuesta de comprensión y bitácora de conceptos: registrar los 3 aprendizajes clave y 1 duda antes de almorzar.</a:t>
            </a:r>
            <a:endParaRPr lang="en-US" sz="1400" dirty="0"/>
          </a:p>
        </p:txBody>
      </p:sp>
      <p:sp>
        <p:nvSpPr>
          <p:cNvPr id="22" name="Text 20"/>
          <p:cNvSpPr/>
          <p:nvPr/>
        </p:nvSpPr>
        <p:spPr>
          <a:xfrm>
            <a:off x="11475720" y="6473952"/>
            <a:ext cx="457200" cy="274320"/>
          </a:xfrm>
          <a:prstGeom prst="rect">
            <a:avLst/>
          </a:prstGeom>
          <a:noFill/>
          <a:ln/>
        </p:spPr>
        <p:txBody>
          <a:bodyPr wrap="square" rtlCol="0" anchor="ctr"/>
          <a:lstStyle/>
          <a:p>
            <a:pPr algn="r" indent="0" marL="0">
              <a:buNone/>
            </a:pPr>
            <a:r>
              <a:rPr lang="en-US" sz="900" dirty="0">
                <a:solidFill>
                  <a:srgbClr val="E2231A"/>
                </a:solidFill>
                <a:latin typeface="Roboto" pitchFamily="34" charset="0"/>
                <a:ea typeface="Roboto" pitchFamily="34" charset="-122"/>
                <a:cs typeface="Roboto" pitchFamily="34" charset="-120"/>
              </a:rPr>
              <a:t>28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6 — Intercepción de tráfico y Burp Suite</dc:title>
  <dc:subject>PptxGenJS Presentation</dc:subject>
  <dc:creator>REDNEET — Capacitación 40 horas CENAC Telemática</dc:creator>
  <cp:lastModifiedBy>REDNEET — Capacitación 40 horas CENAC Telemática</cp:lastModifiedBy>
  <cp:revision>1</cp:revision>
  <dcterms:created xsi:type="dcterms:W3CDTF">2026-08-20T00:45:55Z</dcterms:created>
  <dcterms:modified xsi:type="dcterms:W3CDTF">2026-08-20T00:45:55Z</dcterms:modified>
</cp:coreProperties>
</file>