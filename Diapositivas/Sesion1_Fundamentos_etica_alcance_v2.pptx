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Dar la bienvenida al grupo y situar esta sesión dentro de las 40 horas totales del curso.
NOTAS DETALLADAS DEL EXPOSITOR:
Este es el Día 1 de 5 jornadas presenciales (40 horas totales, ver Fase 1 y Fase 7 del proyecto). El horario del Día 1 es: 8:00–10:00 bloque conceptual, 10:00 a. m. – 12:00 m. espacio AMPLIADO en dos partes — alistamiento de la máquina (1 hora: cada participante instala y configura su VM Kali desde una imagen limpia, sin nada preinstalado) y checklist LAB-READY (1 hora: verificación de que todo quedó funcionando) —, 12:00–1:00 p. m. demostración guiada, comprobación y ejercicio de aplicación, seguido de almuerzo, y Sesión 2 (tarde) después del almuerzo. Este bloque se amplió de 1 a 2 horas porque cada participante recibe únicamente una imagen de Kali limpia (no hay VM maestra preconfigurada que se clone) y debe instalar y configurar él mismo todo lo necesario (paquetes, DNS local con BIND, certificados del sitio HTTPS de práctica) antes de poder verificarlo. La Sesión 2 no necesariamente concluye dentro del Día 1: si el grupo requiere más tiempo, el cierre puede correrse a la mañana del Día 2 sin problema — esta flexibilidad es más relevante ahora que la mañana del Día 1 se extendió. La fusión de ambas sesiones de fundamentos en una sola jornada libera un día completo del calendario para profundizar los ejes técnicos centrales (OSINT, Burp Suite, OWASP ZAP) en sesiones posteriores. Esta sesión sienta las bases éticas, de alcance, técnicas y DE AMBIENTE que se usarán en las 7 sesiones siguientes: nada de lo que se haga después (OSINT, subdominios, repositorios, Burp, ZAP) tiene sentido sin el marco de autorización y alcance que se establece hoy, ni funciona si la VM no quedó correctamente instalada y verificada. Recordar a los participantes que son 8 funcionarios del Batallón de Ciberdefensa y Ciberseguridad (BACCI), con niveles previos heterogéneos en redes/Linux/web — de ahí la importancia del diagnóstico inicial que viene a continuación.
EJEMPLO O ANALOGÍA:
Ninguno en esta diapositiva; es la portada de apertura.
PREGUNTA DE PARTICIPACIÓN:
Antes de empezar: en una frase, ¿qué esperan aprender hoy?
TRANSICIÓN A LA SIGUIENTE DIAPOSITIVA:
Pasar a la agenda del día para dar un mapa mental de los bloques de la sesión.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Dar a los participantes un mapa mental completo del día antes de entrar en materia, incluyendo el nuevo espacio ampliado de alistamiento y verificación del ambiente.
NOTAS DETALLADAS DEL EXPOSITOR:
Esta secuencia adapta la estructura pedagógica que se repite en las 8 sesiones del curso (ver Fase 1 del proyecto): apertura/activación, bloque conceptual, espacio de autoaprendizaje dividido en dos partes — alistamiento de la máquina (10:00–11:00, 1 hora: cada participante instala y configura su VM Kali desde una imagen limpia) y checklist LAB-READY (11:00 a. m.–12:00 m., 1 hora: verificación de que todo quedó funcionando) —, demostración/práctica guiada, aplicación/evaluación, cierre. Explicar que a las 10:00 cada participante recibe una VM Kali limpia (sin nada preinstalado) y dispone de 1 hora para instalar y configurar todo lo necesario (paquetes, DNS local con BIND, certificados del sitio HTTPS de práctica), seguida de 1 hora para recorrer el checklist LAB-READY completo (6 partes: conectividad, herramientas base, DNS/OSINT, subdominios, Burp/ZAP/Juice Shop, certificados/repositorio/snapshot) antes de la demostración en vivo del mediodía, y que el bloque de aplicación de hoy es la actividad participativa "mapa de activos y flujo de una solicitud web" prevista en el documento fuente del plan.
EJEMPLO O ANALOGÍA:
Comparar la agenda con el itinerario de un vuelo: saber las escalas (pausas) ayuda a manejar la energía durante el día.
PREGUNTA DE PARTICIPACIÓN:
¿Alguna pregunta logística antes de comenzar (horarios, pausas, materiales)?
TRANSICIÓN A LA SIGUIENTE DIAPOSITIVA:
Iniciar el bloque de apertura con el diagnóstico inicial del grupo.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Reconocer el nivel previo heterogéneo del grupo mixto de 8 funcionarios antes de avanzar en contenido.
NOTAS DETALLADAS DEL EXPOSITOR:
El documento fuente contempla explícitamente un "diagnóstico breve" antes de iniciar (Tabla 4, componente "Antes de iniciar"), sin fines punitivos, solo para reconocer conocimientos previos y ajustar el acompañamiento. Puede aplicarse a mano alzada, con post-its, o con un formulario simple. El resultado no se registra individualmente, solo se usa para calibrar el ritmo de nivelación de las Sesiones 1 y 2.
EJEMPLO O ANALOGÍA:
Es como preguntar a un grupo de senderismo su condición física antes de elegir la ruta: no se descalifica a nadie, se adapta el paso.
PREGUNTA DE PARTICIPACIÓN:
Las tres preguntas de esta diapositiva SON la pregunta de participación de este bloque.
TRANSICIÓN A LA SIGUIENTE DIAPOSITIVA:
Con el pulso del grupo tomado, pasar a acordar las reglas de laboratorio y el alcance autorizado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Establecer, antes de tocar cualquier herramienta, la regla más importante del curso: el alcance autorizado.
NOTAS DETALLADAS DEL EXPOSITOR:
Concepto obligatorio (Fase 2, Sesión 1): el alcance (scope) es lo que separa una actividad legítima de una que no lo es, independientemente de la intención. Enfatizar que esta regla aplica a las 8 sesiones completas, no solo a esta. Mencionar el principio metodológico del documento fuente: "todo ejercicio se limita a recursos propios, académicos o expresamente autorizados".
EJEMPLO O ANALOGÍA:
Analogía: un permiso de trabajo en una obra de construcción. Sin el permiso firmado y con el alcance exacto (qué muro, qué días), nadie mete una herramienta, sin importar cuán buena sea la intención.
COMANDO / DEMOSTRACIÓN:
No aplica en esta diapositiva (concepto, no práctica).
PREGUNTA DE PARTICIPACIÓN:
Se lleva a la diapositiva siguiente como pregunta de discusión en pantalla.
TRANSICIÓN A LA SIGUIENTE DIAPOSITIVA:
Proyectar la pregunta de discusión antes de profundizar en qué significa "autorización".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Llevar a pantalla, para discusión visible de todo el grupo, la pregunta de participación que antes solo vivía en las notas del expositor.
NOTAS DETALLADAS DEL EXPOSITOR:
Pregunta difícil del banco de la Fase 2 (P2 de Sesión 1). Dar 2 minutos de comentario en parejas antes de pedir 1-2 respuestas al grupo completo.
EJEMPLO O ANALOGÍA:
Es la misma lógica de un hallazgo accidental en una inspección autorizada de un edificio: se reporta, no se investiga por cuenta propia más allá de lo autorizado.
PREGUNTA DE PARTICIPACIÓN:
(Es la pregunta central de esta diapositiva.)
RESPUESTA CORRECTA Y POR QUÉ:
Se detiene la actividad de inmediato, se documenta lo ocurrido (qué, cuándo, cómo se detectó) y se reporta al responsable antes de continuar. No se continúa "para completar la prueba".
TRANSICIÓN A LA SIGUIENTE DIAPOSITIVA:
Con la respuesta de referencia dada, profundizar en qué significa exactamente "autorización".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Explicar por qué este curso exige siempre autorización documentada, nunca verbal.
NOTAS DETALLADAS DEL EXPOSITOR:
Pregunta difícil del banco de la Fase 2 (P1 de Sesión 1): consultar fuentes públicas per se no siempre es ilegal, pero recolectar/correlacionar/actuar sin autorización expresa puede constituir infracción (en Colombia, entre otras, la Ley 1273 de 2009). La legalidad no es el único criterio: el alcance autorizado por escrito es la regla operativa de este curso. Aclarar que el alcance debe especificar si cubre solo el dominio raíz o también *.subdominios (esto se retoma en la Sesión 4).
EJEMPLO O ANALOGÍA:
Un correo o acta firmada que diga exactamente qué se autoriza a analizar, con fecha, alcance y responsable, es la autorización documentada. Un "sí, dale no más" de pasillo es la verbal.
PREGUNTA DE PARTICIPACIÓN:
¿Por qué preferimos siempre autorización documentada aunque la verbal parezca suficiente en el momento?
TRANSICIÓN A LA SIGUIENTE DIAPOSITIVA:
De la autorización, pasar al concepto más amplio de ética y responsabilidad profesional.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Distinguir claramente ética de legalidad, un matiz que suele generar confusión.
NOTAS DETALLADAS DEL EXPOSITOR:
Pregunta difícil del banco de la Fase 2 (P9 de Sesión 1): algo puede ser técnicamente legal (consultar información pública) pero cuestionable éticamente si se usa con fines dañinos; en un contexto profesional de ciberdefensa se exige un estándar ético más estricto que la sola legalidad formal.
EJEMPLO O ANALOGÍA:
Ejemplo discutible: recolectar información pública de un empleado de una organización objetivo no es ilegal per se, pero usarla para presionarlo psicológicamente sí es éticamente inaceptable, incluso si cada dato individual era público.
PREGUNTA DE PARTICIPACIÓN:
¿Se les ocurre un ejemplo de algo legal pero que ustedes considerarían poco ético en su trabajo diario?
TRANSICIÓN A LA SIGUIENTE DIAPOSITIVA:
Comprobar la comprensión de este matiz con una pregunta rápida antes de seguir.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Comprobar que el grupo interiorizó la diferencia entre legalidad y ética antes de avanzar al manejo de evidencia.
NOTAS DETALLADAS DEL EXPOSITOR:
Pregunta de elaboración propia basada en la pregunta difícil P9 del banco de la Fase 2 (Sesión 1), convertida a formato de opción múltiple para proyectar en pantalla. No leer la respuesta correcta en voz alta hasta que el grupo responda.
PREGUNTA DE PARTICIPACIÓN:
(La pregunta de participación de este bloque es el quiz mismo.)
RESPUESTA CORRECTA Y POR QUÉ:
B — es legal en general, pero puede ser éticamente cuestionable si luego se usa con fines dañinos, aunque cada dato individual sea público. Ejemplo: recolectar información pública de un empleado no es ilegal per se, pero usarla para presionarlo psicológicamente sí es éticamente inaceptable.
TRANSICIÓN A LA SIGUIENTE DIAPOSITIVA:
Con ética y alcance cubiertos, pasar al manejo de evidencia.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Presentar los tres principios que van a aplicarse en la bitácora de cada laboratorio del curso.
NOTAS DETALLADAS DEL EXPOSITOR:
Estos tres principios se aplican de forma simplificada en el aula (bitácora + hashes), sin pretender validez judicial. Se profundiza la aplicación práctica en la siguiente diapositiva con el ejemplo de cadena de custodia en el aula.
EJEMPLO O ANALOGÍA:
Es como una escena que se fotografía antes de tocar nada: la foto (evidencia) no se retoca después para que se vea "mejor".
PREGUNTA DE PARTICIPACIÓN:
¿Por qué creen que la trazabilidad es tan importante como la integridad misma del dato?
TRANSICIÓN A LA SIGUIENTE DIAPOSITIVA:
Aterrizar estos tres principios en cómo se aplican concretamente en este curso: la cadena de custodia del aula.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Mostrar de forma concreta cómo se aplican los tres principios de la diapositiva anterior en este curso.
NOTAS DETALLADAS DEL EXPOSITOR:
Pregunta difícil del banco de la Fase 2 (P4 de Sesión 1): los principios (integridad, trazabilidad, no repudio) son los mismos en el aula que en un contexto judicial; el rigor formal (actas, testigos, peritos) solo aplica en investigaciones judiciales. Aquí se practican los principios con bitácoras y hashes, sin pretender validez judicial. sha256sum genera una huella única del archivo: si el archivo cambia después, el hash cambia, lo que permite detectar alteraciones.
EJEMPLO O ANALOGÍA:
El sha256sum es como el sello de agua de un documento notarial: no impide copiar el archivo, pero cualquier alteración se detecta al comparar la huella.
COMANDO / DEMOSTRACIÓN:
mkdir evidencia_sesion1_$(date +%F) &amp;&amp; cp captura.png evidencia_sesion1_$(date +%F)/ &amp;&amp; sha256sum captura.png &gt; captura.sha256
PREGUNTA DE PARTICIPACIÓN:
¿Qué pasaría si alguien editara la captura después de calcular su hash? ¿Cómo lo detectaríamos?
TRANSICIÓN A LA SIGUIENTE DIAPOSITIVA:
Con la ética y la evidencia cubiertas, entramos en la base técnica: fundamentos de redes.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Dar el mapa de capas que se usará durante todo el curso para ubicar cada protocolo (DNS, HTTP, TLS).
NOTAS DETALLADAS DEL EXPOSITOR:
Pregunta difícil del banco de la Fase 2 (P10 de Sesión 1): se trabaja con el modelo TCP/IP práctico de 4 capas (no el OSI académico de 7) porque mapea directamente a las herramientas que se usarán: IP en la capa de red, TCP/UDP en transporte, y DNS/HTTP/TLS en aplicación. El modelo OSI se menciona solo como referencia académica, no como marco operativo del curso.
EJEMPLO O ANALOGÍA:
Como las capas de un edificio: los cimientos (enlace) no se ven, pero sin ellos no existe el piso de aplicación donde vive HTTP, que es lo que manipularemos con Burp y ZAP.
DIAGRAMA RECOMENDADO:
Pila de 4 capas apiladas de abajo hacia arriba: Enlace, Internet/Red, Transporte, Aplicación — cada una con sus protocolos de ejemplo, tal como se muestra en esta diapositiva.
PREGUNTA DE PARTICIPACIÓN:
¿En qué capa ubicarían ustedes una VPN? (para generar discusión, sin necesidad de respuesta única)
TRANSICIÓN A LA SIGUIENTE DIAPOSITIVA:
Bajar un nivel de detalle en la capa de transporte y de red: IP, TCP y UDP.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Dar la base mínima de IP/TCP/UDP necesaria para entender el detalle de DNS/HTTP/TLS de la Sesión 2.
NOTAS DETALLADAS DEL EXPOSITOR:
Este es un repaso breve e intencionalmente introductorio: el detalle del TCP handshake y su relación con el TLS handshake se profundiza en la Sesión 2 (Fase 2). Aquí basta con que el grupo entienda que TCP establece una conexión confiable antes de que viaje cualquier dato de aplicación (HTTP), y que UDP no lo hace.
EJEMPLO O ANALOGÍA:
TCP es como una llamada telefónica (se establece la conexión antes de hablar); UDP es como enviar postales (se envían sin confirmación de que lleguen).
PREGUNTA DE PARTICIPACIÓN:
¿Por qué creen que HTTP y TLS necesitan viajar sobre TCP y no sobre UDP?
TRANSICIÓN A LA SIGUIENTE DIAPOSITIVA:
Comprobar este punto con una pregunta rápida antes de pasar a los comandos de Linux.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Comprobar la comprensión del rol de TCP como transporte confiable antes de avanzar a los comandos de Linux.
NOTAS DETALLADAS DEL EXPOSITOR:
Pregunta de elaboración propia a partir del contenido obligatorio de la Sesión 1 (Fase 2) sobre IP/TCP/UDP. Útil para detectar si el grupo confunde "rápido" con "adecuado para todo".
PREGUNTA DE PARTICIPACIÓN:
(La pregunta de participación de este bloque es el quiz mismo.)
RESPUESTA CORRECTA Y POR QUÉ:
B — TCP establece una conexión confiable con handshake previo, lo que garantiza que los datos de aplicación (HTTP) y el canal cifrado (TLS) lleguen completos y en orden; UDP no ofrece esa garantía, por lo que no es adecuado para este tipo de tráfico.
TRANSICIÓN A LA SIGUIENTE DIAPOSITIVA:
Con el transporte claro, pasar a los comandos de Linux con los que se va a interactuar con estas capas.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Presentar el set mínimo de comandos Linux que se usará durante todo el curso, antes de la demostración en vivo.
NOTAS DETALLADAS DEL EXPOSITOR:
Estos cuatro comandos son la base práctica obligatoria de la Sesión 1 (Fase 2): ip a / ip route, ss -tulpn, ps aux, curl. No se espera dominio de memoria — se practican en el bloque de demostración guiada que viene después del checklist de ambiente. Advertir que se ejecutarán sobre la VM Kali del laboratorio, no sobre el equipo host.
EJEMPLO O ANALOGÍA:
Estos comandos son el equivalente en terminal a abrir el "Administrador de tareas" y las "Propiedades de red" de Windows, pero con mucho más detalle.
COMANDO / DEMOSTRACIÓN:
ip a   |   ss -tulpn   |   ps aux   |   curl -v &lt;url&gt;
PREGUNTA DE PARTICIPACIÓN:
¿Alguien ha usado ya alguno de estos comandos? ¿En qué contexto?
TRANSICIÓN A LA SIGUIENTE DIAPOSITIVA:
Antes de la demo, cerrar los fundamentos con arquitectura cliente-servidor y qué es un activo.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Establecer el concepto de "servicio web" antes de hablar de activos y del flujo completo de una solicitud.
NOTAS DETALLADAS DEL EXPOSITOR:
Concepto obligatorio de la Fase 2, Sesión 1: arquitectura cliente-servidor y qué es un "servicio web". Mantenerlo simple aquí; el detalle de métodos, cabeceras y códigos de estado es contenido de la Sesión 2, no de hoy.
EJEMPLO O ANALOGÍA:
Como un restaurante: el cliente (comensal) hace un pedido (solicitud) al mesero, la cocina (servidor) lo prepara, y regresa el plato (respuesta).
DIAGRAMA RECOMENDADO:
Flujo horizontal de 4 cajas: Cliente → Solicitud → Servidor → Respuesta, como se muestra en la diapositiva.
PREGUNTA DE PARTICIPACIÓN:
¿Qué ejemplos de "servicio web" usan a diario, dentro o fuera del trabajo?
TRANSICIÓN A LA SIGUIENTE DIAPOSITIVA:
Con cliente-servidor claro, definir qué es un activo y un mapa de activos — la base del ejercicio de hoy.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Introducir el concepto de activo y mapa de activos, que se retoma en profundidad en las Sesiones 3 y 4 (OSINT y subdominios).
NOTAS DETALLADAS DEL EXPOSITOR:
Pregunta difícil del banco de la Fase 2 (P5 de Sesión 1): diferenciar un activo propiedad de la organización de uno operado por terceros (nube, CDN) es clave para no atribuir mal la responsabilidad de un hallazgo. Este concepto es la puerta de entrada a todo el eje de OSINT del curso (Sesiones 3 y 4).
EJEMPLO O ANALOGÍA:
El mapa de activos es como el plano de una casa: no basta con saber que existe una cocina, hay que saber dónde está, de qué material y quién la mantiene.
PREGUNTA DE PARTICIPACIÓN:
¿Se les ocurre un ejemplo de activo que podría parecer propio de una organización pero en realidad es operado por un tercero?
TRANSICIÓN A LA SIGUIENTE DIAPOSITIVA:
Cerrar el bloque conceptual con una vista preliminar del flujo completo de una solicitud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Dar un panorama general del flujo completo antes de que se detalle protocolo por protocolo en la Sesión 2.
NOTAS DETALLADAS DEL EXPOSITOR:
Esta diapositiva es deliberadamente preliminar: no se espera que el grupo domine cada paso hoy. El objetivo es que reconozcan la secuencia completa DNS → IP → TCP → TLS → HTTP Request → HTTP Response, que se retomará con detalle técnico completo (registros DNS, handshakes, cabeceras, códigos de estado) en la Sesión 2 y se practicará en el Laboratorio 1.
EJEMPLO O ANALOGÍA:
Es como el recorrido de una carta: buscar la dirección (DNS), llevarla a esa dirección (IP), tocar la puerta y confirmar que abren (TCP), hablar en privado si es necesario (TLS), y entregar y recibir el mensaje (HTTP Request/Response).
DIAGRAMA RECOMENDADO:
Cadena horizontal de 6 cajas conectadas con flechas: DNS → IP → TCP → TLS → HTTP Request → HTTP Response — el mismo diagrama pedido explícitamente para representar este flujo.
PREGUNTA DE PARTICIPACIÓN:
De estos 6 pasos, ¿cuál creen que es el único que garantiza confidencialidad del contenido?
TRANSICIÓN A LA SIGUIENTE DIAPOSITIVA:
Cerrar el bloque conceptual con la transición hacia el espacio ampliado de revisión del ambiente.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Dar un espacio de 2 horas (10:00 a. m.–12:00 m.) dividido en dos partes: 1 hora de alistamiento real (cada participante instala y configura su propia VM desde cero) y 1 hora de checklist de verificación, para que el entorno quede listo para las 8 sesiones del curso, no solo para hoy.
NOTAS DETALLADAS DEL EXPOSITOR:
Cada participante recibe una imagen de Kali Linux limpia — NO hay una VM maestra pre-configurada que se clona. Por eso este bloque tiene dos partes reales: primero el ALISTAMIENTO (diapositivas siguientes: actualizar el sistema, instalar los paquetes del curso, configurar el DNS local con BIND, preparar el sitio HTTPS de práctica) donde cada quien ejecuta los comandos en su propia VM; luego el CHECKLIST LAB-READY, que verifica que todo lo que se acaba de instalar funciona correctamente. El instructor circula resolviendo problemas puntuales de instalación/red durante todo el bloque. Hay entregables concretos en ambas partes.
PREGUNTA DE PARTICIPACIÓN:
No aplica en esta diapositiva de transición.
TRANSICIÓN A LA SIGUIENTE DIAPOSITIVA:
Empezar el alistamiento: actualizar el sistema e instalar los paquetes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Que cada participante deje su propia VM actualizada y con todos los paquetes del curso instalados — es el primer paso real del alistamiento, no una referencia.
NOTAS DETALLADAS DEL EXPOSITOR:
Burp Suite, ZAP, Amass y Subfinder ya están disponibles en los repositorios/herramientas oficiales de Kali; bind9-dnsutils entrega los CLIENTES dig/nslookup/host; bind9 es el SERVIDOR DNS (se configura en las diapositivas siguientes como zona local autoritativa para los dominios de laboratorio — dig/nslookup/host consultan directamente a un servidor DNS y no leen /etc/hosts, por eso este curso configura un servidor DNS local real en vez de depender de /etc/hosts). Juice Shop está empaquetado oficialmente en Kali y diseñado para capacitación en ambientes controlados. sudo apt full-upgrade -y puede tardar varios minutos — es buen momento para leer la siguiente diapositiva mientras corre.
EJEMPLO O ANALOGÍA:
Es como alistar una caja de herramientas nueva antes de empezar a construir: mejor invertir unos minutos ahora que descubrir a mitad de un laboratorio que falta una herramienta.
COMANDO / DEMOSTRACIÓN:
sudo apt update &amp;&amp; sudo apt full-upgrade -y &amp;&amp; sudo reboot   |   sudo apt install -y burpsuite zaproxy git curl wget openssl python3 python3-pip bind9 bind9-dnsutils whois jq amass subfinder theharvester juice-shop
PREGUNTA DE PARTICIPACIÓN:
¿A todos les está corriendo el full-upgrade sin problema, o alguien ya está viendo algún error?
TRANSICIÓN A LA SIGUIENTE DIAPOSITIVA:
Si a alguien le aparecen errores en el full-upgrade o al instalar jq/juice-shop, esto es lo que hay que hacer.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Dejar documentado, dentro de la propia diapositiva, un problema real (full-upgrade con errores + hash mismatch al instalar jq/juice-shop) y su solución verificada, para que cualquier participante que lo reproduzca lo resuelva sin perder tiempo de la sesión.
NOTAS DETALLADAS DEL EXPOSITOR:
Secuencia completa del problema tal como se presentó: 1) sudo apt full-upgrade -y arrojó errores; 2) se resolvió con sudo reboot, luego sudo apt update y sudo apt full-upgrade -y de nuevo; 3) al instalar jq y juice-shop apareció un error de "hash mismatch", típico de listas de paquetes (/var/lib/apt/lists) corruptas o de una sincronización incompleta con el espejo del repositorio. Esta diapositiva (1/2) cubre la limpieza; la siguiente (2/2) cubre la reconfiguración del repositorio y la reparación de dependencias. No todos los participantes lo van a ver — es una solución de troubleshooting puntual, no un paso obligatorio del alistamiento.
EJEMPLO O ANALOGÍA:
Es como vaciar una carpeta de descargas con archivos a medio bajar antes de volver a intentar la descarga — evita que el sistema siga confiando en datos incompletos.
COMANDO / DEMOSTRACIÓN:
sudo apt clean &amp;&amp; sudo rm -rf /var/lib/apt/lists/* &amp;&amp; sudo rm -rf /var/cache/apt/archives/*
PREGUNTA DE PARTICIPACIÓN:
¿A alguien más le apareció un error similar al actualizar o instalar paquetes?
TRANSICIÓN A LA SIGUIENTE DIAPOSITIVA:
Con el caché limpio, el paso 2 es reescribir el repositorio y terminar de reparar el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Completar el troubleshooting del error de hash mismatch: reescribir el repositorio y reparar el estado de dpkg/apt antes de reintentar la instalación de jq, juice-shop o cualquier otro paquete.
NOTAS DETALLADAS DEL EXPOSITOR:
Después de este paso 2, reintenta la instalación original (sudo apt install -y bind9 bind9-dnsutils whois jq amass subfinder theharvester juice-shop, diapositiva 19) — debería completarse sin el error de hash mismatch. Si el error persiste, suele indicar un problema de red/DNS hacia el espejo de Kali (http.kali.org) más que un problema local de caché — en ese caso, verificar primero la conectividad (checklist LAB-READY, parte 1) antes de repetir esta secuencia.
EJEMPLO O ANALOGÍA:
dpkg --configure -a y apt --fix-broken install son el equivalente a "terminar lo que quedó a medias" antes de seguir avanzando — muy común después de una actualización que se interrumpió o falló parcialmente.
COMANDO / DEMOSTRACIÓN:
echo "deb https://http.kali.org/kali kali-rolling main contrib non-free non-free-firmware" | sudo tee /etc/apt/sources.list &amp;&amp; sudo apt update &amp;&amp; sudo dpkg --configure -a &amp;&amp; sudo apt --fix-broken install
PREGUNTA DE PARTICIPACIÓN:
Después de aplicar esto, ¿la instalación original de jq/juice-shop terminó sin error?
TRANSICIÓN A LA SIGUIENTE DIAPOSITIVA:
Con los paquetes resueltos, paso 2 del alistamiento: configurar el servidor DNS local (BIND) para los dominios de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Que cada participante configure, en su propia VM, BIND como servidor DNS local autoritativo para laboratorio-bacci.test, incluyendo el registro comodín (wildcard) que usa el Laboratorio 3 (Sesión 4).
NOTAS DETALLADAS DEL EXPOSITOR:
Nota importante sobre el nombre del servicio: el paquete se llama bind9, pero desde Debian 11 (y por lo tanto en Kali, que se basa en Debian) el servicio systemd se llama named — sudo systemctl restart bind9 falla con "Unit bind9.service not found". Usa siempre sudo systemctl restart named / sudo systemctl enable named. Si tu instalación sí trae el alias bind9.service, ambos comandos funcionan igual, pero named es el nombre que funciona en cualquier versión.
Contenido de /etc/bind/db.laboratorio-bacci.test:
$TTL 300
@ IN SOA ns.laboratorio-bacci.test. admin.laboratorio-bacci.test. ( 2026081601 3600 900 604800 300 )
@ IN NS ns.laboratorio-bacci.test.
ns IN A 127.0.0.1
www IN A 127.0.0.1
api IN A 127.0.0.1
staging IN CNAME www.laboratorio-bacci.test.
mail IN MX 10 mail.laboratorio-bacci.test.
mail IN A 127.0.0.1
vpn IN A 10.10.10.10
dev IN TXT "registrado, sin registro A (dangling)"
old-portal IN TXT "registrado, sin registro A"
* IN A 127.0.0.1
Contenido a agregar en /etc/bind/named.conf.local:
zone "laboratorio-bacci.test" { type master; file "/etc/bind/db.laboratorio-bacci.test"; };
En /etc/bind/named.conf.options, dentro del bloque options ya existente, agregar forwarders para que BIND siga resolviendo dominios reales (necesario para el Laboratorio 2, OSINT sobre example.com):
forwarders { 1.1.1.1; 8.8.8.8; };
dev y old-portal llevan un registro TXT (no A) a propósito: así el nodo "existe" en la zona y el comodín NO se le aplica, por lo que una consulta A sobre ellos responde vacío (NODATA) — se simula un subdominio registrado que no resuelve, sin depender de /etc/hosts. El registro * (comodín) sí resuelve cualquier nombre no listado explícitamente, replicando el comportamiento real de un wildcard DNS.
EJEMPLO O ANALOGÍA:
Una zona BIND es como un directorio telefónico que tú mismo administras para el dominio de laboratorio: cada registro (A, CNAME, MX, TXT) es una entrada de ese directorio, y el comodín (*) es la entrada "si no está en la lista, igual contesta este número".
COMANDO / DEMOSTRACIÓN:
sudo apt install -y bind9 &amp;&amp; sudo systemctl restart named &amp;&amp; sudo systemctl enable named
PREGUNTA DE PARTICIPACIÓN:
¿Por qué dev y old-portal usan un registro TXT en vez de simplemente no aparecer en la zona?
TRANSICIÓN A LA SIGUIENTE DIAPOSITIVA:
Con la zona declarada, el paso 2 es activar el reenvío a Internet y verificar que todo resuelve como se espera.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Que cada participante deje su VM usando BIND como su propio resolutor y verifique, con dig, los tres comportamientos que el Laboratorio 3 (Sesión 4) necesita: resolución normal, wildcard, y registro sin dato (NODATA).
NOTAS DETALLADAS DEL EXPOSITOR:
Este es el mismo dig que antes fallaba con /etc/hosts: ahora SÍ funciona correctamente porque BIND es un servidor DNS real, autoritativo para la zona, y la VM está configurada para consultarlo primero. dig +trace (visto en el Laboratorio 1, Sesión 2) seguirá sin encontrar el dominio por la vía pública, porque los servidores raíz de Internet no delegan .test hacia esta VM — eso es esperado y es justamente lo que distingue una zona local de un dominio público real. Nota práctica: algunos gestores de red (NetworkManager) pueden sobrescribir /etc/resolv.conf al reiniciar la VM; si eso ocurre, basta con repetir el primer comando.
EJEMPLO O ANALOGÍA:
Es como comprobar una centralita telefónica nueva: primero confirmas que las extensiones conocidas contestan, luego que una extensión inventada también contesta por el comodín, y por último que las llamadas externas (Internet real) se siguen conectando.
COMANDO / DEMOSTRACIÓN:
echo "nameserver 127.0.0.1" | sudo tee /etc/resolv.conf &amp;&amp; dig www.laboratorio-bacci.test +short &amp;&amp; dig nombre-al-azar-no-listado.laboratorio-bacci.test +short &amp;&amp; dig dev.laboratorio-bacci.test +short &amp;&amp; dig example.com +short
PREGUNTA DE PARTICIPACIÓN:
¿Qué significa que dig dev.laboratorio-bacci.test +short no devuelva ninguna dirección?
TRANSICIÓN A LA SIGUIENTE DIAPOSITIVA:
Con el DNS local funcionando, el paso 3 es preparar tú mismo el sitio HTTPS de práctica que se usa en varios laboratorios.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Que cada participante genere en su propia VM la CA de laboratorio y la solicitud de certificado del sitio HTTPS de práctica compartido por los Laboratorios 1 (Sesión 2), 5 (Sesión 6) y 6 (Sesión 7).
NOTAS DETALLADAS DEL EXPOSITOR:
Corresponde a la sección 1.4 (Laboratorio de certificados / PKI) de la ficha técnica de laboratorios. lab-ca.key y server.key son claves PRIVADAS: se quedan únicamente en tu propia VM, nunca se distribuyen ni se suben a ningún repositorio compartido. lab-ca.crt y server.crt (este último se genera en la diapositiva siguiente) sí son públicos y se pueden distribuir/importar. Cada participante genera SU PROPIA CA — no es necesario (ni deseable) compartir una sola CA entre todas las VM del curso.
EJEMPLO O ANALOGÍA:
Generar la CA de laboratorio es como imprimir tu propio sello notarial válido solo dentro del curso: sirve para "certificar" al servidor de práctica, pero no lo reconoce nadie fuera de las VM del curso.
COMANDO / DEMOSTRACIÓN:
openssl genrsa -out lab-ca.key 4096 &amp;&amp; openssl req -x509 -new -key lab-ca.key -sha256 -days 365 -out lab-ca.crt -subj "/CN=Laboratorio BACCI CA/O=Curso Ciberseguridad" &amp;&amp; openssl genrsa -out server.key 2048 &amp;&amp; openssl req -new -key server.key -out server.csr -subj "/CN=www.laboratorio-bacci.test"
PREGUNTA DE PARTICIPACIÓN:
¿Por qué la clave privada de la CA (lab-ca.key) nunca debe distribuirse a los participantes?
TRANSICIÓN A LA SIGUIENTE DIAPOSITIVA:
Con la CA y la solicitud de certificado listas, el paso 2 es firmar el certificado y levantar el servidor.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Completar la preparación del sitio HTTPS de práctica: firmar el certificado del servidor y dejar el sitio corriendo y verificado en el puerto 8443, antes de que el checklist LAB-READY lo dé por hecho.
NOTAS DETALLADAS DEL EXPOSITOR:
Usar -www (minúscula), no -WWW (mayúscula): -WWW hace que openssl interprete la ruta pedida por el cliente como un archivo a servir desde el directorio actual — al pedir la URL sin ninguna ruta (solo el dominio), el navegador solicita "/", openssl le quita la barra inicial y trata de abrir un archivo llamado "" (vacío), lo que produce el error real "Error opening '' ... BIO_new_file" reportado por un participante. -www (minúscula) no abre ningún archivo: devuelve una página de estado con los datos de la sesión TLS negociada (cifrado, protocolo, certificado) — más simple y, para este laboratorio, más útil que servir un archivo real. openssl s_server queda ocupando la terminal mientras el sitio está arriba; para dejarlo corriendo en segundo plano se puede lanzar con &amp; al final del comando, o en una terminal/pestaña dedicada. Para ver el sitio en Firefox sin advertencia de certificado, hay que importar únicamente lab-ca.crt (nunca lab-ca.key) en Configuración → Privacidad y seguridad → Certificados → Ver certificados → Autoridades → Importar, marcando "confiar para identificar sitios web" — el mismo mecanismo que se usará después con la CA de Burp (Sesión 6) y de ZAP (Sesión 7). Si curl devuelve error de conexión, lo primero es confirmar que openssl s_server sigue corriendo en su terminal.
EJEMPLO O ANALOGÍA:
openssl s_server -www es un servidor HTTPS mínimo que responde con los datos de la sesión TLS (cifrado, protocolo, certificado) en vez de una página real — suficiente para generar tráfico HTTPS real de práctica sin instalar un servidor web completo ni depender de un archivo índice.
COMANDO / DEMOSTRACIÓN:
openssl x509 -req -in server.csr -CA lab-ca.crt -CAkey lab-ca.key -CAcreateserial -out server.crt -days 365 -sha256 &amp;&amp; openssl s_server -accept 8443 -cert server.crt -key server.key -www
PREGUNTA DE PARTICIPACIÓN:
¿Qué verían en Firefox si intentan abrir el sitio antes de importar lab-ca.crt como CA confiable?
TRANSICIÓN A LA SIGUIENTE DIAPOSITIVA:
Con el alistamiento completo, pasar al checklist LAB-READY para verificar que todo quedó funcionando.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Cerrar formalmente el bloque de alistamiento (instalación) y abrir el bloque de checklist (verificación), dejando claro que son dos partes distintas de la misma hora.
NOTAS DETALLADAS DEL EXPOSITOR:
A diferencia del alistamiento (donde cada participante instaló y configuró desde cero), este checklist es una verificación rápida — la mayoría de los pasos ya deberían funcionar a la primera si el alistamiento salió bien. El instructor circula apoyando a quien tenga algo pendiente. Son 6 partes con tiempos ajustados a 1 hora total (10+10+10+5+15+10).
PREGUNTA DE PARTICIPACIÓN:
No aplica en esta diapositiva de transición.
TRANSICIÓN A LA SIGUIENTE DIAPOSITIVA:
Iniciar la parte 1 de 6: conectividad y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Verificar la base de conectividad de la VM antes de revisar cualquier herramienta específica.
NOTAS DETALLADAS DEL EXPOSITOR:
Si algún participante no logra resolver un problema de conectividad en este tiempo, el instructor debe priorizar apoyarlo directamente. Un adaptador en modo distinto a NAT (ej. Host-only o Puente sin DHCP) es la causa más común de "no tengo Internet en la VM".
EJEMPLO O ANALOGÍA:
Es el equivalente a confirmar que el enchufe y el router funcionan antes de revisar si un electrodoméstico específico prende.
COMANDO / DEMOSTRACIÓN:
ping -c 2 1.1.1.1 &amp;&amp; ping -c 2 google.com &amp;&amp; sudo -v
PREGUNTA DE PARTICIPACIÓN:
(No hay pregunta de participación grupal en este bloque individual.)
TRANSICIÓN A LA SIGUIENTE DIAPOSITIVA:
Continuar con la parte 2: herramientas base de línea de comandos.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Confirmar la disponibilidad de las herramientas de línea de comandos usadas de forma transversal en el curso, antes de pasar a las herramientas específicas de reconocimiento.
NOTAS DETALLADAS DEL EXPOSITOR:
Si alguna herramienta falta, usar la diapositiva de preparación previa (19) como referencia para reinstalarla puntualmente con apt install.
EJEMPLO O ANALOGÍA:
No aplica.
COMANDO / DEMOSTRACIÓN:
git --version &amp;&amp; curl --version &amp;&amp; wget --version &amp;&amp; openssl version &amp;&amp; python3 --version
PREGUNTA DE PARTICIPACIÓN:
(No hay pregunta de participación grupal en este bloque individual.)
TRANSICIÓN A LA SIGUIENTE DIAPOSITIVA:
Continuar con la parte 3: herramientas de DNS y OSINT.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Verificar el set de herramientas de reconocimiento pasivo que se usará de forma intensiva en las Sesiones 2, 3 y 4.
NOTAS DETALLADAS DEL EXPOSITOR:
bind9-dnsutils entrega dig, nslookup y host; verificar los tres por separado porque en algunas distribuciones solo una parte del paquete queda correctamente enlazada al PATH.
EJEMPLO O ANALOGÍA:
No aplica.
COMANDO / DEMOSTRACIÓN:
dig +short example.com &amp;&amp; nslookup example.com &amp;&amp; host example.com &amp;&amp; whois example.com | head &amp;&amp; echo '{"a":1}' | jq .
PREGUNTA DE PARTICIPACIÓN:
(No hay pregunta de participación grupal en este bloque individual.)
TRANSICIÓN A LA SIGUIENTE DIAPOSITIVA:
Continuar con la parte 4: herramientas de subdominios.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Dejar confirmadas las herramientas de subdominios mencionadas como referencia en la Sesión 4, sin que su uso sea obligatorio en el laboratorio evaluado (que se basa en dig).
NOTAS DETALLADAS DEL EXPOSITOR:
Recordar al grupo que la EF1 de la Sesión 4 se resuelve con dig +short sobre el dataset candidatos.txt; Amass, Subfinder y theHarvester quedan como herramientas de referencia para uso profesional futuro, no como requisito de la evaluación formativa.
EJEMPLO O ANALOGÍA:
No aplica.
COMANDO / DEMOSTRACIÓN:
amass -version &amp;&amp; subfinder -version &amp;&amp; theHarvester --version
PREGUNTA DE PARTICIPACIÓN:
(No hay pregunta de participación grupal en este bloque individual.)
TRANSICIÓN A LA SIGUIENTE DIAPOSITIVA:
Continuar con la parte 5: Burp, ZAP y Juice 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Confirmar con anticipación (Sesión 1) las tres piezas de software que se usarán intensivamente hasta la Sesión 7, para no perder tiempo de laboratorio resolviendo problemas de instalación en esas sesiones.
NOTAS DETALLADAS DEL EXPOSITOR:
Burp y ZAP no deben quedar corriendo simultáneamente en este checklist (mismo error documentado en la Fase 2, Sesión 7: conflicto de puerto); practicar aquí el hábito de cerrar uno antes de abrir el otro. Mantener Juice Shop solo dentro del entorno de laboratorio, nunca expuesto públicamente a Internet.
EJEMPLO O ANALOGÍA:
No aplica.
COMANDO / DEMOSTRACIÓN:
burpsuite   |   zaproxy   |   juice-shop
PREGUNTA DE PARTICIPACIÓN:
(No hay pregunta de participación grupal en este bloque individual.)
TRANSICIÓN A LA SIGUIENTE DIAPOSITIVA:
Continuar con la parte 6, la última: certificados, repositorio y snapshot.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Cerrar el checklist LAB-READY completo verificando lo generado en el alistamiento (CA y certificado propios) junto con los elementos que, aunque no se usan hoy, deben quedar confirmados desde el Día 1 para que ninguna sesión posterior se retrase por un problema de entorno.
NOTAS DETALLADAS DEL EXPOSITOR:
El certificado CA que se verifica aquí es el mismo que cada participante generó en su propia VM durante el alistamiento (pasos 24-25); no hay una CA compartida ni preparada por el instructor. Ese CA solo se importa en el perfil de laboratorio (nunca en el personal) por la misma razón vista en la Sesión 6: instalar una CA de confianza fuera de un contexto autorizado y explícito cambia la naturaleza ética del ejercicio. El snapshot limpio de VirtualBox es la red de seguridad de todo el curso: si algo se rompe en una sesión posterior, se puede restaurar sin perder la preparación de hoy.
EJEMPLO O ANALOGÍA:
El snapshot es como fotografiar la mesa de trabajo ya organizada antes de empezar a usarla: si algo se desordena después, siempre se puede volver a este punto.
COMANDO / DEMOSTRACIÓN:
git log --oneline --all &amp;&amp; mkdir ~/evidencias_curso
PREGUNTA DE PARTICIPACIÓN:
¿Alguna de las 6 partes del checklist quedó con algo pendiente? Repórtalo ahora antes de la demostración de las 12:00.
TRANSICIÓN A LA SIGUIENTE DIAPOSITIVA:
A las 12:00 m., retomar con la demostración guiada de comandos Linux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Ejecutar en vivo, sobre la VM Kali del instructor, los comandos presentados en la diapositiva 14.
NOTAS DETALLADAS DEL EXPOSITOR:
Errores comunes documentados en la Fase 2 (Sesión 1) a anticipar: confundir la interfaz de red activa de la VM (NAT vs. Host-only) al mostrar ip a; hacer ping a un host que bloquea ICMP e interpretar erróneamente "no hay conectividad" (usar 1.1.1.1, que sí responde). Explicar cada campo de la salida de ip a (interfaz, estado, IP asignada) y de curl -v (conexión, cabeceras de solicitud, cabeceras de respuesta, código de estado) antes de avanzar.
EJEMPLO O ANALOGÍA:
Explicar ip a como "mirar la matrícula" del equipo en la red: sin saber su propia dirección, no se puede entender cómo lo alcanzan otros equipos.
COMANDO / DEMOSTRACIÓN:
ip a &amp;&amp; ping -c 4 1.1.1.1 &amp;&amp; ss -tulpn &amp;&amp; ps aux | head &amp;&amp; curl -v http://example.com
PREGUNTA DE PARTICIPACIÓN:
En la salida de curl -v, ¿qué línea indica que el servidor recibió y proceso la solicitud correctamente?
TRANSICIÓN A LA SIGUIENTE DIAPOSITIVA:
Pasar de la exploración de red a la demostración de cadena de custodia con hash.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Cerrar la demostración práctica del bloque de fundamentos con el ejercicio de cadena de custodia aplicada.
NOTAS DETALLADAS DEL EXPOSITOR:
Ejecutar sha256sum dos veces sobre el mismo archivo sin modificarlo para mostrar que el resultado es idéntico; luego, opcionalmente, modificar un carácter del archivo y volver a calcular el hash para mostrar que cambia por completo — es una demostración muy efectiva del concepto de integridad verificable.
EJEMPLO O ANALOGÍA:
Ver en vivo cómo un cambio mínimo en el archivo (una sola letra) produce un hash completamente distinto — el llamado "efecto avalancha" de las funciones hash criptográficas.
COMANDO / DEMOSTRACIÓN:
mkdir ~/evidencia_demo &amp;&amp; curl -s http://example.com -o pagina.html &amp;&amp; sha256sum pagina.html
PREGUNTA DE PARTICIPACIÓN:
Si alguien más recibiera este mismo archivo y calculara el hash, ¿qué deberían obtener?
TRANSICIÓN A LA SIGUIENTE DIAPOSITIVA:
Comprobar este concepto con una pregunta rápida antes del ejercicio de aplicación.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Comprobar que el grupo comprendió el efecto avalancha de las funciones hash antes de pasar al ejercicio de aplicación.
NOTAS DETALLADAS DEL EXPOSITOR:
Pregunta de elaboración propia sobre el concepto demostrado en vivo en la diapositiva 34. Si el grupo responde bien, se puede omitir repetir la demostración del "efecto avalancha"; si hay dudas, vale la pena mostrarlo en vivo modificando un carácter del archivo.
PREGUNTA DE PARTICIPACIÓN:
(La pregunta de participación de este bloque es el quiz mismo.)
RESPUESTA CORRECTA Y POR QUÉ:
B — el hash cambia por completo, aunque el cambio en el archivo haya sido mínimo (efecto avalancha de las funciones hash criptográficas). Esto es lo que permite detectar cualquier alteración, sin importar qué tan pequeña sea.
TRANSICIÓN A LA SIGUIENTE DIAPOSITIVA:
Con la demostración y su comprobación concluidas, pasar a una breve pausa antes del ejercicio de aplicación.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Dar una pausa breve antes del bloque de aplicación/evaluación de la sesión.
NOTAS DETALLADAS DEL EXPOSITOR:
Aprovechar para organizar las parejas o grupos pequeños del ejercicio siguiente y distribuir la plantilla de mapa de activos si se usa en papel o en un documento compartido.
PREGUNTA DE PARTICIPACIÓN:
No aplica durante la pausa.
TRANSICIÓN A LA SIGUIENTE DIAPOSITIVA:
Retomar con las instrucciones del ejercicio de aplicación: mapa de activos y flujo de una solicitud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Ejecutar la actividad participativa prevista explícitamente en el documento fuente (Tabla 6, bloque "Aplicación / evaluación" de la Sesión 1): mapa de activos y flujo de una solicitud web.
NOTAS DETALLADAS DEL EXPOSITOR:
Pasos con minutaje en pantalla para que las parejas se autorregulen sin depender de que el instructor anuncie cada transición. Formar parejas o grupos pequeños (considerando que son 8 participantes, se recomiendan 4 parejas). El caso de ejemplo debe ser controlado por el instructor (no un sitio externo real, para no anticipar el eje de alcance autorizado que se refuerza durante todo el curso). Circular entre los grupos resolviendo dudas, sin dar la respuesta completa de inmediato.
EJEMPLO O ANALOGÍA:
Un caso de ejemplo simple: "un portal institucional con un dominio principal, un subdominio de correo y una API" — suficiente para identificar 3 activos sin necesitar herramientas todavía.
PREGUNTA DE PARTICIPACIÓN:
(La pregunta de participación de este bloque es la actividad misma; se retoma en la socialización de resultados.)
TRANSICIÓN A LA SIGUIENTE DIAPOSITIVA:
Iniciar el tiempo de trabajo en grupo con el cronómetro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Marcar visualmente el tiempo de trabajo autónomo en parejas/grupos.
NOTAS DETALLADAS DEL EXPOSITOR:
Durante este tiempo, el instructor no da clase: circula, observa, y hace preguntas guía ("¿por qué consideran que eso es un activo?", "¿qué pasaría si el DNS no resolviera?") en vez de respuestas directas. Avisar cuando falten 5 minutos.
PREGUNTA DE PARTICIPACIÓN:
No aplica; es tiempo de trabajo autónomo.
TRANSICIÓN A LA SIGUIENTE DIAPOSITIVA:
Al cumplirse el tiempo, pasar a la socialización de resultados con el grupo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Cerrar el bloque de aplicación con una puesta en común breve, reforzando el aprendizaje de forma colectiva.
NOTAS DETALLADAS DEL EXPOSITOR:
No es necesario que todas las parejas presenten; con 2-3 basta para generar discusión productiva en el tiempo disponible. El instructor debe cerrar conectando explícitamente los activos identificados por los participantes con el diagrama de flujo de la diapositiva 17.
EJEMPLO O ANALOGÍA:
Este momento es similar a una "puesta en común" de taller: no se trata de calificar, sino de que el grupo vea distintas formas válidas de abordar el mismo caso.
PREGUNTA DE PARTICIPACIÓN:
¿Alguien identificó un activo que los demás no consideraron? ¿Por qué creen que lo vieron distinto?
TRANSICIÓN A LA SIGUIENTE DIAPOSITIVA:
Pasar al cierre de la sesión con el control de salida.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Ejecutar el control de salida previsto en el documento fuente al cierre de cada sesión.
NOTAS DETALLADAS DEL EXPOSITOR:
Este control de salida es un componente evaluado del curso: forma parte del 20 % de "Participación y controles de salida" según la ponderación del documento fuente (Tabla 15, Fase 6 del proyecto). Puede aplicarse oralmente, por chat o con un formulario breve, según la modalidad definida por la entidad.
EJEMPLO O ANALOGÍA:
Es equivalente a un "ticket de salida" (exit ticket) usado en formación técnica: una forma rápida y no punitiva de verificar comprensión real antes de cerrar.
PREGUNTA DE PARTICIPACIÓN:
Las dos preguntas de esta diapositiva SON el control de salida.
TRANSICIÓN A LA SIGUIENTE DIAPOSITIVA:
Cerrar la jornada anunciando el contenido de la Sesión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Cerrar formalmente el bloque de la Sesión 1 y dar orientación de continuidad hacia la Sesión 2, que ocurre esta misma tarde.
NOTAS DETALLADAS DEL EXPOSITOR:
Recordar que la Sesión 2 retoma justo donde se quedó la diapositiva 17 (flujo preliminar de una solicitud web) y lo profundiza por completo, comenzando después del almuerzo. Como la mañana del Día 1 ahora es más larga (por el checklist LAB-READY ampliado a 2 horas), el horario exacto de inicio de la Sesión 2 es flexible — lo importante es que el ambiente de TODOS los participantes quedó verificado hoy, lo que ahorra tiempo en las 7 sesiones siguientes. Si el grupo necesitó más tiempo del previsto, no hay problema en que el cierre de la Sesión 2 se corra a la mañana del Día 2 — no es obligatorio que ambas sesiones terminen dentro del mismo día calendario.
EJEMPLO O ANALOGÍA:
No aplica.
PREGUNTA DE PARTICIPACIÓN:
¿Hay algo del día de hoy que preferirían que se retome brevemente al inicio de la Sesión 2?
TRANSICIÓN A LA SIGUIENTE DIAPOSITIVA:
Fin del bloque de la mañana (Sesión 1). Continúa la Sesión 2 después del almuerzo.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799832" y="0"/>
            <a:ext cx="4389120" cy="6858000"/>
          </a:xfrm>
          <a:prstGeom prst="rect">
            <a:avLst/>
          </a:prstGeom>
          <a:solidFill>
            <a:srgbClr val="E2231A"/>
          </a:solidFill>
          <a:ln/>
        </p:spPr>
      </p:sp>
      <p:sp>
        <p:nvSpPr>
          <p:cNvPr id="3" name="Shape 1"/>
          <p:cNvSpPr/>
          <p:nvPr/>
        </p:nvSpPr>
        <p:spPr>
          <a:xfrm>
            <a:off x="8686800" y="457200"/>
            <a:ext cx="1234440" cy="1234440"/>
          </a:xfrm>
          <a:prstGeom prst="ellipse">
            <a:avLst/>
          </a:prstGeom>
          <a:solidFill>
            <a:srgbClr val="FFFFFF">
              <a:alpha val="18000"/>
            </a:srgbClr>
          </a:solidFill>
          <a:ln/>
        </p:spPr>
      </p:sp>
      <p:sp>
        <p:nvSpPr>
          <p:cNvPr id="4" name="Shape 2"/>
          <p:cNvSpPr/>
          <p:nvPr/>
        </p:nvSpPr>
        <p:spPr>
          <a:xfrm>
            <a:off x="10607040" y="5120640"/>
            <a:ext cx="1828800" cy="1828800"/>
          </a:xfrm>
          <a:prstGeom prst="ellipse">
            <a:avLst/>
          </a:prstGeom>
          <a:solidFill>
            <a:srgbClr val="A81810">
              <a:alpha val="75000"/>
            </a:srgbClr>
          </a:solidFill>
          <a:ln/>
        </p:spPr>
      </p:sp>
      <p:sp>
        <p:nvSpPr>
          <p:cNvPr id="5" name="Shape 3"/>
          <p:cNvSpPr/>
          <p:nvPr/>
        </p:nvSpPr>
        <p:spPr>
          <a:xfrm>
            <a:off x="137160" y="6172200"/>
            <a:ext cx="365760" cy="365760"/>
          </a:xfrm>
          <a:prstGeom prst="ellipse">
            <a:avLst/>
          </a:prstGeom>
          <a:solidFill>
            <a:srgbClr val="E2231A"/>
          </a:solidFill>
          <a:ln/>
        </p:spPr>
      </p:sp>
      <p:sp>
        <p:nvSpPr>
          <p:cNvPr id="6" name="Shape 4"/>
          <p:cNvSpPr/>
          <p:nvPr/>
        </p:nvSpPr>
        <p:spPr>
          <a:xfrm>
            <a:off x="649224" y="566928"/>
            <a:ext cx="256032" cy="0"/>
          </a:xfrm>
          <a:prstGeom prst="line">
            <a:avLst/>
          </a:prstGeom>
          <a:noFill/>
          <a:ln w="20320">
            <a:solidFill>
              <a:srgbClr val="E2231A"/>
            </a:solidFill>
            <a:prstDash val="solid"/>
          </a:ln>
        </p:spPr>
      </p:sp>
      <p:sp>
        <p:nvSpPr>
          <p:cNvPr id="7" name="Shape 5"/>
          <p:cNvSpPr/>
          <p:nvPr/>
        </p:nvSpPr>
        <p:spPr>
          <a:xfrm rot="2700000">
            <a:off x="649224" y="566928"/>
            <a:ext cx="256032" cy="0"/>
          </a:xfrm>
          <a:prstGeom prst="line">
            <a:avLst/>
          </a:prstGeom>
          <a:noFill/>
          <a:ln w="20320">
            <a:solidFill>
              <a:srgbClr val="E2231A"/>
            </a:solidFill>
            <a:prstDash val="solid"/>
          </a:ln>
        </p:spPr>
      </p:sp>
      <p:sp>
        <p:nvSpPr>
          <p:cNvPr id="8" name="Shape 6"/>
          <p:cNvSpPr/>
          <p:nvPr/>
        </p:nvSpPr>
        <p:spPr>
          <a:xfrm rot="5400000">
            <a:off x="649224" y="566928"/>
            <a:ext cx="256032" cy="0"/>
          </a:xfrm>
          <a:prstGeom prst="line">
            <a:avLst/>
          </a:prstGeom>
          <a:noFill/>
          <a:ln w="20320">
            <a:solidFill>
              <a:srgbClr val="E2231A"/>
            </a:solidFill>
            <a:prstDash val="solid"/>
          </a:ln>
        </p:spPr>
      </p:sp>
      <p:sp>
        <p:nvSpPr>
          <p:cNvPr id="9" name="Shape 7"/>
          <p:cNvSpPr/>
          <p:nvPr/>
        </p:nvSpPr>
        <p:spPr>
          <a:xfrm rot="8100000">
            <a:off x="649224" y="566928"/>
            <a:ext cx="256032" cy="0"/>
          </a:xfrm>
          <a:prstGeom prst="line">
            <a:avLst/>
          </a:prstGeom>
          <a:noFill/>
          <a:ln w="20320">
            <a:solidFill>
              <a:srgbClr val="E2231A"/>
            </a:solidFill>
            <a:prstDash val="solid"/>
          </a:ln>
        </p:spPr>
      </p:sp>
      <p:sp>
        <p:nvSpPr>
          <p:cNvPr id="10" name="Text 8"/>
          <p:cNvSpPr/>
          <p:nvPr/>
        </p:nvSpPr>
        <p:spPr>
          <a:xfrm>
            <a:off x="960120" y="438912"/>
            <a:ext cx="3657600" cy="274320"/>
          </a:xfrm>
          <a:prstGeom prst="rect">
            <a:avLst/>
          </a:prstGeom>
          <a:noFill/>
          <a:ln/>
        </p:spPr>
        <p:txBody>
          <a:bodyPr wrap="square" rtlCol="0" anchor="ctr"/>
          <a:lstStyle/>
          <a:p>
            <a:pPr indent="0" marL="0">
              <a:buNone/>
            </a:pPr>
            <a:r>
              <a:rPr lang="en-US" sz="1200" b="1" dirty="0">
                <a:solidFill>
                  <a:srgbClr val="1A1A1A"/>
                </a:solidFill>
                <a:latin typeface="Roboto" pitchFamily="34" charset="0"/>
                <a:ea typeface="Roboto" pitchFamily="34" charset="-122"/>
                <a:cs typeface="Roboto" pitchFamily="34" charset="-120"/>
              </a:rPr>
              <a:t>BACCI · CIBERDEFENSA</a:t>
            </a:r>
            <a:endParaRPr lang="en-US" sz="1200" dirty="0"/>
          </a:p>
        </p:txBody>
      </p:sp>
      <p:sp>
        <p:nvSpPr>
          <p:cNvPr id="11" name="Text 9"/>
          <p:cNvSpPr/>
          <p:nvPr/>
        </p:nvSpPr>
        <p:spPr>
          <a:xfrm>
            <a:off x="960120" y="694944"/>
            <a:ext cx="3657600" cy="228600"/>
          </a:xfrm>
          <a:prstGeom prst="rect">
            <a:avLst/>
          </a:prstGeom>
          <a:noFill/>
          <a:ln/>
        </p:spPr>
        <p:txBody>
          <a:bodyPr wrap="square" rtlCol="0" anchor="ctr"/>
          <a:lstStyle/>
          <a:p>
            <a:pPr indent="0" marL="0">
              <a:buNone/>
            </a:pPr>
            <a:r>
              <a:rPr lang="en-US" sz="900" dirty="0">
                <a:solidFill>
                  <a:srgbClr val="6B6B6B"/>
                </a:solidFill>
                <a:latin typeface="Roboto" pitchFamily="34" charset="0"/>
                <a:ea typeface="Roboto" pitchFamily="34" charset="-122"/>
                <a:cs typeface="Roboto" pitchFamily="34" charset="-120"/>
              </a:rPr>
              <a:t>Capacitación 2026</a:t>
            </a:r>
            <a:endParaRPr lang="en-US" sz="900" dirty="0"/>
          </a:p>
        </p:txBody>
      </p:sp>
      <p:sp>
        <p:nvSpPr>
          <p:cNvPr id="12" name="Text 10"/>
          <p:cNvSpPr/>
          <p:nvPr/>
        </p:nvSpPr>
        <p:spPr>
          <a:xfrm>
            <a:off x="822960" y="1737360"/>
            <a:ext cx="6766560" cy="365760"/>
          </a:xfrm>
          <a:prstGeom prst="rect">
            <a:avLst/>
          </a:prstGeom>
          <a:noFill/>
          <a:ln/>
        </p:spPr>
        <p:txBody>
          <a:bodyPr wrap="square" rtlCol="0" anchor="ctr"/>
          <a:lstStyle/>
          <a:p>
            <a:pPr indent="0" marL="0">
              <a:buNone/>
            </a:pPr>
            <a:r>
              <a:rPr lang="en-US" sz="1250" b="1" spc="120" kern="0" dirty="0">
                <a:solidFill>
                  <a:srgbClr val="E2231A"/>
                </a:solidFill>
                <a:latin typeface="Roboto" pitchFamily="34" charset="0"/>
                <a:ea typeface="Roboto" pitchFamily="34" charset="-122"/>
                <a:cs typeface="Roboto" pitchFamily="34" charset="-120"/>
              </a:rPr>
              <a:t>CAPACITACIÓN EN CIBERDEFENSA Y CIBERSEGURIDAD · 40 HORAS · BACCI</a:t>
            </a:r>
            <a:endParaRPr lang="en-US" sz="1250" dirty="0"/>
          </a:p>
        </p:txBody>
      </p:sp>
      <p:sp>
        <p:nvSpPr>
          <p:cNvPr id="13" name="Text 11"/>
          <p:cNvSpPr/>
          <p:nvPr/>
        </p:nvSpPr>
        <p:spPr>
          <a:xfrm>
            <a:off x="822960" y="2148840"/>
            <a:ext cx="6766560" cy="1828800"/>
          </a:xfrm>
          <a:prstGeom prst="rect">
            <a:avLst/>
          </a:prstGeom>
          <a:noFill/>
          <a:ln/>
        </p:spPr>
        <p:txBody>
          <a:bodyPr wrap="square" rtlCol="0" anchor="ctr"/>
          <a:lstStyle/>
          <a:p>
            <a:pPr indent="0" marL="0">
              <a:buNone/>
            </a:pPr>
            <a:r>
              <a:rPr lang="en-US" sz="3600" b="1" dirty="0">
                <a:solidFill>
                  <a:srgbClr val="1A1A1A"/>
                </a:solidFill>
                <a:latin typeface="Roboto" pitchFamily="34" charset="0"/>
                <a:ea typeface="Roboto" pitchFamily="34" charset="-122"/>
                <a:cs typeface="Roboto" pitchFamily="34" charset="-120"/>
              </a:rPr>
              <a:t>Sesión 1</a:t>
            </a:r>
            <a:endParaRPr lang="en-US" sz="3600" dirty="0"/>
          </a:p>
          <a:p>
            <a:pPr indent="0" marL="0">
              <a:buNone/>
            </a:pPr>
            <a:r>
              <a:rPr lang="en-US" sz="3600" b="1" dirty="0">
                <a:solidFill>
                  <a:srgbClr val="1A1A1A"/>
                </a:solidFill>
                <a:latin typeface="Roboto" pitchFamily="34" charset="0"/>
                <a:ea typeface="Roboto" pitchFamily="34" charset="-122"/>
                <a:cs typeface="Roboto" pitchFamily="34" charset="-120"/>
              </a:rPr>
              <a:t>Fundamentos, ética y alcance autorizado</a:t>
            </a:r>
            <a:endParaRPr lang="en-US" sz="3600" dirty="0"/>
          </a:p>
        </p:txBody>
      </p:sp>
      <p:sp>
        <p:nvSpPr>
          <p:cNvPr id="14" name="Text 12"/>
          <p:cNvSpPr/>
          <p:nvPr/>
        </p:nvSpPr>
        <p:spPr>
          <a:xfrm>
            <a:off x="822960" y="3977640"/>
            <a:ext cx="6583680" cy="822960"/>
          </a:xfrm>
          <a:prstGeom prst="rect">
            <a:avLst/>
          </a:prstGeom>
          <a:noFill/>
          <a:ln/>
        </p:spPr>
        <p:txBody>
          <a:bodyPr wrap="square" rtlCol="0" anchor="ctr"/>
          <a:lstStyle/>
          <a:p>
            <a:pPr indent="0" marL="0">
              <a:buNone/>
            </a:pPr>
            <a:r>
              <a:rPr lang="en-US" sz="1500" dirty="0">
                <a:solidFill>
                  <a:srgbClr val="6B6B6B"/>
                </a:solidFill>
                <a:latin typeface="Roboto" pitchFamily="34" charset="0"/>
                <a:ea typeface="Roboto" pitchFamily="34" charset="-122"/>
                <a:cs typeface="Roboto" pitchFamily="34" charset="-120"/>
              </a:rPr>
              <a:t>Día 1 de 5, mañana · 8:00 a. m. – 1:00 p. m. aprox. (jornada ampliada) · Comparte jornada con Sesión 2</a:t>
            </a:r>
            <a:endParaRPr lang="en-US" sz="1500" dirty="0"/>
          </a:p>
        </p:txBody>
      </p:sp>
      <p:sp>
        <p:nvSpPr>
          <p:cNvPr id="15" name="Text 13"/>
          <p:cNvSpPr/>
          <p:nvPr/>
        </p:nvSpPr>
        <p:spPr>
          <a:xfrm>
            <a:off x="822960" y="5989320"/>
            <a:ext cx="6675120" cy="548640"/>
          </a:xfrm>
          <a:prstGeom prst="rect">
            <a:avLst/>
          </a:prstGeom>
          <a:noFill/>
          <a:ln/>
        </p:spPr>
        <p:txBody>
          <a:bodyPr wrap="square" rtlCol="0" anchor="ctr"/>
          <a:lstStyle/>
          <a:p>
            <a:pPr indent="0" marL="0">
              <a:buNone/>
            </a:pPr>
            <a:r>
              <a:rPr lang="en-US" sz="1050" i="1" dirty="0">
                <a:solidFill>
                  <a:srgbClr val="6B6B6B"/>
                </a:solidFill>
                <a:latin typeface="Roboto" pitchFamily="34" charset="0"/>
                <a:ea typeface="Roboto" pitchFamily="34" charset="-122"/>
                <a:cs typeface="Roboto" pitchFamily="34" charset="-120"/>
              </a:rPr>
              <a:t>Renovación del sistema de análisis de vulnerabilidades — Contrato 035 CENAC Telemática 2026</a:t>
            </a:r>
            <a:endParaRPr lang="en-US" sz="1050" dirty="0"/>
          </a:p>
        </p:txBody>
      </p:sp>
      <p:sp>
        <p:nvSpPr>
          <p:cNvPr id="16" name="Text 14"/>
          <p:cNvSpPr/>
          <p:nvPr/>
        </p:nvSpPr>
        <p:spPr>
          <a:xfrm>
            <a:off x="11475720" y="6473952"/>
            <a:ext cx="457200" cy="274320"/>
          </a:xfrm>
          <a:prstGeom prst="rect">
            <a:avLst/>
          </a:prstGeom>
          <a:noFill/>
          <a:ln/>
        </p:spPr>
        <p:txBody>
          <a:bodyPr wrap="square" rtlCol="0" anchor="ctr"/>
          <a:lstStyle/>
          <a:p>
            <a:pPr algn="r" indent="0" marL="0">
              <a:buNone/>
            </a:pPr>
            <a:r>
              <a:rPr lang="en-US" sz="900" dirty="0">
                <a:solidFill>
                  <a:srgbClr val="FFFFFF"/>
                </a:solidFill>
                <a:latin typeface="Roboto" pitchFamily="34" charset="0"/>
                <a:ea typeface="Roboto" pitchFamily="34" charset="-122"/>
                <a:cs typeface="Roboto"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SESIÓN 1 · AGENDA DEL DÍA</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Cómo está organizada esta mañana (ahora ampliada)</a:t>
            </a:r>
            <a:endParaRPr lang="en-US" sz="2500" dirty="0"/>
          </a:p>
        </p:txBody>
      </p:sp>
      <p:sp>
        <p:nvSpPr>
          <p:cNvPr id="6" name="Shape 4"/>
          <p:cNvSpPr/>
          <p:nvPr/>
        </p:nvSpPr>
        <p:spPr>
          <a:xfrm>
            <a:off x="548640" y="2743200"/>
            <a:ext cx="1376825" cy="1371600"/>
          </a:xfrm>
          <a:prstGeom prst="roundRect">
            <a:avLst>
              <a:gd name="adj" fmla="val 5333"/>
            </a:avLst>
          </a:prstGeom>
          <a:solidFill>
            <a:srgbClr val="E2231A"/>
          </a:solidFill>
          <a:ln/>
        </p:spPr>
      </p:sp>
      <p:sp>
        <p:nvSpPr>
          <p:cNvPr id="7" name="Text 5"/>
          <p:cNvSpPr/>
          <p:nvPr/>
        </p:nvSpPr>
        <p:spPr>
          <a:xfrm>
            <a:off x="621792" y="2834640"/>
            <a:ext cx="1230521"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Apertura</a:t>
            </a:r>
            <a:endParaRPr lang="en-US" sz="1250" dirty="0"/>
          </a:p>
        </p:txBody>
      </p:sp>
      <p:sp>
        <p:nvSpPr>
          <p:cNvPr id="8" name="Text 6"/>
          <p:cNvSpPr/>
          <p:nvPr/>
        </p:nvSpPr>
        <p:spPr>
          <a:xfrm>
            <a:off x="621792" y="3310128"/>
            <a:ext cx="1230521"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8:00 · Diagnóstico y reglas</a:t>
            </a:r>
            <a:endParaRPr lang="en-US" sz="1000" dirty="0"/>
          </a:p>
        </p:txBody>
      </p:sp>
      <p:sp>
        <p:nvSpPr>
          <p:cNvPr id="9" name="Text 7"/>
          <p:cNvSpPr/>
          <p:nvPr/>
        </p:nvSpPr>
        <p:spPr>
          <a:xfrm>
            <a:off x="1925465"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0" name="Shape 8"/>
          <p:cNvSpPr/>
          <p:nvPr/>
        </p:nvSpPr>
        <p:spPr>
          <a:xfrm>
            <a:off x="2163209" y="2743200"/>
            <a:ext cx="1376825" cy="1371600"/>
          </a:xfrm>
          <a:prstGeom prst="roundRect">
            <a:avLst>
              <a:gd name="adj" fmla="val 5333"/>
            </a:avLst>
          </a:prstGeom>
          <a:solidFill>
            <a:srgbClr val="1A1A1A"/>
          </a:solidFill>
          <a:ln/>
        </p:spPr>
      </p:sp>
      <p:sp>
        <p:nvSpPr>
          <p:cNvPr id="11" name="Text 9"/>
          <p:cNvSpPr/>
          <p:nvPr/>
        </p:nvSpPr>
        <p:spPr>
          <a:xfrm>
            <a:off x="2236361" y="2834640"/>
            <a:ext cx="1230521"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Bloque conceptual</a:t>
            </a:r>
            <a:endParaRPr lang="en-US" sz="1250" dirty="0"/>
          </a:p>
        </p:txBody>
      </p:sp>
      <p:sp>
        <p:nvSpPr>
          <p:cNvPr id="12" name="Text 10"/>
          <p:cNvSpPr/>
          <p:nvPr/>
        </p:nvSpPr>
        <p:spPr>
          <a:xfrm>
            <a:off x="2236361" y="3310128"/>
            <a:ext cx="1230521"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Ética, alcance, evidencia</a:t>
            </a:r>
            <a:endParaRPr lang="en-US" sz="1000" dirty="0"/>
          </a:p>
        </p:txBody>
      </p:sp>
      <p:sp>
        <p:nvSpPr>
          <p:cNvPr id="13" name="Text 11"/>
          <p:cNvSpPr/>
          <p:nvPr/>
        </p:nvSpPr>
        <p:spPr>
          <a:xfrm>
            <a:off x="3540034"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4" name="Shape 12"/>
          <p:cNvSpPr/>
          <p:nvPr/>
        </p:nvSpPr>
        <p:spPr>
          <a:xfrm>
            <a:off x="3777778" y="2743200"/>
            <a:ext cx="1376825" cy="1371600"/>
          </a:xfrm>
          <a:prstGeom prst="roundRect">
            <a:avLst>
              <a:gd name="adj" fmla="val 5333"/>
            </a:avLst>
          </a:prstGeom>
          <a:solidFill>
            <a:srgbClr val="E2231A"/>
          </a:solidFill>
          <a:ln/>
        </p:spPr>
      </p:sp>
      <p:sp>
        <p:nvSpPr>
          <p:cNvPr id="15" name="Text 13"/>
          <p:cNvSpPr/>
          <p:nvPr/>
        </p:nvSpPr>
        <p:spPr>
          <a:xfrm>
            <a:off x="3850930" y="2834640"/>
            <a:ext cx="1230521"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Alistamiento</a:t>
            </a:r>
            <a:endParaRPr lang="en-US" sz="1250" dirty="0"/>
          </a:p>
        </p:txBody>
      </p:sp>
      <p:sp>
        <p:nvSpPr>
          <p:cNvPr id="16" name="Text 14"/>
          <p:cNvSpPr/>
          <p:nvPr/>
        </p:nvSpPr>
        <p:spPr>
          <a:xfrm>
            <a:off x="3850930" y="3310128"/>
            <a:ext cx="1230521"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10:00–11:00 · Instala y configura tu VM</a:t>
            </a:r>
            <a:endParaRPr lang="en-US" sz="1000" dirty="0"/>
          </a:p>
        </p:txBody>
      </p:sp>
      <p:sp>
        <p:nvSpPr>
          <p:cNvPr id="17" name="Text 15"/>
          <p:cNvSpPr/>
          <p:nvPr/>
        </p:nvSpPr>
        <p:spPr>
          <a:xfrm>
            <a:off x="5154603"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8" name="Shape 16"/>
          <p:cNvSpPr/>
          <p:nvPr/>
        </p:nvSpPr>
        <p:spPr>
          <a:xfrm>
            <a:off x="5392347" y="2743200"/>
            <a:ext cx="1376825" cy="1371600"/>
          </a:xfrm>
          <a:prstGeom prst="roundRect">
            <a:avLst>
              <a:gd name="adj" fmla="val 5333"/>
            </a:avLst>
          </a:prstGeom>
          <a:solidFill>
            <a:srgbClr val="1A1A1A"/>
          </a:solidFill>
          <a:ln/>
        </p:spPr>
      </p:sp>
      <p:sp>
        <p:nvSpPr>
          <p:cNvPr id="19" name="Text 17"/>
          <p:cNvSpPr/>
          <p:nvPr/>
        </p:nvSpPr>
        <p:spPr>
          <a:xfrm>
            <a:off x="5465499" y="2834640"/>
            <a:ext cx="1230521"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Checklist LAB-READY</a:t>
            </a:r>
            <a:endParaRPr lang="en-US" sz="1250" dirty="0"/>
          </a:p>
        </p:txBody>
      </p:sp>
      <p:sp>
        <p:nvSpPr>
          <p:cNvPr id="20" name="Text 18"/>
          <p:cNvSpPr/>
          <p:nvPr/>
        </p:nvSpPr>
        <p:spPr>
          <a:xfrm>
            <a:off x="5465499" y="3310128"/>
            <a:ext cx="1230521"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11:00–12:00 · Verificas lo instalado</a:t>
            </a:r>
            <a:endParaRPr lang="en-US" sz="1000" dirty="0"/>
          </a:p>
        </p:txBody>
      </p:sp>
      <p:sp>
        <p:nvSpPr>
          <p:cNvPr id="21" name="Text 19"/>
          <p:cNvSpPr/>
          <p:nvPr/>
        </p:nvSpPr>
        <p:spPr>
          <a:xfrm>
            <a:off x="6769173"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22" name="Shape 20"/>
          <p:cNvSpPr/>
          <p:nvPr/>
        </p:nvSpPr>
        <p:spPr>
          <a:xfrm>
            <a:off x="7006917" y="2743200"/>
            <a:ext cx="1376825" cy="1371600"/>
          </a:xfrm>
          <a:prstGeom prst="roundRect">
            <a:avLst>
              <a:gd name="adj" fmla="val 5333"/>
            </a:avLst>
          </a:prstGeom>
          <a:solidFill>
            <a:srgbClr val="E2231A"/>
          </a:solidFill>
          <a:ln/>
        </p:spPr>
      </p:sp>
      <p:sp>
        <p:nvSpPr>
          <p:cNvPr id="23" name="Text 21"/>
          <p:cNvSpPr/>
          <p:nvPr/>
        </p:nvSpPr>
        <p:spPr>
          <a:xfrm>
            <a:off x="7080069" y="2834640"/>
            <a:ext cx="1230521"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Demostración</a:t>
            </a:r>
            <a:endParaRPr lang="en-US" sz="1250" dirty="0"/>
          </a:p>
        </p:txBody>
      </p:sp>
      <p:sp>
        <p:nvSpPr>
          <p:cNvPr id="24" name="Text 22"/>
          <p:cNvSpPr/>
          <p:nvPr/>
        </p:nvSpPr>
        <p:spPr>
          <a:xfrm>
            <a:off x="7080069" y="3310128"/>
            <a:ext cx="1230521"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Redes, Linux, trazabilidad</a:t>
            </a:r>
            <a:endParaRPr lang="en-US" sz="1000" dirty="0"/>
          </a:p>
        </p:txBody>
      </p:sp>
      <p:sp>
        <p:nvSpPr>
          <p:cNvPr id="25" name="Text 23"/>
          <p:cNvSpPr/>
          <p:nvPr/>
        </p:nvSpPr>
        <p:spPr>
          <a:xfrm>
            <a:off x="8383742"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26" name="Shape 24"/>
          <p:cNvSpPr/>
          <p:nvPr/>
        </p:nvSpPr>
        <p:spPr>
          <a:xfrm>
            <a:off x="8621486" y="2743200"/>
            <a:ext cx="1376825" cy="1371600"/>
          </a:xfrm>
          <a:prstGeom prst="roundRect">
            <a:avLst>
              <a:gd name="adj" fmla="val 5333"/>
            </a:avLst>
          </a:prstGeom>
          <a:solidFill>
            <a:srgbClr val="1A1A1A"/>
          </a:solidFill>
          <a:ln/>
        </p:spPr>
      </p:sp>
      <p:sp>
        <p:nvSpPr>
          <p:cNvPr id="27" name="Text 25"/>
          <p:cNvSpPr/>
          <p:nvPr/>
        </p:nvSpPr>
        <p:spPr>
          <a:xfrm>
            <a:off x="8694638" y="2834640"/>
            <a:ext cx="1230521"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Aplicación</a:t>
            </a:r>
            <a:endParaRPr lang="en-US" sz="1250" dirty="0"/>
          </a:p>
        </p:txBody>
      </p:sp>
      <p:sp>
        <p:nvSpPr>
          <p:cNvPr id="28" name="Text 26"/>
          <p:cNvSpPr/>
          <p:nvPr/>
        </p:nvSpPr>
        <p:spPr>
          <a:xfrm>
            <a:off x="8694638" y="3310128"/>
            <a:ext cx="1230521"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Mapa de activos</a:t>
            </a:r>
            <a:endParaRPr lang="en-US" sz="1000" dirty="0"/>
          </a:p>
        </p:txBody>
      </p:sp>
      <p:sp>
        <p:nvSpPr>
          <p:cNvPr id="29" name="Text 27"/>
          <p:cNvSpPr/>
          <p:nvPr/>
        </p:nvSpPr>
        <p:spPr>
          <a:xfrm>
            <a:off x="9998311"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30" name="Shape 28"/>
          <p:cNvSpPr/>
          <p:nvPr/>
        </p:nvSpPr>
        <p:spPr>
          <a:xfrm>
            <a:off x="10236055" y="2743200"/>
            <a:ext cx="1376825" cy="1371600"/>
          </a:xfrm>
          <a:prstGeom prst="roundRect">
            <a:avLst>
              <a:gd name="adj" fmla="val 5333"/>
            </a:avLst>
          </a:prstGeom>
          <a:solidFill>
            <a:srgbClr val="E2231A"/>
          </a:solidFill>
          <a:ln/>
        </p:spPr>
      </p:sp>
      <p:sp>
        <p:nvSpPr>
          <p:cNvPr id="31" name="Text 29"/>
          <p:cNvSpPr/>
          <p:nvPr/>
        </p:nvSpPr>
        <p:spPr>
          <a:xfrm>
            <a:off x="10309207" y="2834640"/>
            <a:ext cx="1230521"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Cierre</a:t>
            </a:r>
            <a:endParaRPr lang="en-US" sz="1250" dirty="0"/>
          </a:p>
        </p:txBody>
      </p:sp>
      <p:sp>
        <p:nvSpPr>
          <p:cNvPr id="32" name="Text 30"/>
          <p:cNvSpPr/>
          <p:nvPr/>
        </p:nvSpPr>
        <p:spPr>
          <a:xfrm>
            <a:off x="10309207" y="3310128"/>
            <a:ext cx="1230521"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Control de salida</a:t>
            </a:r>
            <a:endParaRPr lang="en-US" sz="1000" dirty="0"/>
          </a:p>
        </p:txBody>
      </p:sp>
      <p:sp>
        <p:nvSpPr>
          <p:cNvPr id="33" name="Shape 31"/>
          <p:cNvSpPr/>
          <p:nvPr/>
        </p:nvSpPr>
        <p:spPr>
          <a:xfrm rot="2700000">
            <a:off x="502920" y="6501384"/>
            <a:ext cx="82296" cy="82296"/>
          </a:xfrm>
          <a:prstGeom prst="rect">
            <a:avLst/>
          </a:prstGeom>
          <a:solidFill>
            <a:srgbClr val="E2231A"/>
          </a:solidFill>
          <a:ln/>
        </p:spPr>
      </p:sp>
      <p:sp>
        <p:nvSpPr>
          <p:cNvPr id="34" name="Text 32"/>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SESIÓN 1 · AGENDA DEL DÍA</a:t>
            </a:r>
            <a:endParaRPr lang="en-US" sz="800" dirty="0"/>
          </a:p>
        </p:txBody>
      </p:sp>
      <p:sp>
        <p:nvSpPr>
          <p:cNvPr id="35" name="Text 33"/>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APERTURA · ACTIVACIÓN</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Diagnóstico inicial: ¿de dónde partimos?</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¿Qué tan familiarizado estás con la terminal de Linux?</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Nada / algo / cómodo — a mano alzada o por encuesta.</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¿Has usado antes un proxy de intercepción (Burp, ZAP, mitmproxy)?</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Sí / no — ayuda a calibrar el ritmo de las Sesiones 6 y 7.</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¿Qué esperas obtener de este curso para tu trabajo diario en el BACCI?</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Respuesta libre, breve.</a:t>
            </a:r>
            <a:endParaRPr lang="en-US" sz="1250" dirty="0"/>
          </a:p>
        </p:txBody>
      </p:sp>
      <p:sp>
        <p:nvSpPr>
          <p:cNvPr id="18" name="Shape 16"/>
          <p:cNvSpPr/>
          <p:nvPr/>
        </p:nvSpPr>
        <p:spPr>
          <a:xfrm>
            <a:off x="548640" y="5623560"/>
            <a:ext cx="11064240" cy="685800"/>
          </a:xfrm>
          <a:prstGeom prst="roundRect">
            <a:avLst>
              <a:gd name="adj" fmla="val 10667"/>
            </a:avLst>
          </a:prstGeom>
          <a:solidFill>
            <a:srgbClr val="FCEBEA"/>
          </a:solidFill>
          <a:ln/>
        </p:spPr>
      </p:sp>
      <p:sp>
        <p:nvSpPr>
          <p:cNvPr id="19" name="Shape 17"/>
          <p:cNvSpPr/>
          <p:nvPr/>
        </p:nvSpPr>
        <p:spPr>
          <a:xfrm>
            <a:off x="548640" y="5623560"/>
            <a:ext cx="54864" cy="685800"/>
          </a:xfrm>
          <a:prstGeom prst="rect">
            <a:avLst/>
          </a:prstGeom>
          <a:solidFill>
            <a:srgbClr val="E2231A"/>
          </a:solidFill>
          <a:ln/>
        </p:spPr>
      </p:sp>
      <p:sp>
        <p:nvSpPr>
          <p:cNvPr id="20" name="Text 18"/>
          <p:cNvSpPr/>
          <p:nvPr/>
        </p:nvSpPr>
        <p:spPr>
          <a:xfrm>
            <a:off x="822960" y="5623560"/>
            <a:ext cx="10607040" cy="685800"/>
          </a:xfrm>
          <a:prstGeom prst="rect">
            <a:avLst/>
          </a:prstGeom>
          <a:noFill/>
          <a:ln/>
        </p:spPr>
        <p:txBody>
          <a:bodyPr wrap="square" rtlCol="0" anchor="ctr"/>
          <a:lstStyle/>
          <a:p>
            <a:pPr indent="0" marL="0">
              <a:buNone/>
            </a:pPr>
            <a:r>
              <a:rPr lang="en-US" sz="1200" i="1" dirty="0">
                <a:solidFill>
                  <a:srgbClr val="7A0F0B"/>
                </a:solidFill>
                <a:latin typeface="Roboto" pitchFamily="34" charset="0"/>
                <a:ea typeface="Roboto" pitchFamily="34" charset="-122"/>
                <a:cs typeface="Roboto" pitchFamily="34" charset="-120"/>
              </a:rPr>
              <a:t>Este diagnóstico es breve y sin uso punitivo — solo ajusta el acompañamiento del instructor (ver Tabla 4 del plan de capacitación).</a:t>
            </a:r>
            <a:endParaRPr lang="en-US" sz="1200" dirty="0"/>
          </a:p>
        </p:txBody>
      </p:sp>
      <p:sp>
        <p:nvSpPr>
          <p:cNvPr id="21" name="Shape 19"/>
          <p:cNvSpPr/>
          <p:nvPr/>
        </p:nvSpPr>
        <p:spPr>
          <a:xfrm rot="2700000">
            <a:off x="502920" y="6501384"/>
            <a:ext cx="82296" cy="82296"/>
          </a:xfrm>
          <a:prstGeom prst="rect">
            <a:avLst/>
          </a:prstGeom>
          <a:solidFill>
            <a:srgbClr val="E2231A"/>
          </a:solidFill>
          <a:ln/>
        </p:spPr>
      </p:sp>
      <p:sp>
        <p:nvSpPr>
          <p:cNvPr id="22" name="Text 20"/>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APERTURA · ACTIVACIÓN</a:t>
            </a:r>
            <a:endParaRPr lang="en-US" sz="800" dirty="0"/>
          </a:p>
        </p:txBody>
      </p:sp>
      <p:sp>
        <p:nvSpPr>
          <p:cNvPr id="23" name="Text 21"/>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ÉTICA Y ALCANCE</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Reglas de laboratorio: el alcance autorizado</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Solo recursos propios, académicos o expresamente autorizados</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Todo lo que no está explícitamente autorizado, queda excluido — sin excepciones.</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Documentar todo, incluso lo que no parece relevante</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La ausencia de hallazgos también es evidencia.</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Detenerse de inmediato si algo queda fuera de alcance</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No se continúa "para completar la prueba".</a:t>
            </a:r>
            <a:endParaRPr lang="en-US" sz="1250" dirty="0"/>
          </a:p>
        </p:txBody>
      </p:sp>
      <p:sp>
        <p:nvSpPr>
          <p:cNvPr id="18" name="Shape 16"/>
          <p:cNvSpPr/>
          <p:nvPr/>
        </p:nvSpPr>
        <p:spPr>
          <a:xfrm>
            <a:off x="640080" y="4572000"/>
            <a:ext cx="384048" cy="384048"/>
          </a:xfrm>
          <a:prstGeom prst="ellipse">
            <a:avLst/>
          </a:prstGeom>
          <a:solidFill>
            <a:srgbClr val="E2231A"/>
          </a:solidFill>
          <a:ln/>
        </p:spPr>
      </p:sp>
      <p:sp>
        <p:nvSpPr>
          <p:cNvPr id="19" name="Text 17"/>
          <p:cNvSpPr/>
          <p:nvPr/>
        </p:nvSpPr>
        <p:spPr>
          <a:xfrm>
            <a:off x="640080" y="457200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4</a:t>
            </a:r>
            <a:endParaRPr lang="en-US" sz="1400" dirty="0"/>
          </a:p>
        </p:txBody>
      </p:sp>
      <p:sp>
        <p:nvSpPr>
          <p:cNvPr id="20" name="Text 18"/>
          <p:cNvSpPr/>
          <p:nvPr/>
        </p:nvSpPr>
        <p:spPr>
          <a:xfrm>
            <a:off x="1234440" y="451713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Ante la duda, preguntar antes de actuar</a:t>
            </a:r>
            <a:endParaRPr lang="en-US" sz="1600" dirty="0"/>
          </a:p>
        </p:txBody>
      </p:sp>
      <p:sp>
        <p:nvSpPr>
          <p:cNvPr id="21" name="Text 19"/>
          <p:cNvSpPr/>
          <p:nvPr/>
        </p:nvSpPr>
        <p:spPr>
          <a:xfrm>
            <a:off x="1234440" y="486460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Nunca asumir que algo está autorizado.</a:t>
            </a:r>
            <a:endParaRPr lang="en-US" sz="1250" dirty="0"/>
          </a:p>
        </p:txBody>
      </p:sp>
      <p:sp>
        <p:nvSpPr>
          <p:cNvPr id="22" name="Shape 20"/>
          <p:cNvSpPr/>
          <p:nvPr/>
        </p:nvSpPr>
        <p:spPr>
          <a:xfrm rot="2700000">
            <a:off x="502920" y="6501384"/>
            <a:ext cx="82296" cy="82296"/>
          </a:xfrm>
          <a:prstGeom prst="rect">
            <a:avLst/>
          </a:prstGeom>
          <a:solidFill>
            <a:srgbClr val="E2231A"/>
          </a:solidFill>
          <a:ln/>
        </p:spPr>
      </p:sp>
      <p:sp>
        <p:nvSpPr>
          <p:cNvPr id="23" name="Text 21"/>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ÉTICA Y ALCANCE</a:t>
            </a:r>
            <a:endParaRPr lang="en-US" sz="800" dirty="0"/>
          </a:p>
        </p:txBody>
      </p:sp>
      <p:sp>
        <p:nvSpPr>
          <p:cNvPr id="24" name="Text 22"/>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2231A"/>
        </a:solidFill>
      </p:bgPr>
    </p:bg>
    <p:spTree>
      <p:nvGrpSpPr>
        <p:cNvPr id="1" name=""/>
        <p:cNvGrpSpPr/>
        <p:nvPr/>
      </p:nvGrpSpPr>
      <p:grpSpPr>
        <a:xfrm>
          <a:off x="0" y="0"/>
          <a:ext cx="0" cy="0"/>
          <a:chOff x="0" y="0"/>
          <a:chExt cx="0" cy="0"/>
        </a:xfrm>
      </p:grpSpPr>
      <p:sp>
        <p:nvSpPr>
          <p:cNvPr id="2" name="Shape 0"/>
          <p:cNvSpPr/>
          <p:nvPr/>
        </p:nvSpPr>
        <p:spPr>
          <a:xfrm>
            <a:off x="-1280160" y="4206240"/>
            <a:ext cx="3840480" cy="3840480"/>
          </a:xfrm>
          <a:prstGeom prst="ellipse">
            <a:avLst/>
          </a:prstGeom>
          <a:solidFill>
            <a:srgbClr val="A81810">
              <a:alpha val="70000"/>
            </a:srgbClr>
          </a:solidFill>
          <a:ln/>
        </p:spPr>
      </p:sp>
      <p:sp>
        <p:nvSpPr>
          <p:cNvPr id="3" name="Shape 1"/>
          <p:cNvSpPr/>
          <p:nvPr/>
        </p:nvSpPr>
        <p:spPr>
          <a:xfrm>
            <a:off x="10332720" y="-1371600"/>
            <a:ext cx="3108960" cy="3108960"/>
          </a:xfrm>
          <a:prstGeom prst="ellipse">
            <a:avLst/>
          </a:prstGeom>
          <a:solidFill>
            <a:srgbClr val="A81810">
              <a:alpha val="70000"/>
            </a:srgbClr>
          </a:solidFill>
          <a:ln/>
        </p:spPr>
      </p:sp>
      <p:sp>
        <p:nvSpPr>
          <p:cNvPr id="4" name="Text 2"/>
          <p:cNvSpPr/>
          <p:nvPr/>
        </p:nvSpPr>
        <p:spPr>
          <a:xfrm>
            <a:off x="640080" y="502920"/>
            <a:ext cx="2286000" cy="2011680"/>
          </a:xfrm>
          <a:prstGeom prst="rect">
            <a:avLst/>
          </a:prstGeom>
          <a:noFill/>
          <a:ln/>
        </p:spPr>
        <p:txBody>
          <a:bodyPr wrap="square" rtlCol="0" anchor="ctr"/>
          <a:lstStyle/>
          <a:p>
            <a:pPr indent="0" marL="0">
              <a:buNone/>
            </a:pPr>
            <a:r>
              <a:rPr lang="en-US" sz="13000" b="1" i="1" dirty="0">
                <a:solidFill>
                  <a:srgbClr val="A81810"/>
                </a:solidFill>
                <a:latin typeface="Georgia" pitchFamily="34" charset="0"/>
                <a:ea typeface="Georgia" pitchFamily="34" charset="-122"/>
                <a:cs typeface="Georgia" pitchFamily="34" charset="-120"/>
              </a:rPr>
              <a:t>”</a:t>
            </a:r>
            <a:endParaRPr lang="en-US" sz="13000" dirty="0"/>
          </a:p>
        </p:txBody>
      </p:sp>
      <p:sp>
        <p:nvSpPr>
          <p:cNvPr id="5" name="Text 3"/>
          <p:cNvSpPr/>
          <p:nvPr/>
        </p:nvSpPr>
        <p:spPr>
          <a:xfrm>
            <a:off x="914400" y="1965960"/>
            <a:ext cx="9875520" cy="365760"/>
          </a:xfrm>
          <a:prstGeom prst="rect">
            <a:avLst/>
          </a:prstGeom>
          <a:noFill/>
          <a:ln/>
        </p:spPr>
        <p:txBody>
          <a:bodyPr wrap="square" rtlCol="0" anchor="ctr"/>
          <a:lstStyle/>
          <a:p>
            <a:pPr indent="0" marL="0">
              <a:buNone/>
            </a:pPr>
            <a:r>
              <a:rPr lang="en-US" sz="1300" b="1" spc="150" kern="0" dirty="0">
                <a:solidFill>
                  <a:srgbClr val="FEB126"/>
                </a:solidFill>
                <a:latin typeface="Roboto" pitchFamily="34" charset="0"/>
                <a:ea typeface="Roboto" pitchFamily="34" charset="-122"/>
                <a:cs typeface="Roboto" pitchFamily="34" charset="-120"/>
              </a:rPr>
              <a:t>PREGUNTA PARA DISCUTIR EN GRUPO</a:t>
            </a:r>
            <a:endParaRPr lang="en-US" sz="1300" dirty="0"/>
          </a:p>
        </p:txBody>
      </p:sp>
      <p:sp>
        <p:nvSpPr>
          <p:cNvPr id="6" name="Text 4"/>
          <p:cNvSpPr/>
          <p:nvPr/>
        </p:nvSpPr>
        <p:spPr>
          <a:xfrm>
            <a:off x="914400" y="2423160"/>
            <a:ext cx="10058400" cy="2377440"/>
          </a:xfrm>
          <a:prstGeom prst="rect">
            <a:avLst/>
          </a:prstGeom>
          <a:noFill/>
          <a:ln/>
        </p:spPr>
        <p:txBody>
          <a:bodyPr wrap="square" rtlCol="0" anchor="ctr"/>
          <a:lstStyle/>
          <a:p>
            <a:pPr indent="0" marL="0">
              <a:buNone/>
            </a:pPr>
            <a:r>
              <a:rPr lang="en-US" sz="2800" b="1" dirty="0">
                <a:solidFill>
                  <a:srgbClr val="FFFFFF"/>
                </a:solidFill>
                <a:latin typeface="Roboto" pitchFamily="34" charset="0"/>
                <a:ea typeface="Roboto" pitchFamily="34" charset="-122"/>
                <a:cs typeface="Roboto" pitchFamily="34" charset="-120"/>
              </a:rPr>
              <a:t>¿Qué harían si, durante un ejercicio autorizado, encuentran evidencia de algo fuera del alcance — por ejemplo, una intrusión activa de un tercero?</a:t>
            </a:r>
            <a:endParaRPr lang="en-US" sz="2800" dirty="0"/>
          </a:p>
        </p:txBody>
      </p:sp>
      <p:sp>
        <p:nvSpPr>
          <p:cNvPr id="7" name="Text 5"/>
          <p:cNvSpPr/>
          <p:nvPr/>
        </p:nvSpPr>
        <p:spPr>
          <a:xfrm>
            <a:off x="914400" y="4937760"/>
            <a:ext cx="9601200" cy="731520"/>
          </a:xfrm>
          <a:prstGeom prst="rect">
            <a:avLst/>
          </a:prstGeom>
          <a:noFill/>
          <a:ln/>
        </p:spPr>
        <p:txBody>
          <a:bodyPr wrap="square" rtlCol="0" anchor="ctr"/>
          <a:lstStyle/>
          <a:p>
            <a:pPr indent="0" marL="0">
              <a:buNone/>
            </a:pPr>
            <a:r>
              <a:rPr lang="en-US" sz="1350" i="1" dirty="0">
                <a:solidFill>
                  <a:srgbClr val="FBDAD8"/>
                </a:solidFill>
                <a:latin typeface="Roboto" pitchFamily="34" charset="0"/>
                <a:ea typeface="Roboto" pitchFamily="34" charset="-122"/>
                <a:cs typeface="Roboto" pitchFamily="34" charset="-120"/>
              </a:rPr>
              <a:t>Coméntenlo con la persona de al lado (2 minutos) antes de que el instructor comparta la respuesta de referencia.</a:t>
            </a:r>
            <a:endParaRPr lang="en-US" sz="1350" dirty="0"/>
          </a:p>
        </p:txBody>
      </p:sp>
      <p:sp>
        <p:nvSpPr>
          <p:cNvPr id="8" name="Shape 6"/>
          <p:cNvSpPr/>
          <p:nvPr/>
        </p:nvSpPr>
        <p:spPr>
          <a:xfrm rot="2700000">
            <a:off x="502920" y="6501384"/>
            <a:ext cx="82296" cy="82296"/>
          </a:xfrm>
          <a:prstGeom prst="rect">
            <a:avLst/>
          </a:prstGeom>
          <a:solidFill>
            <a:srgbClr val="FFFFFF"/>
          </a:solidFill>
          <a:ln/>
        </p:spPr>
      </p:sp>
      <p:sp>
        <p:nvSpPr>
          <p:cNvPr id="9" name="Text 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F4D9D7"/>
                </a:solidFill>
                <a:latin typeface="Roboto" pitchFamily="34" charset="0"/>
                <a:ea typeface="Roboto" pitchFamily="34" charset="-122"/>
                <a:cs typeface="Roboto" pitchFamily="34" charset="-120"/>
              </a:rPr>
              <a:t>BACCI · CAPACITACIÓN EN CIBERDEFENSA Y CIBERSEGURIDAD · 40 HORAS</a:t>
            </a:r>
            <a:endParaRPr lang="en-US" sz="800" dirty="0"/>
          </a:p>
        </p:txBody>
      </p:sp>
      <p:sp>
        <p:nvSpPr>
          <p:cNvPr id="10" name="Text 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FFFFFF"/>
                </a:solidFill>
                <a:latin typeface="Roboto" pitchFamily="34" charset="0"/>
                <a:ea typeface="Roboto" pitchFamily="34" charset="-122"/>
                <a:cs typeface="Roboto"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AUTORIZACIÓN</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Autorización verbal vs. documentada</a:t>
            </a:r>
            <a:endParaRPr lang="en-US" sz="2500" dirty="0"/>
          </a:p>
        </p:txBody>
      </p:sp>
      <p:sp>
        <p:nvSpPr>
          <p:cNvPr id="6" name="Shape 4"/>
          <p:cNvSpPr/>
          <p:nvPr/>
        </p:nvSpPr>
        <p:spPr>
          <a:xfrm>
            <a:off x="548640" y="1691640"/>
            <a:ext cx="5212080" cy="4434840"/>
          </a:xfrm>
          <a:prstGeom prst="roundRect">
            <a:avLst>
              <a:gd name="adj" fmla="val 1649"/>
            </a:avLst>
          </a:prstGeom>
          <a:solidFill>
            <a:srgbClr val="F7F5F4"/>
          </a:solidFill>
          <a:ln w="9525">
            <a:solidFill>
              <a:srgbClr val="E7E1DF"/>
            </a:solidFill>
            <a:prstDash val="solid"/>
          </a:ln>
        </p:spPr>
      </p:sp>
      <p:sp>
        <p:nvSpPr>
          <p:cNvPr id="7" name="Shape 5"/>
          <p:cNvSpPr/>
          <p:nvPr/>
        </p:nvSpPr>
        <p:spPr>
          <a:xfrm>
            <a:off x="548640" y="1691640"/>
            <a:ext cx="5212080" cy="685800"/>
          </a:xfrm>
          <a:prstGeom prst="roundRect">
            <a:avLst>
              <a:gd name="adj" fmla="val 10667"/>
            </a:avLst>
          </a:prstGeom>
          <a:solidFill>
            <a:srgbClr val="1A1A1A"/>
          </a:solidFill>
          <a:ln/>
        </p:spPr>
      </p:sp>
      <p:sp>
        <p:nvSpPr>
          <p:cNvPr id="8" name="Shape 6"/>
          <p:cNvSpPr/>
          <p:nvPr/>
        </p:nvSpPr>
        <p:spPr>
          <a:xfrm>
            <a:off x="548640" y="2148840"/>
            <a:ext cx="5212080" cy="228600"/>
          </a:xfrm>
          <a:prstGeom prst="rect">
            <a:avLst/>
          </a:prstGeom>
          <a:solidFill>
            <a:srgbClr val="1A1A1A"/>
          </a:solidFill>
          <a:ln/>
        </p:spPr>
      </p:sp>
      <p:sp>
        <p:nvSpPr>
          <p:cNvPr id="9" name="Text 7"/>
          <p:cNvSpPr/>
          <p:nvPr/>
        </p:nvSpPr>
        <p:spPr>
          <a:xfrm>
            <a:off x="822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Autorización verbal</a:t>
            </a:r>
            <a:endParaRPr lang="en-US" sz="1600" dirty="0"/>
          </a:p>
        </p:txBody>
      </p:sp>
      <p:sp>
        <p:nvSpPr>
          <p:cNvPr id="10" name="Shape 8"/>
          <p:cNvSpPr/>
          <p:nvPr/>
        </p:nvSpPr>
        <p:spPr>
          <a:xfrm>
            <a:off x="822960" y="2715768"/>
            <a:ext cx="82296" cy="82296"/>
          </a:xfrm>
          <a:prstGeom prst="ellipse">
            <a:avLst/>
          </a:prstGeom>
          <a:solidFill>
            <a:srgbClr val="1A1A1A"/>
          </a:solidFill>
          <a:ln/>
        </p:spPr>
      </p:sp>
      <p:sp>
        <p:nvSpPr>
          <p:cNvPr id="11" name="Text 9"/>
          <p:cNvSpPr/>
          <p:nvPr/>
        </p:nvSpPr>
        <p:spPr>
          <a:xfrm>
            <a:off x="1005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Fácil de obtener</a:t>
            </a:r>
            <a:endParaRPr lang="en-US" sz="1300" dirty="0"/>
          </a:p>
        </p:txBody>
      </p:sp>
      <p:sp>
        <p:nvSpPr>
          <p:cNvPr id="12" name="Shape 10"/>
          <p:cNvSpPr/>
          <p:nvPr/>
        </p:nvSpPr>
        <p:spPr>
          <a:xfrm>
            <a:off x="822960" y="3282696"/>
            <a:ext cx="82296" cy="82296"/>
          </a:xfrm>
          <a:prstGeom prst="ellipse">
            <a:avLst/>
          </a:prstGeom>
          <a:solidFill>
            <a:srgbClr val="1A1A1A"/>
          </a:solidFill>
          <a:ln/>
        </p:spPr>
      </p:sp>
      <p:sp>
        <p:nvSpPr>
          <p:cNvPr id="13" name="Text 11"/>
          <p:cNvSpPr/>
          <p:nvPr/>
        </p:nvSpPr>
        <p:spPr>
          <a:xfrm>
            <a:off x="1005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Difícil de verificar después</a:t>
            </a:r>
            <a:endParaRPr lang="en-US" sz="1300" dirty="0"/>
          </a:p>
        </p:txBody>
      </p:sp>
      <p:sp>
        <p:nvSpPr>
          <p:cNvPr id="14" name="Shape 12"/>
          <p:cNvSpPr/>
          <p:nvPr/>
        </p:nvSpPr>
        <p:spPr>
          <a:xfrm>
            <a:off x="822960" y="3849624"/>
            <a:ext cx="82296" cy="82296"/>
          </a:xfrm>
          <a:prstGeom prst="ellipse">
            <a:avLst/>
          </a:prstGeom>
          <a:solidFill>
            <a:srgbClr val="1A1A1A"/>
          </a:solidFill>
          <a:ln/>
        </p:spPr>
      </p:sp>
      <p:sp>
        <p:nvSpPr>
          <p:cNvPr id="15" name="Text 13"/>
          <p:cNvSpPr/>
          <p:nvPr/>
        </p:nvSpPr>
        <p:spPr>
          <a:xfrm>
            <a:off x="1005840" y="3739896"/>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Sin alcance explícito por escrito</a:t>
            </a:r>
            <a:endParaRPr lang="en-US" sz="1300" dirty="0"/>
          </a:p>
        </p:txBody>
      </p:sp>
      <p:sp>
        <p:nvSpPr>
          <p:cNvPr id="16" name="Shape 14"/>
          <p:cNvSpPr/>
          <p:nvPr/>
        </p:nvSpPr>
        <p:spPr>
          <a:xfrm>
            <a:off x="822960" y="4416552"/>
            <a:ext cx="82296" cy="82296"/>
          </a:xfrm>
          <a:prstGeom prst="ellipse">
            <a:avLst/>
          </a:prstGeom>
          <a:solidFill>
            <a:srgbClr val="1A1A1A"/>
          </a:solidFill>
          <a:ln/>
        </p:spPr>
      </p:sp>
      <p:sp>
        <p:nvSpPr>
          <p:cNvPr id="17" name="Text 15"/>
          <p:cNvSpPr/>
          <p:nvPr/>
        </p:nvSpPr>
        <p:spPr>
          <a:xfrm>
            <a:off x="1005840" y="4306824"/>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Alto riesgo de ambigüedad</a:t>
            </a:r>
            <a:endParaRPr lang="en-US" sz="1300" dirty="0"/>
          </a:p>
        </p:txBody>
      </p:sp>
      <p:sp>
        <p:nvSpPr>
          <p:cNvPr id="18" name="Shape 16"/>
          <p:cNvSpPr/>
          <p:nvPr/>
        </p:nvSpPr>
        <p:spPr>
          <a:xfrm>
            <a:off x="6263640" y="1691640"/>
            <a:ext cx="5212080" cy="4434840"/>
          </a:xfrm>
          <a:prstGeom prst="roundRect">
            <a:avLst>
              <a:gd name="adj" fmla="val 1649"/>
            </a:avLst>
          </a:prstGeom>
          <a:solidFill>
            <a:srgbClr val="F7F5F4"/>
          </a:solidFill>
          <a:ln w="9525">
            <a:solidFill>
              <a:srgbClr val="E7E1DF"/>
            </a:solidFill>
            <a:prstDash val="solid"/>
          </a:ln>
        </p:spPr>
      </p:sp>
      <p:sp>
        <p:nvSpPr>
          <p:cNvPr id="19" name="Shape 17"/>
          <p:cNvSpPr/>
          <p:nvPr/>
        </p:nvSpPr>
        <p:spPr>
          <a:xfrm>
            <a:off x="6263640" y="1691640"/>
            <a:ext cx="5212080" cy="685800"/>
          </a:xfrm>
          <a:prstGeom prst="roundRect">
            <a:avLst>
              <a:gd name="adj" fmla="val 10667"/>
            </a:avLst>
          </a:prstGeom>
          <a:solidFill>
            <a:srgbClr val="E2231A"/>
          </a:solidFill>
          <a:ln/>
        </p:spPr>
      </p:sp>
      <p:sp>
        <p:nvSpPr>
          <p:cNvPr id="20" name="Shape 18"/>
          <p:cNvSpPr/>
          <p:nvPr/>
        </p:nvSpPr>
        <p:spPr>
          <a:xfrm>
            <a:off x="6263640" y="2148840"/>
            <a:ext cx="5212080" cy="228600"/>
          </a:xfrm>
          <a:prstGeom prst="rect">
            <a:avLst/>
          </a:prstGeom>
          <a:solidFill>
            <a:srgbClr val="E2231A"/>
          </a:solidFill>
          <a:ln/>
        </p:spPr>
      </p:sp>
      <p:sp>
        <p:nvSpPr>
          <p:cNvPr id="21" name="Text 19"/>
          <p:cNvSpPr/>
          <p:nvPr/>
        </p:nvSpPr>
        <p:spPr>
          <a:xfrm>
            <a:off x="6537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Autorización documentada</a:t>
            </a:r>
            <a:endParaRPr lang="en-US" sz="1600" dirty="0"/>
          </a:p>
        </p:txBody>
      </p:sp>
      <p:sp>
        <p:nvSpPr>
          <p:cNvPr id="22" name="Shape 20"/>
          <p:cNvSpPr/>
          <p:nvPr/>
        </p:nvSpPr>
        <p:spPr>
          <a:xfrm>
            <a:off x="6537960" y="2715768"/>
            <a:ext cx="82296" cy="82296"/>
          </a:xfrm>
          <a:prstGeom prst="ellipse">
            <a:avLst/>
          </a:prstGeom>
          <a:solidFill>
            <a:srgbClr val="E2231A"/>
          </a:solidFill>
          <a:ln/>
        </p:spPr>
      </p:sp>
      <p:sp>
        <p:nvSpPr>
          <p:cNvPr id="23" name="Text 21"/>
          <p:cNvSpPr/>
          <p:nvPr/>
        </p:nvSpPr>
        <p:spPr>
          <a:xfrm>
            <a:off x="6720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Alcance explícito y firmado</a:t>
            </a:r>
            <a:endParaRPr lang="en-US" sz="1300" dirty="0"/>
          </a:p>
        </p:txBody>
      </p:sp>
      <p:sp>
        <p:nvSpPr>
          <p:cNvPr id="24" name="Shape 22"/>
          <p:cNvSpPr/>
          <p:nvPr/>
        </p:nvSpPr>
        <p:spPr>
          <a:xfrm>
            <a:off x="6537960" y="3282696"/>
            <a:ext cx="82296" cy="82296"/>
          </a:xfrm>
          <a:prstGeom prst="ellipse">
            <a:avLst/>
          </a:prstGeom>
          <a:solidFill>
            <a:srgbClr val="E2231A"/>
          </a:solidFill>
          <a:ln/>
        </p:spPr>
      </p:sp>
      <p:sp>
        <p:nvSpPr>
          <p:cNvPr id="25" name="Text 23"/>
          <p:cNvSpPr/>
          <p:nvPr/>
        </p:nvSpPr>
        <p:spPr>
          <a:xfrm>
            <a:off x="6720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Verificable en cualquier momento</a:t>
            </a:r>
            <a:endParaRPr lang="en-US" sz="1300" dirty="0"/>
          </a:p>
        </p:txBody>
      </p:sp>
      <p:sp>
        <p:nvSpPr>
          <p:cNvPr id="26" name="Shape 24"/>
          <p:cNvSpPr/>
          <p:nvPr/>
        </p:nvSpPr>
        <p:spPr>
          <a:xfrm>
            <a:off x="6537960" y="3849624"/>
            <a:ext cx="82296" cy="82296"/>
          </a:xfrm>
          <a:prstGeom prst="ellipse">
            <a:avLst/>
          </a:prstGeom>
          <a:solidFill>
            <a:srgbClr val="E2231A"/>
          </a:solidFill>
          <a:ln/>
        </p:spPr>
      </p:sp>
      <p:sp>
        <p:nvSpPr>
          <p:cNvPr id="27" name="Text 25"/>
          <p:cNvSpPr/>
          <p:nvPr/>
        </p:nvSpPr>
        <p:spPr>
          <a:xfrm>
            <a:off x="6720840" y="3739896"/>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Protege tanto al analista como a la entidad</a:t>
            </a:r>
            <a:endParaRPr lang="en-US" sz="1300" dirty="0"/>
          </a:p>
        </p:txBody>
      </p:sp>
      <p:sp>
        <p:nvSpPr>
          <p:cNvPr id="28" name="Shape 26"/>
          <p:cNvSpPr/>
          <p:nvPr/>
        </p:nvSpPr>
        <p:spPr>
          <a:xfrm>
            <a:off x="6537960" y="4416552"/>
            <a:ext cx="82296" cy="82296"/>
          </a:xfrm>
          <a:prstGeom prst="ellipse">
            <a:avLst/>
          </a:prstGeom>
          <a:solidFill>
            <a:srgbClr val="E2231A"/>
          </a:solidFill>
          <a:ln/>
        </p:spPr>
      </p:sp>
      <p:sp>
        <p:nvSpPr>
          <p:cNvPr id="29" name="Text 27"/>
          <p:cNvSpPr/>
          <p:nvPr/>
        </p:nvSpPr>
        <p:spPr>
          <a:xfrm>
            <a:off x="6720840" y="4306824"/>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Estándar exigido en este curso</a:t>
            </a:r>
            <a:endParaRPr lang="en-US" sz="1300" dirty="0"/>
          </a:p>
        </p:txBody>
      </p:sp>
      <p:sp>
        <p:nvSpPr>
          <p:cNvPr id="30" name="Shape 28"/>
          <p:cNvSpPr/>
          <p:nvPr/>
        </p:nvSpPr>
        <p:spPr>
          <a:xfrm rot="2700000">
            <a:off x="502920" y="6501384"/>
            <a:ext cx="82296" cy="82296"/>
          </a:xfrm>
          <a:prstGeom prst="rect">
            <a:avLst/>
          </a:prstGeom>
          <a:solidFill>
            <a:srgbClr val="E2231A"/>
          </a:solidFill>
          <a:ln/>
        </p:spPr>
      </p:sp>
      <p:sp>
        <p:nvSpPr>
          <p:cNvPr id="31" name="Text 29"/>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AUTORIZACIÓN</a:t>
            </a:r>
            <a:endParaRPr lang="en-US" sz="800" dirty="0"/>
          </a:p>
        </p:txBody>
      </p:sp>
      <p:sp>
        <p:nvSpPr>
          <p:cNvPr id="32" name="Text 30"/>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ÉTICA PROFESIONAL</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Ético no siempre es lo mismo que legal</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Legal: lo que la norma permite</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Ej. consultar información pública indexada por un buscador.</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Ético: lo que un profesional responsable haría</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Puede ser más estricto que la sola legalidad.</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En ciberdefensa, el estándar ético suele ser más exigente</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El BACCI opera bajo responsabilidad institucional, no solo personal.</a:t>
            </a:r>
            <a:endParaRPr lang="en-US" sz="1250" dirty="0"/>
          </a:p>
        </p:txBody>
      </p:sp>
      <p:sp>
        <p:nvSpPr>
          <p:cNvPr id="18" name="Shape 16"/>
          <p:cNvSpPr/>
          <p:nvPr/>
        </p:nvSpPr>
        <p:spPr>
          <a:xfrm rot="2700000">
            <a:off x="502920" y="6501384"/>
            <a:ext cx="82296" cy="82296"/>
          </a:xfrm>
          <a:prstGeom prst="rect">
            <a:avLst/>
          </a:prstGeom>
          <a:solidFill>
            <a:srgbClr val="E2231A"/>
          </a:solidFill>
          <a:ln/>
        </p:spPr>
      </p:sp>
      <p:sp>
        <p:nvSpPr>
          <p:cNvPr id="19" name="Text 1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ÉTICA PROFESIONAL</a:t>
            </a:r>
            <a:endParaRPr lang="en-US" sz="800" dirty="0"/>
          </a:p>
        </p:txBody>
      </p:sp>
      <p:sp>
        <p:nvSpPr>
          <p:cNvPr id="20" name="Text 1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COMPROBACIÓN RÁPIDA</a:t>
            </a:r>
            <a:endParaRPr lang="en-US" sz="1150" dirty="0"/>
          </a:p>
        </p:txBody>
      </p:sp>
      <p:sp>
        <p:nvSpPr>
          <p:cNvPr id="5" name="Text 3"/>
          <p:cNvSpPr/>
          <p:nvPr/>
        </p:nvSpPr>
        <p:spPr>
          <a:xfrm>
            <a:off x="548640" y="749808"/>
            <a:ext cx="10332720" cy="1234440"/>
          </a:xfrm>
          <a:prstGeom prst="rect">
            <a:avLst/>
          </a:prstGeom>
          <a:noFill/>
          <a:ln/>
        </p:spPr>
        <p:txBody>
          <a:bodyPr wrap="square" rtlCol="0" anchor="t"/>
          <a:lstStyle/>
          <a:p>
            <a:pPr indent="0" marL="0">
              <a:buNone/>
            </a:pPr>
            <a:r>
              <a:rPr lang="en-US" sz="2000" b="1" dirty="0">
                <a:solidFill>
                  <a:srgbClr val="1A1A1A"/>
                </a:solidFill>
                <a:latin typeface="Roboto" pitchFamily="34" charset="0"/>
                <a:ea typeface="Roboto" pitchFamily="34" charset="-122"/>
                <a:cs typeface="Roboto" pitchFamily="34" charset="-120"/>
              </a:rPr>
              <a:t>Un participante consulta información pública de un dominio autorizado, sin recolectarla ni correlacionarla con otras fuentes. ¿Es esto igual de aceptable ética y legalmente en cualquier circunstancia?</a:t>
            </a:r>
            <a:endParaRPr lang="en-US" sz="2000" dirty="0"/>
          </a:p>
        </p:txBody>
      </p:sp>
      <p:sp>
        <p:nvSpPr>
          <p:cNvPr id="6" name="Shape 4"/>
          <p:cNvSpPr/>
          <p:nvPr/>
        </p:nvSpPr>
        <p:spPr>
          <a:xfrm>
            <a:off x="548640" y="2240280"/>
            <a:ext cx="5349240" cy="1371600"/>
          </a:xfrm>
          <a:prstGeom prst="roundRect">
            <a:avLst>
              <a:gd name="adj" fmla="val 6000"/>
            </a:avLst>
          </a:prstGeom>
          <a:solidFill>
            <a:srgbClr val="F7F5F4"/>
          </a:solidFill>
          <a:ln w="9525">
            <a:solidFill>
              <a:srgbClr val="E7E1DF"/>
            </a:solidFill>
            <a:prstDash val="solid"/>
          </a:ln>
        </p:spPr>
      </p:sp>
      <p:sp>
        <p:nvSpPr>
          <p:cNvPr id="7" name="Shape 5"/>
          <p:cNvSpPr/>
          <p:nvPr/>
        </p:nvSpPr>
        <p:spPr>
          <a:xfrm>
            <a:off x="777240" y="2468880"/>
            <a:ext cx="420624" cy="420624"/>
          </a:xfrm>
          <a:prstGeom prst="ellipse">
            <a:avLst/>
          </a:prstGeom>
          <a:solidFill>
            <a:srgbClr val="E2231A"/>
          </a:solidFill>
          <a:ln/>
        </p:spPr>
      </p:sp>
      <p:sp>
        <p:nvSpPr>
          <p:cNvPr id="8" name="Text 6"/>
          <p:cNvSpPr/>
          <p:nvPr/>
        </p:nvSpPr>
        <p:spPr>
          <a:xfrm>
            <a:off x="777240" y="2468880"/>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A</a:t>
            </a:r>
            <a:endParaRPr lang="en-US" sz="1500" dirty="0"/>
          </a:p>
        </p:txBody>
      </p:sp>
      <p:sp>
        <p:nvSpPr>
          <p:cNvPr id="9" name="Text 7"/>
          <p:cNvSpPr/>
          <p:nvPr/>
        </p:nvSpPr>
        <p:spPr>
          <a:xfrm>
            <a:off x="1371600" y="2377440"/>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A)  Sí, siempre — si la información es pública, no existe ningún límite ético adicional.</a:t>
            </a:r>
            <a:endParaRPr lang="en-US" sz="1250" dirty="0"/>
          </a:p>
        </p:txBody>
      </p:sp>
      <p:sp>
        <p:nvSpPr>
          <p:cNvPr id="10" name="Shape 8"/>
          <p:cNvSpPr/>
          <p:nvPr/>
        </p:nvSpPr>
        <p:spPr>
          <a:xfrm>
            <a:off x="6217920" y="2240280"/>
            <a:ext cx="5349240" cy="1371600"/>
          </a:xfrm>
          <a:prstGeom prst="roundRect">
            <a:avLst>
              <a:gd name="adj" fmla="val 6000"/>
            </a:avLst>
          </a:prstGeom>
          <a:solidFill>
            <a:srgbClr val="F7F5F4"/>
          </a:solidFill>
          <a:ln w="9525">
            <a:solidFill>
              <a:srgbClr val="E7E1DF"/>
            </a:solidFill>
            <a:prstDash val="solid"/>
          </a:ln>
        </p:spPr>
      </p:sp>
      <p:sp>
        <p:nvSpPr>
          <p:cNvPr id="11" name="Shape 9"/>
          <p:cNvSpPr/>
          <p:nvPr/>
        </p:nvSpPr>
        <p:spPr>
          <a:xfrm>
            <a:off x="6446520" y="2468880"/>
            <a:ext cx="420624" cy="420624"/>
          </a:xfrm>
          <a:prstGeom prst="ellipse">
            <a:avLst/>
          </a:prstGeom>
          <a:solidFill>
            <a:srgbClr val="E2231A"/>
          </a:solidFill>
          <a:ln/>
        </p:spPr>
      </p:sp>
      <p:sp>
        <p:nvSpPr>
          <p:cNvPr id="12" name="Text 10"/>
          <p:cNvSpPr/>
          <p:nvPr/>
        </p:nvSpPr>
        <p:spPr>
          <a:xfrm>
            <a:off x="6446520" y="2468880"/>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B</a:t>
            </a:r>
            <a:endParaRPr lang="en-US" sz="1500" dirty="0"/>
          </a:p>
        </p:txBody>
      </p:sp>
      <p:sp>
        <p:nvSpPr>
          <p:cNvPr id="13" name="Text 11"/>
          <p:cNvSpPr/>
          <p:nvPr/>
        </p:nvSpPr>
        <p:spPr>
          <a:xfrm>
            <a:off x="7040880" y="2377440"/>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B)  Es legal en general, pero puede ser éticamente cuestionable si luego se usa con fines dañinos, aunque cada dato individual sea público.</a:t>
            </a:r>
            <a:endParaRPr lang="en-US" sz="1250" dirty="0"/>
          </a:p>
        </p:txBody>
      </p:sp>
      <p:sp>
        <p:nvSpPr>
          <p:cNvPr id="14" name="Shape 12"/>
          <p:cNvSpPr/>
          <p:nvPr/>
        </p:nvSpPr>
        <p:spPr>
          <a:xfrm>
            <a:off x="548640" y="3867912"/>
            <a:ext cx="5349240" cy="1371600"/>
          </a:xfrm>
          <a:prstGeom prst="roundRect">
            <a:avLst>
              <a:gd name="adj" fmla="val 6000"/>
            </a:avLst>
          </a:prstGeom>
          <a:solidFill>
            <a:srgbClr val="F7F5F4"/>
          </a:solidFill>
          <a:ln w="9525">
            <a:solidFill>
              <a:srgbClr val="E7E1DF"/>
            </a:solidFill>
            <a:prstDash val="solid"/>
          </a:ln>
        </p:spPr>
      </p:sp>
      <p:sp>
        <p:nvSpPr>
          <p:cNvPr id="15" name="Shape 13"/>
          <p:cNvSpPr/>
          <p:nvPr/>
        </p:nvSpPr>
        <p:spPr>
          <a:xfrm>
            <a:off x="777240" y="4096512"/>
            <a:ext cx="420624" cy="420624"/>
          </a:xfrm>
          <a:prstGeom prst="ellipse">
            <a:avLst/>
          </a:prstGeom>
          <a:solidFill>
            <a:srgbClr val="E2231A"/>
          </a:solidFill>
          <a:ln/>
        </p:spPr>
      </p:sp>
      <p:sp>
        <p:nvSpPr>
          <p:cNvPr id="16" name="Text 14"/>
          <p:cNvSpPr/>
          <p:nvPr/>
        </p:nvSpPr>
        <p:spPr>
          <a:xfrm>
            <a:off x="777240" y="4096512"/>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C</a:t>
            </a:r>
            <a:endParaRPr lang="en-US" sz="1500" dirty="0"/>
          </a:p>
        </p:txBody>
      </p:sp>
      <p:sp>
        <p:nvSpPr>
          <p:cNvPr id="17" name="Text 15"/>
          <p:cNvSpPr/>
          <p:nvPr/>
        </p:nvSpPr>
        <p:spPr>
          <a:xfrm>
            <a:off x="1371600" y="4005072"/>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C)  No, consultar información pública ya constituye una infracción sin autorización previa.</a:t>
            </a:r>
            <a:endParaRPr lang="en-US" sz="1250" dirty="0"/>
          </a:p>
        </p:txBody>
      </p:sp>
      <p:sp>
        <p:nvSpPr>
          <p:cNvPr id="18" name="Shape 16"/>
          <p:cNvSpPr/>
          <p:nvPr/>
        </p:nvSpPr>
        <p:spPr>
          <a:xfrm>
            <a:off x="6217920" y="3867912"/>
            <a:ext cx="5349240" cy="1371600"/>
          </a:xfrm>
          <a:prstGeom prst="roundRect">
            <a:avLst>
              <a:gd name="adj" fmla="val 6000"/>
            </a:avLst>
          </a:prstGeom>
          <a:solidFill>
            <a:srgbClr val="F7F5F4"/>
          </a:solidFill>
          <a:ln w="9525">
            <a:solidFill>
              <a:srgbClr val="E7E1DF"/>
            </a:solidFill>
            <a:prstDash val="solid"/>
          </a:ln>
        </p:spPr>
      </p:sp>
      <p:sp>
        <p:nvSpPr>
          <p:cNvPr id="19" name="Shape 17"/>
          <p:cNvSpPr/>
          <p:nvPr/>
        </p:nvSpPr>
        <p:spPr>
          <a:xfrm>
            <a:off x="6446520" y="4096512"/>
            <a:ext cx="420624" cy="420624"/>
          </a:xfrm>
          <a:prstGeom prst="ellipse">
            <a:avLst/>
          </a:prstGeom>
          <a:solidFill>
            <a:srgbClr val="E2231A"/>
          </a:solidFill>
          <a:ln/>
        </p:spPr>
      </p:sp>
      <p:sp>
        <p:nvSpPr>
          <p:cNvPr id="20" name="Text 18"/>
          <p:cNvSpPr/>
          <p:nvPr/>
        </p:nvSpPr>
        <p:spPr>
          <a:xfrm>
            <a:off x="6446520" y="4096512"/>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D</a:t>
            </a:r>
            <a:endParaRPr lang="en-US" sz="1500" dirty="0"/>
          </a:p>
        </p:txBody>
      </p:sp>
      <p:sp>
        <p:nvSpPr>
          <p:cNvPr id="21" name="Text 19"/>
          <p:cNvSpPr/>
          <p:nvPr/>
        </p:nvSpPr>
        <p:spPr>
          <a:xfrm>
            <a:off x="7040880" y="4005072"/>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D)  Ética y legalidad son exactamente lo mismo; no hay ninguna diferencia práctica entre ambas.</a:t>
            </a:r>
            <a:endParaRPr lang="en-US" sz="1250" dirty="0"/>
          </a:p>
        </p:txBody>
      </p:sp>
      <p:sp>
        <p:nvSpPr>
          <p:cNvPr id="22" name="Text 20"/>
          <p:cNvSpPr/>
          <p:nvPr/>
        </p:nvSpPr>
        <p:spPr>
          <a:xfrm>
            <a:off x="548640" y="5541264"/>
            <a:ext cx="11064240" cy="365760"/>
          </a:xfrm>
          <a:prstGeom prst="rect">
            <a:avLst/>
          </a:prstGeom>
          <a:noFill/>
          <a:ln/>
        </p:spPr>
        <p:txBody>
          <a:bodyPr wrap="square" rtlCol="0" anchor="ctr"/>
          <a:lstStyle/>
          <a:p>
            <a:pPr indent="0" marL="0">
              <a:buNone/>
            </a:pPr>
            <a:r>
              <a:rPr lang="en-US" sz="1150" i="1" dirty="0">
                <a:solidFill>
                  <a:srgbClr val="6B6B6B"/>
                </a:solidFill>
                <a:latin typeface="Roboto" pitchFamily="34" charset="0"/>
                <a:ea typeface="Roboto" pitchFamily="34" charset="-122"/>
                <a:cs typeface="Roboto" pitchFamily="34" charset="-120"/>
              </a:rPr>
              <a:t>Elige tu respuesta antes de que el instructor revele la correcta.</a:t>
            </a:r>
            <a:endParaRPr lang="en-US" sz="1150" dirty="0"/>
          </a:p>
        </p:txBody>
      </p:sp>
      <p:sp>
        <p:nvSpPr>
          <p:cNvPr id="23" name="Shape 21"/>
          <p:cNvSpPr/>
          <p:nvPr/>
        </p:nvSpPr>
        <p:spPr>
          <a:xfrm rot="2700000">
            <a:off x="502920" y="6501384"/>
            <a:ext cx="82296" cy="82296"/>
          </a:xfrm>
          <a:prstGeom prst="rect">
            <a:avLst/>
          </a:prstGeom>
          <a:solidFill>
            <a:srgbClr val="E2231A"/>
          </a:solidFill>
          <a:ln/>
        </p:spPr>
      </p:sp>
      <p:sp>
        <p:nvSpPr>
          <p:cNvPr id="24" name="Text 22"/>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COMPROBACIÓN RÁPIDA</a:t>
            </a:r>
            <a:endParaRPr lang="en-US" sz="800" dirty="0"/>
          </a:p>
        </p:txBody>
      </p:sp>
      <p:sp>
        <p:nvSpPr>
          <p:cNvPr id="25" name="Text 23"/>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MANEJO DE EVIDENCIA</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Tres principios del manejo de evidencia</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Integridad</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La evidencia no se modifica una vez recolectada.</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Trazabilidad</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Se puede reconstruir quién, cuándo y cómo se obtuvo cada dato.</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No alteración</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Ni siquiera con buena intención se "mejora" o resume la evidencia original.</a:t>
            </a:r>
            <a:endParaRPr lang="en-US" sz="1250" dirty="0"/>
          </a:p>
        </p:txBody>
      </p:sp>
      <p:sp>
        <p:nvSpPr>
          <p:cNvPr id="18" name="Shape 16"/>
          <p:cNvSpPr/>
          <p:nvPr/>
        </p:nvSpPr>
        <p:spPr>
          <a:xfrm rot="2700000">
            <a:off x="502920" y="6501384"/>
            <a:ext cx="82296" cy="82296"/>
          </a:xfrm>
          <a:prstGeom prst="rect">
            <a:avLst/>
          </a:prstGeom>
          <a:solidFill>
            <a:srgbClr val="E2231A"/>
          </a:solidFill>
          <a:ln/>
        </p:spPr>
      </p:sp>
      <p:sp>
        <p:nvSpPr>
          <p:cNvPr id="19" name="Text 1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MANEJO DE EVIDENCIA</a:t>
            </a:r>
            <a:endParaRPr lang="en-US" sz="800" dirty="0"/>
          </a:p>
        </p:txBody>
      </p:sp>
      <p:sp>
        <p:nvSpPr>
          <p:cNvPr id="20" name="Text 1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CADENA DE CUSTODIA EN EL AULA</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Cadena de custodia aplicada: bitácora + hash</a:t>
            </a:r>
            <a:endParaRPr lang="en-US" sz="2500" dirty="0"/>
          </a:p>
        </p:txBody>
      </p:sp>
      <p:sp>
        <p:nvSpPr>
          <p:cNvPr id="6" name="Text 4"/>
          <p:cNvSpPr/>
          <p:nvPr/>
        </p:nvSpPr>
        <p:spPr>
          <a:xfrm>
            <a:off x="548640" y="1600200"/>
            <a:ext cx="11064240" cy="365760"/>
          </a:xfrm>
          <a:prstGeom prst="rect">
            <a:avLst/>
          </a:prstGeom>
          <a:noFill/>
          <a:ln/>
        </p:spPr>
        <p:txBody>
          <a:bodyPr wrap="square" rtlCol="0" anchor="ctr"/>
          <a:lstStyle/>
          <a:p>
            <a:pPr indent="0" marL="0">
              <a:buNone/>
            </a:pPr>
            <a:r>
              <a:rPr lang="en-US" sz="1300" dirty="0">
                <a:solidFill>
                  <a:srgbClr val="6B6B6B"/>
                </a:solidFill>
                <a:latin typeface="Roboto" pitchFamily="34" charset="0"/>
                <a:ea typeface="Roboto" pitchFamily="34" charset="-122"/>
                <a:cs typeface="Roboto" pitchFamily="34" charset="-120"/>
              </a:rPr>
              <a:t>Cómo documentamos evidencia de forma verificable durante los laboratorios de este curso:</a:t>
            </a:r>
            <a:endParaRPr lang="en-US" sz="1300" dirty="0"/>
          </a:p>
        </p:txBody>
      </p:sp>
      <p:sp>
        <p:nvSpPr>
          <p:cNvPr id="7" name="Shape 5"/>
          <p:cNvSpPr/>
          <p:nvPr/>
        </p:nvSpPr>
        <p:spPr>
          <a:xfrm>
            <a:off x="548640" y="2103120"/>
            <a:ext cx="11064240" cy="566928"/>
          </a:xfrm>
          <a:prstGeom prst="roundRect">
            <a:avLst>
              <a:gd name="adj" fmla="val 8065"/>
            </a:avLst>
          </a:prstGeom>
          <a:solidFill>
            <a:srgbClr val="1A1A1A"/>
          </a:solidFill>
          <a:ln/>
        </p:spPr>
      </p:sp>
      <p:sp>
        <p:nvSpPr>
          <p:cNvPr id="8" name="Shape 6"/>
          <p:cNvSpPr/>
          <p:nvPr/>
        </p:nvSpPr>
        <p:spPr>
          <a:xfrm>
            <a:off x="548640" y="2103120"/>
            <a:ext cx="54864" cy="566928"/>
          </a:xfrm>
          <a:prstGeom prst="rect">
            <a:avLst/>
          </a:prstGeom>
          <a:solidFill>
            <a:srgbClr val="E2231A"/>
          </a:solidFill>
          <a:ln/>
        </p:spPr>
      </p:sp>
      <p:sp>
        <p:nvSpPr>
          <p:cNvPr id="9" name="Text 7"/>
          <p:cNvSpPr/>
          <p:nvPr/>
        </p:nvSpPr>
        <p:spPr>
          <a:xfrm>
            <a:off x="822960" y="2103120"/>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mkdir evidencia_sesion1_$(date +%F)</a:t>
            </a:r>
            <a:endParaRPr lang="en-US" sz="1300" dirty="0"/>
          </a:p>
        </p:txBody>
      </p:sp>
      <p:sp>
        <p:nvSpPr>
          <p:cNvPr id="10" name="Text 8"/>
          <p:cNvSpPr/>
          <p:nvPr/>
        </p:nvSpPr>
        <p:spPr>
          <a:xfrm>
            <a:off x="6949440" y="2103120"/>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Carpeta de evidencia con fecha</a:t>
            </a:r>
            <a:endParaRPr lang="en-US" sz="1100" dirty="0"/>
          </a:p>
        </p:txBody>
      </p:sp>
      <p:sp>
        <p:nvSpPr>
          <p:cNvPr id="11" name="Shape 9"/>
          <p:cNvSpPr/>
          <p:nvPr/>
        </p:nvSpPr>
        <p:spPr>
          <a:xfrm>
            <a:off x="548640" y="2798064"/>
            <a:ext cx="11064240" cy="566928"/>
          </a:xfrm>
          <a:prstGeom prst="roundRect">
            <a:avLst>
              <a:gd name="adj" fmla="val 8065"/>
            </a:avLst>
          </a:prstGeom>
          <a:solidFill>
            <a:srgbClr val="1A1A1A"/>
          </a:solidFill>
          <a:ln/>
        </p:spPr>
      </p:sp>
      <p:sp>
        <p:nvSpPr>
          <p:cNvPr id="12" name="Shape 10"/>
          <p:cNvSpPr/>
          <p:nvPr/>
        </p:nvSpPr>
        <p:spPr>
          <a:xfrm>
            <a:off x="548640" y="2798064"/>
            <a:ext cx="54864" cy="566928"/>
          </a:xfrm>
          <a:prstGeom prst="rect">
            <a:avLst/>
          </a:prstGeom>
          <a:solidFill>
            <a:srgbClr val="E2231A"/>
          </a:solidFill>
          <a:ln/>
        </p:spPr>
      </p:sp>
      <p:sp>
        <p:nvSpPr>
          <p:cNvPr id="13" name="Text 11"/>
          <p:cNvSpPr/>
          <p:nvPr/>
        </p:nvSpPr>
        <p:spPr>
          <a:xfrm>
            <a:off x="822960" y="2798064"/>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cp captura.png evidencia_sesion1_$(date +%F)/</a:t>
            </a:r>
            <a:endParaRPr lang="en-US" sz="1300" dirty="0"/>
          </a:p>
        </p:txBody>
      </p:sp>
      <p:sp>
        <p:nvSpPr>
          <p:cNvPr id="14" name="Text 12"/>
          <p:cNvSpPr/>
          <p:nvPr/>
        </p:nvSpPr>
        <p:spPr>
          <a:xfrm>
            <a:off x="6949440" y="2798064"/>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Copiar la captura o registro</a:t>
            </a:r>
            <a:endParaRPr lang="en-US" sz="1100" dirty="0"/>
          </a:p>
        </p:txBody>
      </p:sp>
      <p:sp>
        <p:nvSpPr>
          <p:cNvPr id="15" name="Shape 13"/>
          <p:cNvSpPr/>
          <p:nvPr/>
        </p:nvSpPr>
        <p:spPr>
          <a:xfrm>
            <a:off x="548640" y="3493008"/>
            <a:ext cx="11064240" cy="566928"/>
          </a:xfrm>
          <a:prstGeom prst="roundRect">
            <a:avLst>
              <a:gd name="adj" fmla="val 8065"/>
            </a:avLst>
          </a:prstGeom>
          <a:solidFill>
            <a:srgbClr val="1A1A1A"/>
          </a:solidFill>
          <a:ln/>
        </p:spPr>
      </p:sp>
      <p:sp>
        <p:nvSpPr>
          <p:cNvPr id="16" name="Shape 14"/>
          <p:cNvSpPr/>
          <p:nvPr/>
        </p:nvSpPr>
        <p:spPr>
          <a:xfrm>
            <a:off x="548640" y="3493008"/>
            <a:ext cx="54864" cy="566928"/>
          </a:xfrm>
          <a:prstGeom prst="rect">
            <a:avLst/>
          </a:prstGeom>
          <a:solidFill>
            <a:srgbClr val="E2231A"/>
          </a:solidFill>
          <a:ln/>
        </p:spPr>
      </p:sp>
      <p:sp>
        <p:nvSpPr>
          <p:cNvPr id="17" name="Text 15"/>
          <p:cNvSpPr/>
          <p:nvPr/>
        </p:nvSpPr>
        <p:spPr>
          <a:xfrm>
            <a:off x="822960" y="3493008"/>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sha256sum captura.png &gt; captura.sha256</a:t>
            </a:r>
            <a:endParaRPr lang="en-US" sz="1300" dirty="0"/>
          </a:p>
        </p:txBody>
      </p:sp>
      <p:sp>
        <p:nvSpPr>
          <p:cNvPr id="18" name="Text 16"/>
          <p:cNvSpPr/>
          <p:nvPr/>
        </p:nvSpPr>
        <p:spPr>
          <a:xfrm>
            <a:off x="6949440" y="3493008"/>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Huella de integridad del archivo</a:t>
            </a:r>
            <a:endParaRPr lang="en-US" sz="1100" dirty="0"/>
          </a:p>
        </p:txBody>
      </p:sp>
      <p:sp>
        <p:nvSpPr>
          <p:cNvPr id="19" name="Shape 17"/>
          <p:cNvSpPr/>
          <p:nvPr/>
        </p:nvSpPr>
        <p:spPr>
          <a:xfrm rot="2700000">
            <a:off x="502920" y="6501384"/>
            <a:ext cx="82296" cy="82296"/>
          </a:xfrm>
          <a:prstGeom prst="rect">
            <a:avLst/>
          </a:prstGeom>
          <a:solidFill>
            <a:srgbClr val="E2231A"/>
          </a:solidFill>
          <a:ln/>
        </p:spPr>
      </p:sp>
      <p:sp>
        <p:nvSpPr>
          <p:cNvPr id="20" name="Text 18"/>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CADENA DE CUSTODIA EN EL AULA</a:t>
            </a:r>
            <a:endParaRPr lang="en-US" sz="800" dirty="0"/>
          </a:p>
        </p:txBody>
      </p:sp>
      <p:sp>
        <p:nvSpPr>
          <p:cNvPr id="21" name="Text 19"/>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FUNDAMENTOS DE REDES</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Modelo TCP/IP simplificado (el que usaremos en el curso)</a:t>
            </a:r>
            <a:endParaRPr lang="en-US" sz="2500" dirty="0"/>
          </a:p>
        </p:txBody>
      </p:sp>
      <p:sp>
        <p:nvSpPr>
          <p:cNvPr id="6" name="Shape 4"/>
          <p:cNvSpPr/>
          <p:nvPr/>
        </p:nvSpPr>
        <p:spPr>
          <a:xfrm>
            <a:off x="2011680" y="1783080"/>
            <a:ext cx="8138160" cy="914400"/>
          </a:xfrm>
          <a:prstGeom prst="roundRect">
            <a:avLst>
              <a:gd name="adj" fmla="val 6000"/>
            </a:avLst>
          </a:prstGeom>
          <a:solidFill>
            <a:srgbClr val="FEB126"/>
          </a:solidFill>
          <a:ln/>
        </p:spPr>
      </p:sp>
      <p:sp>
        <p:nvSpPr>
          <p:cNvPr id="7" name="Text 5"/>
          <p:cNvSpPr/>
          <p:nvPr/>
        </p:nvSpPr>
        <p:spPr>
          <a:xfrm>
            <a:off x="2286000" y="1783080"/>
            <a:ext cx="2743200" cy="914400"/>
          </a:xfrm>
          <a:prstGeom prst="rect">
            <a:avLst/>
          </a:prstGeom>
          <a:noFill/>
          <a:ln/>
        </p:spPr>
        <p:txBody>
          <a:bodyPr wrap="square" rtlCol="0" anchor="ctr"/>
          <a:lstStyle/>
          <a:p>
            <a:pPr indent="0" marL="0">
              <a:buNone/>
            </a:pPr>
            <a:r>
              <a:rPr lang="en-US" sz="1500" b="1" dirty="0">
                <a:solidFill>
                  <a:srgbClr val="FFFFFF"/>
                </a:solidFill>
                <a:latin typeface="Roboto" pitchFamily="34" charset="0"/>
                <a:ea typeface="Roboto" pitchFamily="34" charset="-122"/>
                <a:cs typeface="Roboto" pitchFamily="34" charset="-120"/>
              </a:rPr>
              <a:t>Aplicación</a:t>
            </a:r>
            <a:endParaRPr lang="en-US" sz="1500" dirty="0"/>
          </a:p>
        </p:txBody>
      </p:sp>
      <p:sp>
        <p:nvSpPr>
          <p:cNvPr id="8" name="Text 6"/>
          <p:cNvSpPr/>
          <p:nvPr/>
        </p:nvSpPr>
        <p:spPr>
          <a:xfrm>
            <a:off x="5120640" y="1783080"/>
            <a:ext cx="4754880" cy="914400"/>
          </a:xfrm>
          <a:prstGeom prst="rect">
            <a:avLst/>
          </a:prstGeom>
          <a:noFill/>
          <a:ln/>
        </p:spPr>
        <p:txBody>
          <a:bodyPr wrap="square" rtlCol="0" anchor="ctr"/>
          <a:lstStyle/>
          <a:p>
            <a:pPr algn="r" indent="0" marL="0">
              <a:buNone/>
            </a:pPr>
            <a:r>
              <a:rPr lang="en-US" sz="1150" dirty="0">
                <a:solidFill>
                  <a:srgbClr val="FFF3EE"/>
                </a:solidFill>
                <a:latin typeface="Roboto" pitchFamily="34" charset="0"/>
                <a:ea typeface="Roboto" pitchFamily="34" charset="-122"/>
                <a:cs typeface="Roboto" pitchFamily="34" charset="-120"/>
              </a:rPr>
              <a:t>HTTP, DNS, TLS — el contenido que entendemos</a:t>
            </a:r>
            <a:endParaRPr lang="en-US" sz="1150" dirty="0"/>
          </a:p>
        </p:txBody>
      </p:sp>
      <p:sp>
        <p:nvSpPr>
          <p:cNvPr id="9" name="Shape 7"/>
          <p:cNvSpPr/>
          <p:nvPr/>
        </p:nvSpPr>
        <p:spPr>
          <a:xfrm>
            <a:off x="2011680" y="2834640"/>
            <a:ext cx="8138160" cy="914400"/>
          </a:xfrm>
          <a:prstGeom prst="roundRect">
            <a:avLst>
              <a:gd name="adj" fmla="val 6000"/>
            </a:avLst>
          </a:prstGeom>
          <a:solidFill>
            <a:srgbClr val="FF5100"/>
          </a:solidFill>
          <a:ln/>
        </p:spPr>
      </p:sp>
      <p:sp>
        <p:nvSpPr>
          <p:cNvPr id="10" name="Text 8"/>
          <p:cNvSpPr/>
          <p:nvPr/>
        </p:nvSpPr>
        <p:spPr>
          <a:xfrm>
            <a:off x="2286000" y="2834640"/>
            <a:ext cx="2743200" cy="914400"/>
          </a:xfrm>
          <a:prstGeom prst="rect">
            <a:avLst/>
          </a:prstGeom>
          <a:noFill/>
          <a:ln/>
        </p:spPr>
        <p:txBody>
          <a:bodyPr wrap="square" rtlCol="0" anchor="ctr"/>
          <a:lstStyle/>
          <a:p>
            <a:pPr indent="0" marL="0">
              <a:buNone/>
            </a:pPr>
            <a:r>
              <a:rPr lang="en-US" sz="1500" b="1" dirty="0">
                <a:solidFill>
                  <a:srgbClr val="FFFFFF"/>
                </a:solidFill>
                <a:latin typeface="Roboto" pitchFamily="34" charset="0"/>
                <a:ea typeface="Roboto" pitchFamily="34" charset="-122"/>
                <a:cs typeface="Roboto" pitchFamily="34" charset="-120"/>
              </a:rPr>
              <a:t>Transporte</a:t>
            </a:r>
            <a:endParaRPr lang="en-US" sz="1500" dirty="0"/>
          </a:p>
        </p:txBody>
      </p:sp>
      <p:sp>
        <p:nvSpPr>
          <p:cNvPr id="11" name="Text 9"/>
          <p:cNvSpPr/>
          <p:nvPr/>
        </p:nvSpPr>
        <p:spPr>
          <a:xfrm>
            <a:off x="5120640" y="2834640"/>
            <a:ext cx="4754880" cy="914400"/>
          </a:xfrm>
          <a:prstGeom prst="rect">
            <a:avLst/>
          </a:prstGeom>
          <a:noFill/>
          <a:ln/>
        </p:spPr>
        <p:txBody>
          <a:bodyPr wrap="square" rtlCol="0" anchor="ctr"/>
          <a:lstStyle/>
          <a:p>
            <a:pPr algn="r" indent="0" marL="0">
              <a:buNone/>
            </a:pPr>
            <a:r>
              <a:rPr lang="en-US" sz="1150" dirty="0">
                <a:solidFill>
                  <a:srgbClr val="FFF3EE"/>
                </a:solidFill>
                <a:latin typeface="Roboto" pitchFamily="34" charset="0"/>
                <a:ea typeface="Roboto" pitchFamily="34" charset="-122"/>
                <a:cs typeface="Roboto" pitchFamily="34" charset="-120"/>
              </a:rPr>
              <a:t>TCP (confiable) / UDP (rápido)</a:t>
            </a:r>
            <a:endParaRPr lang="en-US" sz="1150" dirty="0"/>
          </a:p>
        </p:txBody>
      </p:sp>
      <p:sp>
        <p:nvSpPr>
          <p:cNvPr id="12" name="Shape 10"/>
          <p:cNvSpPr/>
          <p:nvPr/>
        </p:nvSpPr>
        <p:spPr>
          <a:xfrm>
            <a:off x="2011680" y="3886200"/>
            <a:ext cx="8138160" cy="914400"/>
          </a:xfrm>
          <a:prstGeom prst="roundRect">
            <a:avLst>
              <a:gd name="adj" fmla="val 6000"/>
            </a:avLst>
          </a:prstGeom>
          <a:solidFill>
            <a:srgbClr val="E2231A"/>
          </a:solidFill>
          <a:ln/>
        </p:spPr>
      </p:sp>
      <p:sp>
        <p:nvSpPr>
          <p:cNvPr id="13" name="Text 11"/>
          <p:cNvSpPr/>
          <p:nvPr/>
        </p:nvSpPr>
        <p:spPr>
          <a:xfrm>
            <a:off x="2286000" y="3886200"/>
            <a:ext cx="2743200" cy="914400"/>
          </a:xfrm>
          <a:prstGeom prst="rect">
            <a:avLst/>
          </a:prstGeom>
          <a:noFill/>
          <a:ln/>
        </p:spPr>
        <p:txBody>
          <a:bodyPr wrap="square" rtlCol="0" anchor="ctr"/>
          <a:lstStyle/>
          <a:p>
            <a:pPr indent="0" marL="0">
              <a:buNone/>
            </a:pPr>
            <a:r>
              <a:rPr lang="en-US" sz="1500" b="1" dirty="0">
                <a:solidFill>
                  <a:srgbClr val="FFFFFF"/>
                </a:solidFill>
                <a:latin typeface="Roboto" pitchFamily="34" charset="0"/>
                <a:ea typeface="Roboto" pitchFamily="34" charset="-122"/>
                <a:cs typeface="Roboto" pitchFamily="34" charset="-120"/>
              </a:rPr>
              <a:t>Internet / Red</a:t>
            </a:r>
            <a:endParaRPr lang="en-US" sz="1500" dirty="0"/>
          </a:p>
        </p:txBody>
      </p:sp>
      <p:sp>
        <p:nvSpPr>
          <p:cNvPr id="14" name="Text 12"/>
          <p:cNvSpPr/>
          <p:nvPr/>
        </p:nvSpPr>
        <p:spPr>
          <a:xfrm>
            <a:off x="5120640" y="3886200"/>
            <a:ext cx="4754880" cy="914400"/>
          </a:xfrm>
          <a:prstGeom prst="rect">
            <a:avLst/>
          </a:prstGeom>
          <a:noFill/>
          <a:ln/>
        </p:spPr>
        <p:txBody>
          <a:bodyPr wrap="square" rtlCol="0" anchor="ctr"/>
          <a:lstStyle/>
          <a:p>
            <a:pPr algn="r" indent="0" marL="0">
              <a:buNone/>
            </a:pPr>
            <a:r>
              <a:rPr lang="en-US" sz="1150" dirty="0">
                <a:solidFill>
                  <a:srgbClr val="FFF3EE"/>
                </a:solidFill>
                <a:latin typeface="Roboto" pitchFamily="34" charset="0"/>
                <a:ea typeface="Roboto" pitchFamily="34" charset="-122"/>
                <a:cs typeface="Roboto" pitchFamily="34" charset="-120"/>
              </a:rPr>
              <a:t>IP — direccionamiento y enrutamiento</a:t>
            </a:r>
            <a:endParaRPr lang="en-US" sz="1150" dirty="0"/>
          </a:p>
        </p:txBody>
      </p:sp>
      <p:sp>
        <p:nvSpPr>
          <p:cNvPr id="15" name="Shape 13"/>
          <p:cNvSpPr/>
          <p:nvPr/>
        </p:nvSpPr>
        <p:spPr>
          <a:xfrm>
            <a:off x="2011680" y="4937760"/>
            <a:ext cx="8138160" cy="914400"/>
          </a:xfrm>
          <a:prstGeom prst="roundRect">
            <a:avLst>
              <a:gd name="adj" fmla="val 6000"/>
            </a:avLst>
          </a:prstGeom>
          <a:solidFill>
            <a:srgbClr val="7A0F0B"/>
          </a:solidFill>
          <a:ln/>
        </p:spPr>
      </p:sp>
      <p:sp>
        <p:nvSpPr>
          <p:cNvPr id="16" name="Text 14"/>
          <p:cNvSpPr/>
          <p:nvPr/>
        </p:nvSpPr>
        <p:spPr>
          <a:xfrm>
            <a:off x="2286000" y="4937760"/>
            <a:ext cx="2743200" cy="914400"/>
          </a:xfrm>
          <a:prstGeom prst="rect">
            <a:avLst/>
          </a:prstGeom>
          <a:noFill/>
          <a:ln/>
        </p:spPr>
        <p:txBody>
          <a:bodyPr wrap="square" rtlCol="0" anchor="ctr"/>
          <a:lstStyle/>
          <a:p>
            <a:pPr indent="0" marL="0">
              <a:buNone/>
            </a:pPr>
            <a:r>
              <a:rPr lang="en-US" sz="1500" b="1" dirty="0">
                <a:solidFill>
                  <a:srgbClr val="FFFFFF"/>
                </a:solidFill>
                <a:latin typeface="Roboto" pitchFamily="34" charset="0"/>
                <a:ea typeface="Roboto" pitchFamily="34" charset="-122"/>
                <a:cs typeface="Roboto" pitchFamily="34" charset="-120"/>
              </a:rPr>
              <a:t>Enlace</a:t>
            </a:r>
            <a:endParaRPr lang="en-US" sz="1500" dirty="0"/>
          </a:p>
        </p:txBody>
      </p:sp>
      <p:sp>
        <p:nvSpPr>
          <p:cNvPr id="17" name="Text 15"/>
          <p:cNvSpPr/>
          <p:nvPr/>
        </p:nvSpPr>
        <p:spPr>
          <a:xfrm>
            <a:off x="5120640" y="4937760"/>
            <a:ext cx="4754880" cy="914400"/>
          </a:xfrm>
          <a:prstGeom prst="rect">
            <a:avLst/>
          </a:prstGeom>
          <a:noFill/>
          <a:ln/>
        </p:spPr>
        <p:txBody>
          <a:bodyPr wrap="square" rtlCol="0" anchor="ctr"/>
          <a:lstStyle/>
          <a:p>
            <a:pPr algn="r" indent="0" marL="0">
              <a:buNone/>
            </a:pPr>
            <a:r>
              <a:rPr lang="en-US" sz="1150" dirty="0">
                <a:solidFill>
                  <a:srgbClr val="FFF3EE"/>
                </a:solidFill>
                <a:latin typeface="Roboto" pitchFamily="34" charset="0"/>
                <a:ea typeface="Roboto" pitchFamily="34" charset="-122"/>
                <a:cs typeface="Roboto" pitchFamily="34" charset="-120"/>
              </a:rPr>
              <a:t>Ethernet, Wi-Fi — el medio físico/local</a:t>
            </a:r>
            <a:endParaRPr lang="en-US" sz="1150" dirty="0"/>
          </a:p>
        </p:txBody>
      </p:sp>
      <p:sp>
        <p:nvSpPr>
          <p:cNvPr id="18" name="Shape 16"/>
          <p:cNvSpPr/>
          <p:nvPr/>
        </p:nvSpPr>
        <p:spPr>
          <a:xfrm rot="2700000">
            <a:off x="502920" y="6501384"/>
            <a:ext cx="82296" cy="82296"/>
          </a:xfrm>
          <a:prstGeom prst="rect">
            <a:avLst/>
          </a:prstGeom>
          <a:solidFill>
            <a:srgbClr val="E2231A"/>
          </a:solidFill>
          <a:ln/>
        </p:spPr>
      </p:sp>
      <p:sp>
        <p:nvSpPr>
          <p:cNvPr id="19" name="Text 1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FUNDAMENTOS DE REDES</a:t>
            </a:r>
            <a:endParaRPr lang="en-US" sz="800" dirty="0"/>
          </a:p>
        </p:txBody>
      </p:sp>
      <p:sp>
        <p:nvSpPr>
          <p:cNvPr id="20" name="Text 1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IP, TCP Y UDP</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Direccionamiento y transporte, en breve</a:t>
            </a:r>
            <a:endParaRPr lang="en-US" sz="2500" dirty="0"/>
          </a:p>
        </p:txBody>
      </p:sp>
      <p:sp>
        <p:nvSpPr>
          <p:cNvPr id="6" name="Shape 4"/>
          <p:cNvSpPr/>
          <p:nvPr/>
        </p:nvSpPr>
        <p:spPr>
          <a:xfrm>
            <a:off x="548640" y="1691640"/>
            <a:ext cx="5212080" cy="4434840"/>
          </a:xfrm>
          <a:prstGeom prst="roundRect">
            <a:avLst>
              <a:gd name="adj" fmla="val 1649"/>
            </a:avLst>
          </a:prstGeom>
          <a:solidFill>
            <a:srgbClr val="F7F5F4"/>
          </a:solidFill>
          <a:ln w="9525">
            <a:solidFill>
              <a:srgbClr val="E7E1DF"/>
            </a:solidFill>
            <a:prstDash val="solid"/>
          </a:ln>
        </p:spPr>
      </p:sp>
      <p:sp>
        <p:nvSpPr>
          <p:cNvPr id="7" name="Shape 5"/>
          <p:cNvSpPr/>
          <p:nvPr/>
        </p:nvSpPr>
        <p:spPr>
          <a:xfrm>
            <a:off x="548640" y="1691640"/>
            <a:ext cx="5212080" cy="685800"/>
          </a:xfrm>
          <a:prstGeom prst="roundRect">
            <a:avLst>
              <a:gd name="adj" fmla="val 10667"/>
            </a:avLst>
          </a:prstGeom>
          <a:solidFill>
            <a:srgbClr val="E2231A"/>
          </a:solidFill>
          <a:ln/>
        </p:spPr>
      </p:sp>
      <p:sp>
        <p:nvSpPr>
          <p:cNvPr id="8" name="Shape 6"/>
          <p:cNvSpPr/>
          <p:nvPr/>
        </p:nvSpPr>
        <p:spPr>
          <a:xfrm>
            <a:off x="548640" y="2148840"/>
            <a:ext cx="5212080" cy="228600"/>
          </a:xfrm>
          <a:prstGeom prst="rect">
            <a:avLst/>
          </a:prstGeom>
          <a:solidFill>
            <a:srgbClr val="E2231A"/>
          </a:solidFill>
          <a:ln/>
        </p:spPr>
      </p:sp>
      <p:sp>
        <p:nvSpPr>
          <p:cNvPr id="9" name="Text 7"/>
          <p:cNvSpPr/>
          <p:nvPr/>
        </p:nvSpPr>
        <p:spPr>
          <a:xfrm>
            <a:off x="822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IP (Internet Protocol)</a:t>
            </a:r>
            <a:endParaRPr lang="en-US" sz="1600" dirty="0"/>
          </a:p>
        </p:txBody>
      </p:sp>
      <p:sp>
        <p:nvSpPr>
          <p:cNvPr id="10" name="Shape 8"/>
          <p:cNvSpPr/>
          <p:nvPr/>
        </p:nvSpPr>
        <p:spPr>
          <a:xfrm>
            <a:off x="822960" y="2715768"/>
            <a:ext cx="82296" cy="82296"/>
          </a:xfrm>
          <a:prstGeom prst="ellipse">
            <a:avLst/>
          </a:prstGeom>
          <a:solidFill>
            <a:srgbClr val="E2231A"/>
          </a:solidFill>
          <a:ln/>
        </p:spPr>
      </p:sp>
      <p:sp>
        <p:nvSpPr>
          <p:cNvPr id="11" name="Text 9"/>
          <p:cNvSpPr/>
          <p:nvPr/>
        </p:nvSpPr>
        <p:spPr>
          <a:xfrm>
            <a:off x="1005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Identifica cada equipo en la red</a:t>
            </a:r>
            <a:endParaRPr lang="en-US" sz="1300" dirty="0"/>
          </a:p>
        </p:txBody>
      </p:sp>
      <p:sp>
        <p:nvSpPr>
          <p:cNvPr id="12" name="Shape 10"/>
          <p:cNvSpPr/>
          <p:nvPr/>
        </p:nvSpPr>
        <p:spPr>
          <a:xfrm>
            <a:off x="822960" y="3282696"/>
            <a:ext cx="82296" cy="82296"/>
          </a:xfrm>
          <a:prstGeom prst="ellipse">
            <a:avLst/>
          </a:prstGeom>
          <a:solidFill>
            <a:srgbClr val="E2231A"/>
          </a:solidFill>
          <a:ln/>
        </p:spPr>
      </p:sp>
      <p:sp>
        <p:nvSpPr>
          <p:cNvPr id="13" name="Text 11"/>
          <p:cNvSpPr/>
          <p:nvPr/>
        </p:nvSpPr>
        <p:spPr>
          <a:xfrm>
            <a:off x="1005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Es la "dirección postal" del paquete</a:t>
            </a:r>
            <a:endParaRPr lang="en-US" sz="1300" dirty="0"/>
          </a:p>
        </p:txBody>
      </p:sp>
      <p:sp>
        <p:nvSpPr>
          <p:cNvPr id="14" name="Shape 12"/>
          <p:cNvSpPr/>
          <p:nvPr/>
        </p:nvSpPr>
        <p:spPr>
          <a:xfrm>
            <a:off x="822960" y="3849624"/>
            <a:ext cx="82296" cy="82296"/>
          </a:xfrm>
          <a:prstGeom prst="ellipse">
            <a:avLst/>
          </a:prstGeom>
          <a:solidFill>
            <a:srgbClr val="E2231A"/>
          </a:solidFill>
          <a:ln/>
        </p:spPr>
      </p:sp>
      <p:sp>
        <p:nvSpPr>
          <p:cNvPr id="15" name="Text 13"/>
          <p:cNvSpPr/>
          <p:nvPr/>
        </p:nvSpPr>
        <p:spPr>
          <a:xfrm>
            <a:off x="1005840" y="3739896"/>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IPv4 (ej. 192.168.1.10) e IPv6</a:t>
            </a:r>
            <a:endParaRPr lang="en-US" sz="1300" dirty="0"/>
          </a:p>
        </p:txBody>
      </p:sp>
      <p:sp>
        <p:nvSpPr>
          <p:cNvPr id="16" name="Shape 14"/>
          <p:cNvSpPr/>
          <p:nvPr/>
        </p:nvSpPr>
        <p:spPr>
          <a:xfrm>
            <a:off x="6263640" y="1691640"/>
            <a:ext cx="5212080" cy="4434840"/>
          </a:xfrm>
          <a:prstGeom prst="roundRect">
            <a:avLst>
              <a:gd name="adj" fmla="val 1649"/>
            </a:avLst>
          </a:prstGeom>
          <a:solidFill>
            <a:srgbClr val="F7F5F4"/>
          </a:solidFill>
          <a:ln w="9525">
            <a:solidFill>
              <a:srgbClr val="E7E1DF"/>
            </a:solidFill>
            <a:prstDash val="solid"/>
          </a:ln>
        </p:spPr>
      </p:sp>
      <p:sp>
        <p:nvSpPr>
          <p:cNvPr id="17" name="Shape 15"/>
          <p:cNvSpPr/>
          <p:nvPr/>
        </p:nvSpPr>
        <p:spPr>
          <a:xfrm>
            <a:off x="6263640" y="1691640"/>
            <a:ext cx="5212080" cy="685800"/>
          </a:xfrm>
          <a:prstGeom prst="roundRect">
            <a:avLst>
              <a:gd name="adj" fmla="val 10667"/>
            </a:avLst>
          </a:prstGeom>
          <a:solidFill>
            <a:srgbClr val="1A1A1A"/>
          </a:solidFill>
          <a:ln/>
        </p:spPr>
      </p:sp>
      <p:sp>
        <p:nvSpPr>
          <p:cNvPr id="18" name="Shape 16"/>
          <p:cNvSpPr/>
          <p:nvPr/>
        </p:nvSpPr>
        <p:spPr>
          <a:xfrm>
            <a:off x="6263640" y="2148840"/>
            <a:ext cx="5212080" cy="228600"/>
          </a:xfrm>
          <a:prstGeom prst="rect">
            <a:avLst/>
          </a:prstGeom>
          <a:solidFill>
            <a:srgbClr val="1A1A1A"/>
          </a:solidFill>
          <a:ln/>
        </p:spPr>
      </p:sp>
      <p:sp>
        <p:nvSpPr>
          <p:cNvPr id="19" name="Text 17"/>
          <p:cNvSpPr/>
          <p:nvPr/>
        </p:nvSpPr>
        <p:spPr>
          <a:xfrm>
            <a:off x="6537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TCP vs. UDP</a:t>
            </a:r>
            <a:endParaRPr lang="en-US" sz="1600" dirty="0"/>
          </a:p>
        </p:txBody>
      </p:sp>
      <p:sp>
        <p:nvSpPr>
          <p:cNvPr id="20" name="Shape 18"/>
          <p:cNvSpPr/>
          <p:nvPr/>
        </p:nvSpPr>
        <p:spPr>
          <a:xfrm>
            <a:off x="6537960" y="2715768"/>
            <a:ext cx="82296" cy="82296"/>
          </a:xfrm>
          <a:prstGeom prst="ellipse">
            <a:avLst/>
          </a:prstGeom>
          <a:solidFill>
            <a:srgbClr val="1A1A1A"/>
          </a:solidFill>
          <a:ln/>
        </p:spPr>
      </p:sp>
      <p:sp>
        <p:nvSpPr>
          <p:cNvPr id="21" name="Text 19"/>
          <p:cNvSpPr/>
          <p:nvPr/>
        </p:nvSpPr>
        <p:spPr>
          <a:xfrm>
            <a:off x="6720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TCP: confiable, con handshake previo</a:t>
            </a:r>
            <a:endParaRPr lang="en-US" sz="1300" dirty="0"/>
          </a:p>
        </p:txBody>
      </p:sp>
      <p:sp>
        <p:nvSpPr>
          <p:cNvPr id="22" name="Shape 20"/>
          <p:cNvSpPr/>
          <p:nvPr/>
        </p:nvSpPr>
        <p:spPr>
          <a:xfrm>
            <a:off x="6537960" y="3282696"/>
            <a:ext cx="82296" cy="82296"/>
          </a:xfrm>
          <a:prstGeom prst="ellipse">
            <a:avLst/>
          </a:prstGeom>
          <a:solidFill>
            <a:srgbClr val="1A1A1A"/>
          </a:solidFill>
          <a:ln/>
        </p:spPr>
      </p:sp>
      <p:sp>
        <p:nvSpPr>
          <p:cNvPr id="23" name="Text 21"/>
          <p:cNvSpPr/>
          <p:nvPr/>
        </p:nvSpPr>
        <p:spPr>
          <a:xfrm>
            <a:off x="6720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UDP: rápido, sin garantía de entrega</a:t>
            </a:r>
            <a:endParaRPr lang="en-US" sz="1300" dirty="0"/>
          </a:p>
        </p:txBody>
      </p:sp>
      <p:sp>
        <p:nvSpPr>
          <p:cNvPr id="24" name="Shape 22"/>
          <p:cNvSpPr/>
          <p:nvPr/>
        </p:nvSpPr>
        <p:spPr>
          <a:xfrm>
            <a:off x="6537960" y="3849624"/>
            <a:ext cx="82296" cy="82296"/>
          </a:xfrm>
          <a:prstGeom prst="ellipse">
            <a:avLst/>
          </a:prstGeom>
          <a:solidFill>
            <a:srgbClr val="1A1A1A"/>
          </a:solidFill>
          <a:ln/>
        </p:spPr>
      </p:sp>
      <p:sp>
        <p:nvSpPr>
          <p:cNvPr id="25" name="Text 23"/>
          <p:cNvSpPr/>
          <p:nvPr/>
        </p:nvSpPr>
        <p:spPr>
          <a:xfrm>
            <a:off x="6720840" y="3739896"/>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HTTP y TLS viajan sobre TCP</a:t>
            </a:r>
            <a:endParaRPr lang="en-US" sz="1300" dirty="0"/>
          </a:p>
        </p:txBody>
      </p:sp>
      <p:sp>
        <p:nvSpPr>
          <p:cNvPr id="26" name="Shape 24"/>
          <p:cNvSpPr/>
          <p:nvPr/>
        </p:nvSpPr>
        <p:spPr>
          <a:xfrm rot="2700000">
            <a:off x="502920" y="6501384"/>
            <a:ext cx="82296" cy="82296"/>
          </a:xfrm>
          <a:prstGeom prst="rect">
            <a:avLst/>
          </a:prstGeom>
          <a:solidFill>
            <a:srgbClr val="E2231A"/>
          </a:solidFill>
          <a:ln/>
        </p:spPr>
      </p:sp>
      <p:sp>
        <p:nvSpPr>
          <p:cNvPr id="27" name="Text 25"/>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IP, TCP Y UDP</a:t>
            </a:r>
            <a:endParaRPr lang="en-US" sz="800" dirty="0"/>
          </a:p>
        </p:txBody>
      </p:sp>
      <p:sp>
        <p:nvSpPr>
          <p:cNvPr id="28" name="Text 26"/>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COMPROBACIÓN RÁPIDA</a:t>
            </a:r>
            <a:endParaRPr lang="en-US" sz="1150" dirty="0"/>
          </a:p>
        </p:txBody>
      </p:sp>
      <p:sp>
        <p:nvSpPr>
          <p:cNvPr id="5" name="Text 3"/>
          <p:cNvSpPr/>
          <p:nvPr/>
        </p:nvSpPr>
        <p:spPr>
          <a:xfrm>
            <a:off x="548640" y="749808"/>
            <a:ext cx="10332720" cy="1234440"/>
          </a:xfrm>
          <a:prstGeom prst="rect">
            <a:avLst/>
          </a:prstGeom>
          <a:noFill/>
          <a:ln/>
        </p:spPr>
        <p:txBody>
          <a:bodyPr wrap="square" rtlCol="0" anchor="t"/>
          <a:lstStyle/>
          <a:p>
            <a:pPr indent="0" marL="0">
              <a:buNone/>
            </a:pPr>
            <a:r>
              <a:rPr lang="en-US" sz="2000" b="1" dirty="0">
                <a:solidFill>
                  <a:srgbClr val="1A1A1A"/>
                </a:solidFill>
                <a:latin typeface="Roboto" pitchFamily="34" charset="0"/>
                <a:ea typeface="Roboto" pitchFamily="34" charset="-122"/>
                <a:cs typeface="Roboto" pitchFamily="34" charset="-120"/>
              </a:rPr>
              <a:t>¿Por qué HTTP y TLS viajan sobre TCP y no sobre UDP?</a:t>
            </a:r>
            <a:endParaRPr lang="en-US" sz="2000" dirty="0"/>
          </a:p>
        </p:txBody>
      </p:sp>
      <p:sp>
        <p:nvSpPr>
          <p:cNvPr id="6" name="Shape 4"/>
          <p:cNvSpPr/>
          <p:nvPr/>
        </p:nvSpPr>
        <p:spPr>
          <a:xfrm>
            <a:off x="548640" y="2240280"/>
            <a:ext cx="5349240" cy="1371600"/>
          </a:xfrm>
          <a:prstGeom prst="roundRect">
            <a:avLst>
              <a:gd name="adj" fmla="val 6000"/>
            </a:avLst>
          </a:prstGeom>
          <a:solidFill>
            <a:srgbClr val="F7F5F4"/>
          </a:solidFill>
          <a:ln w="9525">
            <a:solidFill>
              <a:srgbClr val="E7E1DF"/>
            </a:solidFill>
            <a:prstDash val="solid"/>
          </a:ln>
        </p:spPr>
      </p:sp>
      <p:sp>
        <p:nvSpPr>
          <p:cNvPr id="7" name="Shape 5"/>
          <p:cNvSpPr/>
          <p:nvPr/>
        </p:nvSpPr>
        <p:spPr>
          <a:xfrm>
            <a:off x="777240" y="2468880"/>
            <a:ext cx="420624" cy="420624"/>
          </a:xfrm>
          <a:prstGeom prst="ellipse">
            <a:avLst/>
          </a:prstGeom>
          <a:solidFill>
            <a:srgbClr val="E2231A"/>
          </a:solidFill>
          <a:ln/>
        </p:spPr>
      </p:sp>
      <p:sp>
        <p:nvSpPr>
          <p:cNvPr id="8" name="Text 6"/>
          <p:cNvSpPr/>
          <p:nvPr/>
        </p:nvSpPr>
        <p:spPr>
          <a:xfrm>
            <a:off x="777240" y="2468880"/>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A</a:t>
            </a:r>
            <a:endParaRPr lang="en-US" sz="1500" dirty="0"/>
          </a:p>
        </p:txBody>
      </p:sp>
      <p:sp>
        <p:nvSpPr>
          <p:cNvPr id="9" name="Text 7"/>
          <p:cNvSpPr/>
          <p:nvPr/>
        </p:nvSpPr>
        <p:spPr>
          <a:xfrm>
            <a:off x="1371600" y="2377440"/>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A)  Porque TCP es, en todos los casos, más rápido que UDP.</a:t>
            </a:r>
            <a:endParaRPr lang="en-US" sz="1250" dirty="0"/>
          </a:p>
        </p:txBody>
      </p:sp>
      <p:sp>
        <p:nvSpPr>
          <p:cNvPr id="10" name="Shape 8"/>
          <p:cNvSpPr/>
          <p:nvPr/>
        </p:nvSpPr>
        <p:spPr>
          <a:xfrm>
            <a:off x="6217920" y="2240280"/>
            <a:ext cx="5349240" cy="1371600"/>
          </a:xfrm>
          <a:prstGeom prst="roundRect">
            <a:avLst>
              <a:gd name="adj" fmla="val 6000"/>
            </a:avLst>
          </a:prstGeom>
          <a:solidFill>
            <a:srgbClr val="F7F5F4"/>
          </a:solidFill>
          <a:ln w="9525">
            <a:solidFill>
              <a:srgbClr val="E7E1DF"/>
            </a:solidFill>
            <a:prstDash val="solid"/>
          </a:ln>
        </p:spPr>
      </p:sp>
      <p:sp>
        <p:nvSpPr>
          <p:cNvPr id="11" name="Shape 9"/>
          <p:cNvSpPr/>
          <p:nvPr/>
        </p:nvSpPr>
        <p:spPr>
          <a:xfrm>
            <a:off x="6446520" y="2468880"/>
            <a:ext cx="420624" cy="420624"/>
          </a:xfrm>
          <a:prstGeom prst="ellipse">
            <a:avLst/>
          </a:prstGeom>
          <a:solidFill>
            <a:srgbClr val="E2231A"/>
          </a:solidFill>
          <a:ln/>
        </p:spPr>
      </p:sp>
      <p:sp>
        <p:nvSpPr>
          <p:cNvPr id="12" name="Text 10"/>
          <p:cNvSpPr/>
          <p:nvPr/>
        </p:nvSpPr>
        <p:spPr>
          <a:xfrm>
            <a:off x="6446520" y="2468880"/>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B</a:t>
            </a:r>
            <a:endParaRPr lang="en-US" sz="1500" dirty="0"/>
          </a:p>
        </p:txBody>
      </p:sp>
      <p:sp>
        <p:nvSpPr>
          <p:cNvPr id="13" name="Text 11"/>
          <p:cNvSpPr/>
          <p:nvPr/>
        </p:nvSpPr>
        <p:spPr>
          <a:xfrm>
            <a:off x="7040880" y="2377440"/>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B)  Porque TCP establece una conexión confiable (handshake) antes de transmitir los datos de aplicación.</a:t>
            </a:r>
            <a:endParaRPr lang="en-US" sz="1250" dirty="0"/>
          </a:p>
        </p:txBody>
      </p:sp>
      <p:sp>
        <p:nvSpPr>
          <p:cNvPr id="14" name="Shape 12"/>
          <p:cNvSpPr/>
          <p:nvPr/>
        </p:nvSpPr>
        <p:spPr>
          <a:xfrm>
            <a:off x="548640" y="3867912"/>
            <a:ext cx="5349240" cy="1371600"/>
          </a:xfrm>
          <a:prstGeom prst="roundRect">
            <a:avLst>
              <a:gd name="adj" fmla="val 6000"/>
            </a:avLst>
          </a:prstGeom>
          <a:solidFill>
            <a:srgbClr val="F7F5F4"/>
          </a:solidFill>
          <a:ln w="9525">
            <a:solidFill>
              <a:srgbClr val="E7E1DF"/>
            </a:solidFill>
            <a:prstDash val="solid"/>
          </a:ln>
        </p:spPr>
      </p:sp>
      <p:sp>
        <p:nvSpPr>
          <p:cNvPr id="15" name="Shape 13"/>
          <p:cNvSpPr/>
          <p:nvPr/>
        </p:nvSpPr>
        <p:spPr>
          <a:xfrm>
            <a:off x="777240" y="4096512"/>
            <a:ext cx="420624" cy="420624"/>
          </a:xfrm>
          <a:prstGeom prst="ellipse">
            <a:avLst/>
          </a:prstGeom>
          <a:solidFill>
            <a:srgbClr val="E2231A"/>
          </a:solidFill>
          <a:ln/>
        </p:spPr>
      </p:sp>
      <p:sp>
        <p:nvSpPr>
          <p:cNvPr id="16" name="Text 14"/>
          <p:cNvSpPr/>
          <p:nvPr/>
        </p:nvSpPr>
        <p:spPr>
          <a:xfrm>
            <a:off x="777240" y="4096512"/>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C</a:t>
            </a:r>
            <a:endParaRPr lang="en-US" sz="1500" dirty="0"/>
          </a:p>
        </p:txBody>
      </p:sp>
      <p:sp>
        <p:nvSpPr>
          <p:cNvPr id="17" name="Text 15"/>
          <p:cNvSpPr/>
          <p:nvPr/>
        </p:nvSpPr>
        <p:spPr>
          <a:xfrm>
            <a:off x="1371600" y="4005072"/>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C)  Porque UDP no puede usarse en redes que trabajan con direcciones IP.</a:t>
            </a:r>
            <a:endParaRPr lang="en-US" sz="1250" dirty="0"/>
          </a:p>
        </p:txBody>
      </p:sp>
      <p:sp>
        <p:nvSpPr>
          <p:cNvPr id="18" name="Shape 16"/>
          <p:cNvSpPr/>
          <p:nvPr/>
        </p:nvSpPr>
        <p:spPr>
          <a:xfrm>
            <a:off x="6217920" y="3867912"/>
            <a:ext cx="5349240" cy="1371600"/>
          </a:xfrm>
          <a:prstGeom prst="roundRect">
            <a:avLst>
              <a:gd name="adj" fmla="val 6000"/>
            </a:avLst>
          </a:prstGeom>
          <a:solidFill>
            <a:srgbClr val="F7F5F4"/>
          </a:solidFill>
          <a:ln w="9525">
            <a:solidFill>
              <a:srgbClr val="E7E1DF"/>
            </a:solidFill>
            <a:prstDash val="solid"/>
          </a:ln>
        </p:spPr>
      </p:sp>
      <p:sp>
        <p:nvSpPr>
          <p:cNvPr id="19" name="Shape 17"/>
          <p:cNvSpPr/>
          <p:nvPr/>
        </p:nvSpPr>
        <p:spPr>
          <a:xfrm>
            <a:off x="6446520" y="4096512"/>
            <a:ext cx="420624" cy="420624"/>
          </a:xfrm>
          <a:prstGeom prst="ellipse">
            <a:avLst/>
          </a:prstGeom>
          <a:solidFill>
            <a:srgbClr val="E2231A"/>
          </a:solidFill>
          <a:ln/>
        </p:spPr>
      </p:sp>
      <p:sp>
        <p:nvSpPr>
          <p:cNvPr id="20" name="Text 18"/>
          <p:cNvSpPr/>
          <p:nvPr/>
        </p:nvSpPr>
        <p:spPr>
          <a:xfrm>
            <a:off x="6446520" y="4096512"/>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D</a:t>
            </a:r>
            <a:endParaRPr lang="en-US" sz="1500" dirty="0"/>
          </a:p>
        </p:txBody>
      </p:sp>
      <p:sp>
        <p:nvSpPr>
          <p:cNvPr id="21" name="Text 19"/>
          <p:cNvSpPr/>
          <p:nvPr/>
        </p:nvSpPr>
        <p:spPr>
          <a:xfrm>
            <a:off x="7040880" y="4005072"/>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D)  Porque TLS únicamente es compatible con direcciones IPv6.</a:t>
            </a:r>
            <a:endParaRPr lang="en-US" sz="1250" dirty="0"/>
          </a:p>
        </p:txBody>
      </p:sp>
      <p:sp>
        <p:nvSpPr>
          <p:cNvPr id="22" name="Text 20"/>
          <p:cNvSpPr/>
          <p:nvPr/>
        </p:nvSpPr>
        <p:spPr>
          <a:xfrm>
            <a:off x="548640" y="5541264"/>
            <a:ext cx="11064240" cy="365760"/>
          </a:xfrm>
          <a:prstGeom prst="rect">
            <a:avLst/>
          </a:prstGeom>
          <a:noFill/>
          <a:ln/>
        </p:spPr>
        <p:txBody>
          <a:bodyPr wrap="square" rtlCol="0" anchor="ctr"/>
          <a:lstStyle/>
          <a:p>
            <a:pPr indent="0" marL="0">
              <a:buNone/>
            </a:pPr>
            <a:r>
              <a:rPr lang="en-US" sz="1150" i="1" dirty="0">
                <a:solidFill>
                  <a:srgbClr val="6B6B6B"/>
                </a:solidFill>
                <a:latin typeface="Roboto" pitchFamily="34" charset="0"/>
                <a:ea typeface="Roboto" pitchFamily="34" charset="-122"/>
                <a:cs typeface="Roboto" pitchFamily="34" charset="-120"/>
              </a:rPr>
              <a:t>Elige tu respuesta antes de que el instructor revele la correcta.</a:t>
            </a:r>
            <a:endParaRPr lang="en-US" sz="1150" dirty="0"/>
          </a:p>
        </p:txBody>
      </p:sp>
      <p:sp>
        <p:nvSpPr>
          <p:cNvPr id="23" name="Shape 21"/>
          <p:cNvSpPr/>
          <p:nvPr/>
        </p:nvSpPr>
        <p:spPr>
          <a:xfrm rot="2700000">
            <a:off x="502920" y="6501384"/>
            <a:ext cx="82296" cy="82296"/>
          </a:xfrm>
          <a:prstGeom prst="rect">
            <a:avLst/>
          </a:prstGeom>
          <a:solidFill>
            <a:srgbClr val="E2231A"/>
          </a:solidFill>
          <a:ln/>
        </p:spPr>
      </p:sp>
      <p:sp>
        <p:nvSpPr>
          <p:cNvPr id="24" name="Text 22"/>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COMPROBACIÓN RÁPIDA</a:t>
            </a:r>
            <a:endParaRPr lang="en-US" sz="800" dirty="0"/>
          </a:p>
        </p:txBody>
      </p:sp>
      <p:sp>
        <p:nvSpPr>
          <p:cNvPr id="25" name="Text 23"/>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FUNDAMENTOS DE LINUX</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Comandos esenciales que usaremos en Kali</a:t>
            </a:r>
            <a:endParaRPr lang="en-US" sz="2500" dirty="0"/>
          </a:p>
        </p:txBody>
      </p:sp>
      <p:sp>
        <p:nvSpPr>
          <p:cNvPr id="6" name="Text 4"/>
          <p:cNvSpPr/>
          <p:nvPr/>
        </p:nvSpPr>
        <p:spPr>
          <a:xfrm>
            <a:off x="548640" y="1600200"/>
            <a:ext cx="11064240" cy="365760"/>
          </a:xfrm>
          <a:prstGeom prst="rect">
            <a:avLst/>
          </a:prstGeom>
          <a:noFill/>
          <a:ln/>
        </p:spPr>
        <p:txBody>
          <a:bodyPr wrap="square" rtlCol="0" anchor="ctr"/>
          <a:lstStyle/>
          <a:p>
            <a:pPr indent="0" marL="0">
              <a:buNone/>
            </a:pPr>
            <a:r>
              <a:rPr lang="en-US" sz="1300" dirty="0">
                <a:solidFill>
                  <a:srgbClr val="6B6B6B"/>
                </a:solidFill>
                <a:latin typeface="Roboto" pitchFamily="34" charset="0"/>
                <a:ea typeface="Roboto" pitchFamily="34" charset="-122"/>
                <a:cs typeface="Roboto" pitchFamily="34" charset="-120"/>
              </a:rPr>
              <a:t>No es necesario memorizarlos hoy: se practican en vivo en el siguiente bloque.</a:t>
            </a:r>
            <a:endParaRPr lang="en-US" sz="1300" dirty="0"/>
          </a:p>
        </p:txBody>
      </p:sp>
      <p:sp>
        <p:nvSpPr>
          <p:cNvPr id="7" name="Shape 5"/>
          <p:cNvSpPr/>
          <p:nvPr/>
        </p:nvSpPr>
        <p:spPr>
          <a:xfrm>
            <a:off x="548640" y="2103120"/>
            <a:ext cx="11064240" cy="566928"/>
          </a:xfrm>
          <a:prstGeom prst="roundRect">
            <a:avLst>
              <a:gd name="adj" fmla="val 8065"/>
            </a:avLst>
          </a:prstGeom>
          <a:solidFill>
            <a:srgbClr val="1A1A1A"/>
          </a:solidFill>
          <a:ln/>
        </p:spPr>
      </p:sp>
      <p:sp>
        <p:nvSpPr>
          <p:cNvPr id="8" name="Shape 6"/>
          <p:cNvSpPr/>
          <p:nvPr/>
        </p:nvSpPr>
        <p:spPr>
          <a:xfrm>
            <a:off x="548640" y="2103120"/>
            <a:ext cx="54864" cy="566928"/>
          </a:xfrm>
          <a:prstGeom prst="rect">
            <a:avLst/>
          </a:prstGeom>
          <a:solidFill>
            <a:srgbClr val="E2231A"/>
          </a:solidFill>
          <a:ln/>
        </p:spPr>
      </p:sp>
      <p:sp>
        <p:nvSpPr>
          <p:cNvPr id="9" name="Text 7"/>
          <p:cNvSpPr/>
          <p:nvPr/>
        </p:nvSpPr>
        <p:spPr>
          <a:xfrm>
            <a:off x="822960" y="2103120"/>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ip a</a:t>
            </a:r>
            <a:endParaRPr lang="en-US" sz="1300" dirty="0"/>
          </a:p>
        </p:txBody>
      </p:sp>
      <p:sp>
        <p:nvSpPr>
          <p:cNvPr id="10" name="Text 8"/>
          <p:cNvSpPr/>
          <p:nvPr/>
        </p:nvSpPr>
        <p:spPr>
          <a:xfrm>
            <a:off x="6949440" y="2103120"/>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Muestra las interfaces de red y sus IPs</a:t>
            </a:r>
            <a:endParaRPr lang="en-US" sz="1100" dirty="0"/>
          </a:p>
        </p:txBody>
      </p:sp>
      <p:sp>
        <p:nvSpPr>
          <p:cNvPr id="11" name="Shape 9"/>
          <p:cNvSpPr/>
          <p:nvPr/>
        </p:nvSpPr>
        <p:spPr>
          <a:xfrm>
            <a:off x="548640" y="2798064"/>
            <a:ext cx="11064240" cy="566928"/>
          </a:xfrm>
          <a:prstGeom prst="roundRect">
            <a:avLst>
              <a:gd name="adj" fmla="val 8065"/>
            </a:avLst>
          </a:prstGeom>
          <a:solidFill>
            <a:srgbClr val="1A1A1A"/>
          </a:solidFill>
          <a:ln/>
        </p:spPr>
      </p:sp>
      <p:sp>
        <p:nvSpPr>
          <p:cNvPr id="12" name="Shape 10"/>
          <p:cNvSpPr/>
          <p:nvPr/>
        </p:nvSpPr>
        <p:spPr>
          <a:xfrm>
            <a:off x="548640" y="2798064"/>
            <a:ext cx="54864" cy="566928"/>
          </a:xfrm>
          <a:prstGeom prst="rect">
            <a:avLst/>
          </a:prstGeom>
          <a:solidFill>
            <a:srgbClr val="E2231A"/>
          </a:solidFill>
          <a:ln/>
        </p:spPr>
      </p:sp>
      <p:sp>
        <p:nvSpPr>
          <p:cNvPr id="13" name="Text 11"/>
          <p:cNvSpPr/>
          <p:nvPr/>
        </p:nvSpPr>
        <p:spPr>
          <a:xfrm>
            <a:off x="822960" y="2798064"/>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ss -tulpn</a:t>
            </a:r>
            <a:endParaRPr lang="en-US" sz="1300" dirty="0"/>
          </a:p>
        </p:txBody>
      </p:sp>
      <p:sp>
        <p:nvSpPr>
          <p:cNvPr id="14" name="Text 12"/>
          <p:cNvSpPr/>
          <p:nvPr/>
        </p:nvSpPr>
        <p:spPr>
          <a:xfrm>
            <a:off x="6949440" y="2798064"/>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Puertos y servicios en escucha</a:t>
            </a:r>
            <a:endParaRPr lang="en-US" sz="1100" dirty="0"/>
          </a:p>
        </p:txBody>
      </p:sp>
      <p:sp>
        <p:nvSpPr>
          <p:cNvPr id="15" name="Shape 13"/>
          <p:cNvSpPr/>
          <p:nvPr/>
        </p:nvSpPr>
        <p:spPr>
          <a:xfrm>
            <a:off x="548640" y="3493008"/>
            <a:ext cx="11064240" cy="566928"/>
          </a:xfrm>
          <a:prstGeom prst="roundRect">
            <a:avLst>
              <a:gd name="adj" fmla="val 8065"/>
            </a:avLst>
          </a:prstGeom>
          <a:solidFill>
            <a:srgbClr val="1A1A1A"/>
          </a:solidFill>
          <a:ln/>
        </p:spPr>
      </p:sp>
      <p:sp>
        <p:nvSpPr>
          <p:cNvPr id="16" name="Shape 14"/>
          <p:cNvSpPr/>
          <p:nvPr/>
        </p:nvSpPr>
        <p:spPr>
          <a:xfrm>
            <a:off x="548640" y="3493008"/>
            <a:ext cx="54864" cy="566928"/>
          </a:xfrm>
          <a:prstGeom prst="rect">
            <a:avLst/>
          </a:prstGeom>
          <a:solidFill>
            <a:srgbClr val="E2231A"/>
          </a:solidFill>
          <a:ln/>
        </p:spPr>
      </p:sp>
      <p:sp>
        <p:nvSpPr>
          <p:cNvPr id="17" name="Text 15"/>
          <p:cNvSpPr/>
          <p:nvPr/>
        </p:nvSpPr>
        <p:spPr>
          <a:xfrm>
            <a:off x="822960" y="3493008"/>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ps aux</a:t>
            </a:r>
            <a:endParaRPr lang="en-US" sz="1300" dirty="0"/>
          </a:p>
        </p:txBody>
      </p:sp>
      <p:sp>
        <p:nvSpPr>
          <p:cNvPr id="18" name="Text 16"/>
          <p:cNvSpPr/>
          <p:nvPr/>
        </p:nvSpPr>
        <p:spPr>
          <a:xfrm>
            <a:off x="6949440" y="3493008"/>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Procesos en ejecución</a:t>
            </a:r>
            <a:endParaRPr lang="en-US" sz="1100" dirty="0"/>
          </a:p>
        </p:txBody>
      </p:sp>
      <p:sp>
        <p:nvSpPr>
          <p:cNvPr id="19" name="Shape 17"/>
          <p:cNvSpPr/>
          <p:nvPr/>
        </p:nvSpPr>
        <p:spPr>
          <a:xfrm>
            <a:off x="548640" y="4187952"/>
            <a:ext cx="11064240" cy="566928"/>
          </a:xfrm>
          <a:prstGeom prst="roundRect">
            <a:avLst>
              <a:gd name="adj" fmla="val 8065"/>
            </a:avLst>
          </a:prstGeom>
          <a:solidFill>
            <a:srgbClr val="1A1A1A"/>
          </a:solidFill>
          <a:ln/>
        </p:spPr>
      </p:sp>
      <p:sp>
        <p:nvSpPr>
          <p:cNvPr id="20" name="Shape 18"/>
          <p:cNvSpPr/>
          <p:nvPr/>
        </p:nvSpPr>
        <p:spPr>
          <a:xfrm>
            <a:off x="548640" y="4187952"/>
            <a:ext cx="54864" cy="566928"/>
          </a:xfrm>
          <a:prstGeom prst="rect">
            <a:avLst/>
          </a:prstGeom>
          <a:solidFill>
            <a:srgbClr val="E2231A"/>
          </a:solidFill>
          <a:ln/>
        </p:spPr>
      </p:sp>
      <p:sp>
        <p:nvSpPr>
          <p:cNvPr id="21" name="Text 19"/>
          <p:cNvSpPr/>
          <p:nvPr/>
        </p:nvSpPr>
        <p:spPr>
          <a:xfrm>
            <a:off x="822960" y="4187952"/>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curl -v &lt;url&gt;</a:t>
            </a:r>
            <a:endParaRPr lang="en-US" sz="1300" dirty="0"/>
          </a:p>
        </p:txBody>
      </p:sp>
      <p:sp>
        <p:nvSpPr>
          <p:cNvPr id="22" name="Text 20"/>
          <p:cNvSpPr/>
          <p:nvPr/>
        </p:nvSpPr>
        <p:spPr>
          <a:xfrm>
            <a:off x="6949440" y="4187952"/>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Petición HTTP con detalle completo</a:t>
            </a:r>
            <a:endParaRPr lang="en-US" sz="1100" dirty="0"/>
          </a:p>
        </p:txBody>
      </p:sp>
      <p:sp>
        <p:nvSpPr>
          <p:cNvPr id="23" name="Shape 21"/>
          <p:cNvSpPr/>
          <p:nvPr/>
        </p:nvSpPr>
        <p:spPr>
          <a:xfrm rot="2700000">
            <a:off x="502920" y="6501384"/>
            <a:ext cx="82296" cy="82296"/>
          </a:xfrm>
          <a:prstGeom prst="rect">
            <a:avLst/>
          </a:prstGeom>
          <a:solidFill>
            <a:srgbClr val="E2231A"/>
          </a:solidFill>
          <a:ln/>
        </p:spPr>
      </p:sp>
      <p:sp>
        <p:nvSpPr>
          <p:cNvPr id="24" name="Text 22"/>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FUNDAMENTOS DE LINUX</a:t>
            </a:r>
            <a:endParaRPr lang="en-US" sz="800" dirty="0"/>
          </a:p>
        </p:txBody>
      </p:sp>
      <p:sp>
        <p:nvSpPr>
          <p:cNvPr id="25" name="Text 23"/>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ARQUITECTURA WEB</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Arquitectura cliente-servidor</a:t>
            </a:r>
            <a:endParaRPr lang="en-US" sz="2500" dirty="0"/>
          </a:p>
        </p:txBody>
      </p:sp>
      <p:sp>
        <p:nvSpPr>
          <p:cNvPr id="6" name="Shape 4"/>
          <p:cNvSpPr/>
          <p:nvPr/>
        </p:nvSpPr>
        <p:spPr>
          <a:xfrm>
            <a:off x="548640" y="2743200"/>
            <a:ext cx="2587752" cy="1371600"/>
          </a:xfrm>
          <a:prstGeom prst="roundRect">
            <a:avLst>
              <a:gd name="adj" fmla="val 5333"/>
            </a:avLst>
          </a:prstGeom>
          <a:solidFill>
            <a:srgbClr val="E2231A"/>
          </a:solidFill>
          <a:ln/>
        </p:spPr>
      </p:sp>
      <p:sp>
        <p:nvSpPr>
          <p:cNvPr id="7" name="Text 5"/>
          <p:cNvSpPr/>
          <p:nvPr/>
        </p:nvSpPr>
        <p:spPr>
          <a:xfrm>
            <a:off x="621792" y="2834640"/>
            <a:ext cx="2441448"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Cliente</a:t>
            </a:r>
            <a:endParaRPr lang="en-US" sz="1250" dirty="0"/>
          </a:p>
        </p:txBody>
      </p:sp>
      <p:sp>
        <p:nvSpPr>
          <p:cNvPr id="8" name="Text 6"/>
          <p:cNvSpPr/>
          <p:nvPr/>
        </p:nvSpPr>
        <p:spPr>
          <a:xfrm>
            <a:off x="621792" y="3310128"/>
            <a:ext cx="2441448"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Firefox, curl, la app del usuario</a:t>
            </a:r>
            <a:endParaRPr lang="en-US" sz="1000" dirty="0"/>
          </a:p>
        </p:txBody>
      </p:sp>
      <p:sp>
        <p:nvSpPr>
          <p:cNvPr id="9" name="Text 7"/>
          <p:cNvSpPr/>
          <p:nvPr/>
        </p:nvSpPr>
        <p:spPr>
          <a:xfrm>
            <a:off x="3136392"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0" name="Shape 8"/>
          <p:cNvSpPr/>
          <p:nvPr/>
        </p:nvSpPr>
        <p:spPr>
          <a:xfrm>
            <a:off x="3374136" y="2743200"/>
            <a:ext cx="2587752" cy="1371600"/>
          </a:xfrm>
          <a:prstGeom prst="roundRect">
            <a:avLst>
              <a:gd name="adj" fmla="val 5333"/>
            </a:avLst>
          </a:prstGeom>
          <a:solidFill>
            <a:srgbClr val="1A1A1A"/>
          </a:solidFill>
          <a:ln/>
        </p:spPr>
      </p:sp>
      <p:sp>
        <p:nvSpPr>
          <p:cNvPr id="11" name="Text 9"/>
          <p:cNvSpPr/>
          <p:nvPr/>
        </p:nvSpPr>
        <p:spPr>
          <a:xfrm>
            <a:off x="3447288" y="2834640"/>
            <a:ext cx="2441448"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Solicitud</a:t>
            </a:r>
            <a:endParaRPr lang="en-US" sz="1250" dirty="0"/>
          </a:p>
        </p:txBody>
      </p:sp>
      <p:sp>
        <p:nvSpPr>
          <p:cNvPr id="12" name="Text 10"/>
          <p:cNvSpPr/>
          <p:nvPr/>
        </p:nvSpPr>
        <p:spPr>
          <a:xfrm>
            <a:off x="3447288" y="3310128"/>
            <a:ext cx="2441448"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Pide un recurso</a:t>
            </a:r>
            <a:endParaRPr lang="en-US" sz="1000" dirty="0"/>
          </a:p>
        </p:txBody>
      </p:sp>
      <p:sp>
        <p:nvSpPr>
          <p:cNvPr id="13" name="Text 11"/>
          <p:cNvSpPr/>
          <p:nvPr/>
        </p:nvSpPr>
        <p:spPr>
          <a:xfrm>
            <a:off x="5961888"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4" name="Shape 12"/>
          <p:cNvSpPr/>
          <p:nvPr/>
        </p:nvSpPr>
        <p:spPr>
          <a:xfrm>
            <a:off x="6199632" y="2743200"/>
            <a:ext cx="2587752" cy="1371600"/>
          </a:xfrm>
          <a:prstGeom prst="roundRect">
            <a:avLst>
              <a:gd name="adj" fmla="val 5333"/>
            </a:avLst>
          </a:prstGeom>
          <a:solidFill>
            <a:srgbClr val="E2231A"/>
          </a:solidFill>
          <a:ln/>
        </p:spPr>
      </p:sp>
      <p:sp>
        <p:nvSpPr>
          <p:cNvPr id="15" name="Text 13"/>
          <p:cNvSpPr/>
          <p:nvPr/>
        </p:nvSpPr>
        <p:spPr>
          <a:xfrm>
            <a:off x="6272784" y="2834640"/>
            <a:ext cx="2441448"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Servidor</a:t>
            </a:r>
            <a:endParaRPr lang="en-US" sz="1250" dirty="0"/>
          </a:p>
        </p:txBody>
      </p:sp>
      <p:sp>
        <p:nvSpPr>
          <p:cNvPr id="16" name="Text 14"/>
          <p:cNvSpPr/>
          <p:nvPr/>
        </p:nvSpPr>
        <p:spPr>
          <a:xfrm>
            <a:off x="6272784" y="3310128"/>
            <a:ext cx="2441448"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Procesa y responde</a:t>
            </a:r>
            <a:endParaRPr lang="en-US" sz="1000" dirty="0"/>
          </a:p>
        </p:txBody>
      </p:sp>
      <p:sp>
        <p:nvSpPr>
          <p:cNvPr id="17" name="Text 15"/>
          <p:cNvSpPr/>
          <p:nvPr/>
        </p:nvSpPr>
        <p:spPr>
          <a:xfrm>
            <a:off x="8787384"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8" name="Shape 16"/>
          <p:cNvSpPr/>
          <p:nvPr/>
        </p:nvSpPr>
        <p:spPr>
          <a:xfrm>
            <a:off x="9025128" y="2743200"/>
            <a:ext cx="2587752" cy="1371600"/>
          </a:xfrm>
          <a:prstGeom prst="roundRect">
            <a:avLst>
              <a:gd name="adj" fmla="val 5333"/>
            </a:avLst>
          </a:prstGeom>
          <a:solidFill>
            <a:srgbClr val="1A1A1A"/>
          </a:solidFill>
          <a:ln/>
        </p:spPr>
      </p:sp>
      <p:sp>
        <p:nvSpPr>
          <p:cNvPr id="19" name="Text 17"/>
          <p:cNvSpPr/>
          <p:nvPr/>
        </p:nvSpPr>
        <p:spPr>
          <a:xfrm>
            <a:off x="9098280" y="2834640"/>
            <a:ext cx="2441448"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Respuesta</a:t>
            </a:r>
            <a:endParaRPr lang="en-US" sz="1250" dirty="0"/>
          </a:p>
        </p:txBody>
      </p:sp>
      <p:sp>
        <p:nvSpPr>
          <p:cNvPr id="20" name="Text 18"/>
          <p:cNvSpPr/>
          <p:nvPr/>
        </p:nvSpPr>
        <p:spPr>
          <a:xfrm>
            <a:off x="9098280" y="3310128"/>
            <a:ext cx="2441448"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Regresa el recurso solicitado</a:t>
            </a:r>
            <a:endParaRPr lang="en-US" sz="1000" dirty="0"/>
          </a:p>
        </p:txBody>
      </p:sp>
      <p:sp>
        <p:nvSpPr>
          <p:cNvPr id="21" name="Shape 19"/>
          <p:cNvSpPr/>
          <p:nvPr/>
        </p:nvSpPr>
        <p:spPr>
          <a:xfrm rot="2700000">
            <a:off x="502920" y="6501384"/>
            <a:ext cx="82296" cy="82296"/>
          </a:xfrm>
          <a:prstGeom prst="rect">
            <a:avLst/>
          </a:prstGeom>
          <a:solidFill>
            <a:srgbClr val="E2231A"/>
          </a:solidFill>
          <a:ln/>
        </p:spPr>
      </p:sp>
      <p:sp>
        <p:nvSpPr>
          <p:cNvPr id="22" name="Text 20"/>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ARQUITECTURA WEB</a:t>
            </a:r>
            <a:endParaRPr lang="en-US" sz="800" dirty="0"/>
          </a:p>
        </p:txBody>
      </p:sp>
      <p:sp>
        <p:nvSpPr>
          <p:cNvPr id="23" name="Text 21"/>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MAPA DE ACTIVOS</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¿Qué es un activo y un mapa de activos?</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Activo</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Cualquier recurso de infraestructura web identificable: un dominio, un subdominio, un servidor, una API.</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Mapa de activos</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Inventario organizado de los activos conocidos de una organización, con su origen y estado.</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Activo propio vs. de terceros</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Un servicio en la nube o un CDN puede aparecer como activo sin ser operado directamente por la organización.</a:t>
            </a:r>
            <a:endParaRPr lang="en-US" sz="1250" dirty="0"/>
          </a:p>
        </p:txBody>
      </p:sp>
      <p:sp>
        <p:nvSpPr>
          <p:cNvPr id="18" name="Shape 16"/>
          <p:cNvSpPr/>
          <p:nvPr/>
        </p:nvSpPr>
        <p:spPr>
          <a:xfrm rot="2700000">
            <a:off x="502920" y="6501384"/>
            <a:ext cx="82296" cy="82296"/>
          </a:xfrm>
          <a:prstGeom prst="rect">
            <a:avLst/>
          </a:prstGeom>
          <a:solidFill>
            <a:srgbClr val="E2231A"/>
          </a:solidFill>
          <a:ln/>
        </p:spPr>
      </p:sp>
      <p:sp>
        <p:nvSpPr>
          <p:cNvPr id="19" name="Text 1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MAPA DE ACTIVOS</a:t>
            </a:r>
            <a:endParaRPr lang="en-US" sz="800" dirty="0"/>
          </a:p>
        </p:txBody>
      </p:sp>
      <p:sp>
        <p:nvSpPr>
          <p:cNvPr id="20" name="Text 1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PANORAMA (SE DETALLA EN SESIÓN 2)</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Flujo de una solicitud web — vista preliminar</a:t>
            </a:r>
            <a:endParaRPr lang="en-US" sz="2500" dirty="0"/>
          </a:p>
        </p:txBody>
      </p:sp>
      <p:sp>
        <p:nvSpPr>
          <p:cNvPr id="6" name="Shape 4"/>
          <p:cNvSpPr/>
          <p:nvPr/>
        </p:nvSpPr>
        <p:spPr>
          <a:xfrm>
            <a:off x="548640" y="2743200"/>
            <a:ext cx="1645920" cy="1371600"/>
          </a:xfrm>
          <a:prstGeom prst="roundRect">
            <a:avLst>
              <a:gd name="adj" fmla="val 5333"/>
            </a:avLst>
          </a:prstGeom>
          <a:solidFill>
            <a:srgbClr val="E2231A"/>
          </a:solidFill>
          <a:ln/>
        </p:spPr>
      </p:sp>
      <p:sp>
        <p:nvSpPr>
          <p:cNvPr id="7" name="Text 5"/>
          <p:cNvSpPr/>
          <p:nvPr/>
        </p:nvSpPr>
        <p:spPr>
          <a:xfrm>
            <a:off x="621792"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DNS</a:t>
            </a:r>
            <a:endParaRPr lang="en-US" sz="1250" dirty="0"/>
          </a:p>
        </p:txBody>
      </p:sp>
      <p:sp>
        <p:nvSpPr>
          <p:cNvPr id="8" name="Text 6"/>
          <p:cNvSpPr/>
          <p:nvPr/>
        </p:nvSpPr>
        <p:spPr>
          <a:xfrm>
            <a:off x="621792"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Nombre → IP</a:t>
            </a:r>
            <a:endParaRPr lang="en-US" sz="1000" dirty="0"/>
          </a:p>
        </p:txBody>
      </p:sp>
      <p:sp>
        <p:nvSpPr>
          <p:cNvPr id="9" name="Text 7"/>
          <p:cNvSpPr/>
          <p:nvPr/>
        </p:nvSpPr>
        <p:spPr>
          <a:xfrm>
            <a:off x="2194560"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0" name="Shape 8"/>
          <p:cNvSpPr/>
          <p:nvPr/>
        </p:nvSpPr>
        <p:spPr>
          <a:xfrm>
            <a:off x="2432304" y="2743200"/>
            <a:ext cx="1645920" cy="1371600"/>
          </a:xfrm>
          <a:prstGeom prst="roundRect">
            <a:avLst>
              <a:gd name="adj" fmla="val 5333"/>
            </a:avLst>
          </a:prstGeom>
          <a:solidFill>
            <a:srgbClr val="1A1A1A"/>
          </a:solidFill>
          <a:ln/>
        </p:spPr>
      </p:sp>
      <p:sp>
        <p:nvSpPr>
          <p:cNvPr id="11" name="Text 9"/>
          <p:cNvSpPr/>
          <p:nvPr/>
        </p:nvSpPr>
        <p:spPr>
          <a:xfrm>
            <a:off x="2505456"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IP</a:t>
            </a:r>
            <a:endParaRPr lang="en-US" sz="1250" dirty="0"/>
          </a:p>
        </p:txBody>
      </p:sp>
      <p:sp>
        <p:nvSpPr>
          <p:cNvPr id="12" name="Text 10"/>
          <p:cNvSpPr/>
          <p:nvPr/>
        </p:nvSpPr>
        <p:spPr>
          <a:xfrm>
            <a:off x="2505456"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Dirección del servidor</a:t>
            </a:r>
            <a:endParaRPr lang="en-US" sz="1000" dirty="0"/>
          </a:p>
        </p:txBody>
      </p:sp>
      <p:sp>
        <p:nvSpPr>
          <p:cNvPr id="13" name="Text 11"/>
          <p:cNvSpPr/>
          <p:nvPr/>
        </p:nvSpPr>
        <p:spPr>
          <a:xfrm>
            <a:off x="4078224"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4" name="Shape 12"/>
          <p:cNvSpPr/>
          <p:nvPr/>
        </p:nvSpPr>
        <p:spPr>
          <a:xfrm>
            <a:off x="4315968" y="2743200"/>
            <a:ext cx="1645920" cy="1371600"/>
          </a:xfrm>
          <a:prstGeom prst="roundRect">
            <a:avLst>
              <a:gd name="adj" fmla="val 5333"/>
            </a:avLst>
          </a:prstGeom>
          <a:solidFill>
            <a:srgbClr val="E2231A"/>
          </a:solidFill>
          <a:ln/>
        </p:spPr>
      </p:sp>
      <p:sp>
        <p:nvSpPr>
          <p:cNvPr id="15" name="Text 13"/>
          <p:cNvSpPr/>
          <p:nvPr/>
        </p:nvSpPr>
        <p:spPr>
          <a:xfrm>
            <a:off x="4389120"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TCP</a:t>
            </a:r>
            <a:endParaRPr lang="en-US" sz="1250" dirty="0"/>
          </a:p>
        </p:txBody>
      </p:sp>
      <p:sp>
        <p:nvSpPr>
          <p:cNvPr id="16" name="Text 14"/>
          <p:cNvSpPr/>
          <p:nvPr/>
        </p:nvSpPr>
        <p:spPr>
          <a:xfrm>
            <a:off x="4389120"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Conexión confiable</a:t>
            </a:r>
            <a:endParaRPr lang="en-US" sz="1000" dirty="0"/>
          </a:p>
        </p:txBody>
      </p:sp>
      <p:sp>
        <p:nvSpPr>
          <p:cNvPr id="17" name="Text 15"/>
          <p:cNvSpPr/>
          <p:nvPr/>
        </p:nvSpPr>
        <p:spPr>
          <a:xfrm>
            <a:off x="5961888"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8" name="Shape 16"/>
          <p:cNvSpPr/>
          <p:nvPr/>
        </p:nvSpPr>
        <p:spPr>
          <a:xfrm>
            <a:off x="6199632" y="2743200"/>
            <a:ext cx="1645920" cy="1371600"/>
          </a:xfrm>
          <a:prstGeom prst="roundRect">
            <a:avLst>
              <a:gd name="adj" fmla="val 5333"/>
            </a:avLst>
          </a:prstGeom>
          <a:solidFill>
            <a:srgbClr val="1A1A1A"/>
          </a:solidFill>
          <a:ln/>
        </p:spPr>
      </p:sp>
      <p:sp>
        <p:nvSpPr>
          <p:cNvPr id="19" name="Text 17"/>
          <p:cNvSpPr/>
          <p:nvPr/>
        </p:nvSpPr>
        <p:spPr>
          <a:xfrm>
            <a:off x="6272784"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TLS</a:t>
            </a:r>
            <a:endParaRPr lang="en-US" sz="1250" dirty="0"/>
          </a:p>
        </p:txBody>
      </p:sp>
      <p:sp>
        <p:nvSpPr>
          <p:cNvPr id="20" name="Text 18"/>
          <p:cNvSpPr/>
          <p:nvPr/>
        </p:nvSpPr>
        <p:spPr>
          <a:xfrm>
            <a:off x="6272784"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Canal cifrado</a:t>
            </a:r>
            <a:endParaRPr lang="en-US" sz="1000" dirty="0"/>
          </a:p>
        </p:txBody>
      </p:sp>
      <p:sp>
        <p:nvSpPr>
          <p:cNvPr id="21" name="Text 19"/>
          <p:cNvSpPr/>
          <p:nvPr/>
        </p:nvSpPr>
        <p:spPr>
          <a:xfrm>
            <a:off x="7845552"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22" name="Shape 20"/>
          <p:cNvSpPr/>
          <p:nvPr/>
        </p:nvSpPr>
        <p:spPr>
          <a:xfrm>
            <a:off x="8083296" y="2743200"/>
            <a:ext cx="1645920" cy="1371600"/>
          </a:xfrm>
          <a:prstGeom prst="roundRect">
            <a:avLst>
              <a:gd name="adj" fmla="val 5333"/>
            </a:avLst>
          </a:prstGeom>
          <a:solidFill>
            <a:srgbClr val="E2231A"/>
          </a:solidFill>
          <a:ln/>
        </p:spPr>
      </p:sp>
      <p:sp>
        <p:nvSpPr>
          <p:cNvPr id="23" name="Text 21"/>
          <p:cNvSpPr/>
          <p:nvPr/>
        </p:nvSpPr>
        <p:spPr>
          <a:xfrm>
            <a:off x="8156448"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HTTP Request</a:t>
            </a:r>
            <a:endParaRPr lang="en-US" sz="1250" dirty="0"/>
          </a:p>
        </p:txBody>
      </p:sp>
      <p:sp>
        <p:nvSpPr>
          <p:cNvPr id="24" name="Text 22"/>
          <p:cNvSpPr/>
          <p:nvPr/>
        </p:nvSpPr>
        <p:spPr>
          <a:xfrm>
            <a:off x="8156448"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Solicitud</a:t>
            </a:r>
            <a:endParaRPr lang="en-US" sz="1000" dirty="0"/>
          </a:p>
        </p:txBody>
      </p:sp>
      <p:sp>
        <p:nvSpPr>
          <p:cNvPr id="25" name="Text 23"/>
          <p:cNvSpPr/>
          <p:nvPr/>
        </p:nvSpPr>
        <p:spPr>
          <a:xfrm>
            <a:off x="9729216"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26" name="Shape 24"/>
          <p:cNvSpPr/>
          <p:nvPr/>
        </p:nvSpPr>
        <p:spPr>
          <a:xfrm>
            <a:off x="9966960" y="2743200"/>
            <a:ext cx="1645920" cy="1371600"/>
          </a:xfrm>
          <a:prstGeom prst="roundRect">
            <a:avLst>
              <a:gd name="adj" fmla="val 5333"/>
            </a:avLst>
          </a:prstGeom>
          <a:solidFill>
            <a:srgbClr val="1A1A1A"/>
          </a:solidFill>
          <a:ln/>
        </p:spPr>
      </p:sp>
      <p:sp>
        <p:nvSpPr>
          <p:cNvPr id="27" name="Text 25"/>
          <p:cNvSpPr/>
          <p:nvPr/>
        </p:nvSpPr>
        <p:spPr>
          <a:xfrm>
            <a:off x="10040112"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HTTP Response</a:t>
            </a:r>
            <a:endParaRPr lang="en-US" sz="1250" dirty="0"/>
          </a:p>
        </p:txBody>
      </p:sp>
      <p:sp>
        <p:nvSpPr>
          <p:cNvPr id="28" name="Text 26"/>
          <p:cNvSpPr/>
          <p:nvPr/>
        </p:nvSpPr>
        <p:spPr>
          <a:xfrm>
            <a:off x="10040112"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Respuesta</a:t>
            </a:r>
            <a:endParaRPr lang="en-US" sz="1000" dirty="0"/>
          </a:p>
        </p:txBody>
      </p:sp>
      <p:sp>
        <p:nvSpPr>
          <p:cNvPr id="29" name="Shape 27"/>
          <p:cNvSpPr/>
          <p:nvPr/>
        </p:nvSpPr>
        <p:spPr>
          <a:xfrm rot="2700000">
            <a:off x="502920" y="6501384"/>
            <a:ext cx="82296" cy="82296"/>
          </a:xfrm>
          <a:prstGeom prst="rect">
            <a:avLst/>
          </a:prstGeom>
          <a:solidFill>
            <a:srgbClr val="E2231A"/>
          </a:solidFill>
          <a:ln/>
        </p:spPr>
      </p:sp>
      <p:sp>
        <p:nvSpPr>
          <p:cNvPr id="30" name="Text 28"/>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PANORAMA (SE DETALLA EN SESIÓN 2)</a:t>
            </a:r>
            <a:endParaRPr lang="en-US" sz="800" dirty="0"/>
          </a:p>
        </p:txBody>
      </p:sp>
      <p:sp>
        <p:nvSpPr>
          <p:cNvPr id="31" name="Text 29"/>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2231A"/>
        </a:solidFill>
      </p:bgPr>
    </p:bg>
    <p:spTree>
      <p:nvGrpSpPr>
        <p:cNvPr id="1" name=""/>
        <p:cNvGrpSpPr/>
        <p:nvPr/>
      </p:nvGrpSpPr>
      <p:grpSpPr>
        <a:xfrm>
          <a:off x="0" y="0"/>
          <a:ext cx="0" cy="0"/>
          <a:chOff x="0" y="0"/>
          <a:chExt cx="0" cy="0"/>
        </a:xfrm>
      </p:grpSpPr>
      <p:sp>
        <p:nvSpPr>
          <p:cNvPr id="2" name="Shape 0"/>
          <p:cNvSpPr/>
          <p:nvPr/>
        </p:nvSpPr>
        <p:spPr>
          <a:xfrm>
            <a:off x="9692640" y="3840480"/>
            <a:ext cx="4937760" cy="4937760"/>
          </a:xfrm>
          <a:prstGeom prst="ellipse">
            <a:avLst/>
          </a:prstGeom>
          <a:solidFill>
            <a:srgbClr val="A81810">
              <a:alpha val="70000"/>
            </a:srgbClr>
          </a:solidFill>
          <a:ln/>
        </p:spPr>
      </p:sp>
      <p:sp>
        <p:nvSpPr>
          <p:cNvPr id="3" name="Shape 1"/>
          <p:cNvSpPr/>
          <p:nvPr/>
        </p:nvSpPr>
        <p:spPr>
          <a:xfrm>
            <a:off x="-1097280" y="-1097280"/>
            <a:ext cx="2377440" cy="2377440"/>
          </a:xfrm>
          <a:prstGeom prst="ellipse">
            <a:avLst/>
          </a:prstGeom>
          <a:solidFill>
            <a:srgbClr val="A81810">
              <a:alpha val="70000"/>
            </a:srgbClr>
          </a:solidFill>
          <a:ln/>
        </p:spPr>
      </p:sp>
      <p:sp>
        <p:nvSpPr>
          <p:cNvPr id="4" name="Text 2"/>
          <p:cNvSpPr/>
          <p:nvPr/>
        </p:nvSpPr>
        <p:spPr>
          <a:xfrm>
            <a:off x="914400" y="2606040"/>
            <a:ext cx="9144000" cy="365760"/>
          </a:xfrm>
          <a:prstGeom prst="rect">
            <a:avLst/>
          </a:prstGeom>
          <a:noFill/>
          <a:ln/>
        </p:spPr>
        <p:txBody>
          <a:bodyPr wrap="square" rtlCol="0" anchor="ctr"/>
          <a:lstStyle/>
          <a:p>
            <a:pPr indent="0" marL="0">
              <a:buNone/>
            </a:pPr>
            <a:r>
              <a:rPr lang="en-US" sz="1300" b="1" spc="150" kern="0" dirty="0">
                <a:solidFill>
                  <a:srgbClr val="FEB126"/>
                </a:solidFill>
                <a:latin typeface="Roboto" pitchFamily="34" charset="0"/>
                <a:ea typeface="Roboto" pitchFamily="34" charset="-122"/>
                <a:cs typeface="Roboto" pitchFamily="34" charset="-120"/>
              </a:rPr>
              <a:t>ALISTAMIENTO Y VERIFICACIÓN · 10:00 A. M. – 12:00 M. (2 HORAS)</a:t>
            </a:r>
            <a:endParaRPr lang="en-US" sz="1300" dirty="0"/>
          </a:p>
        </p:txBody>
      </p:sp>
      <p:sp>
        <p:nvSpPr>
          <p:cNvPr id="5" name="Text 3"/>
          <p:cNvSpPr/>
          <p:nvPr/>
        </p:nvSpPr>
        <p:spPr>
          <a:xfrm>
            <a:off x="914400" y="2971800"/>
            <a:ext cx="9875520" cy="1188720"/>
          </a:xfrm>
          <a:prstGeom prst="rect">
            <a:avLst/>
          </a:prstGeom>
          <a:noFill/>
          <a:ln/>
        </p:spPr>
        <p:txBody>
          <a:bodyPr wrap="square" rtlCol="0" anchor="ctr"/>
          <a:lstStyle/>
          <a:p>
            <a:pPr indent="0" marL="0">
              <a:buNone/>
            </a:pPr>
            <a:r>
              <a:rPr lang="en-US" sz="3400" b="1" dirty="0">
                <a:solidFill>
                  <a:srgbClr val="FFFFFF"/>
                </a:solidFill>
                <a:latin typeface="Roboto" pitchFamily="34" charset="0"/>
                <a:ea typeface="Roboto" pitchFamily="34" charset="-122"/>
                <a:cs typeface="Roboto" pitchFamily="34" charset="-120"/>
              </a:rPr>
              <a:t>Deja tu VM Kali lista: instálala y configúrala tú mismo</a:t>
            </a:r>
            <a:endParaRPr lang="en-US" sz="3400" dirty="0"/>
          </a:p>
        </p:txBody>
      </p:sp>
      <p:sp>
        <p:nvSpPr>
          <p:cNvPr id="6" name="Text 4"/>
          <p:cNvSpPr/>
          <p:nvPr/>
        </p:nvSpPr>
        <p:spPr>
          <a:xfrm>
            <a:off x="914400" y="4069080"/>
            <a:ext cx="8961120" cy="640080"/>
          </a:xfrm>
          <a:prstGeom prst="rect">
            <a:avLst/>
          </a:prstGeom>
          <a:noFill/>
          <a:ln/>
        </p:spPr>
        <p:txBody>
          <a:bodyPr wrap="square" rtlCol="0" anchor="ctr"/>
          <a:lstStyle/>
          <a:p>
            <a:pPr indent="0" marL="0">
              <a:buNone/>
            </a:pPr>
            <a:r>
              <a:rPr lang="en-US" sz="1500" dirty="0">
                <a:solidFill>
                  <a:srgbClr val="FBDAD8"/>
                </a:solidFill>
                <a:latin typeface="Roboto" pitchFamily="34" charset="0"/>
                <a:ea typeface="Roboto" pitchFamily="34" charset="-122"/>
                <a:cs typeface="Roboto" pitchFamily="34" charset="-120"/>
              </a:rPr>
              <a:t>Recibiste una imagen de Kali limpia, sin nada preinstalado. Primera hora: alistamiento (instalas y configuras todo). Segunda hora: checklist LAB-READY (verificas que quedó bien).</a:t>
            </a:r>
            <a:endParaRPr lang="en-US" sz="1500" dirty="0"/>
          </a:p>
        </p:txBody>
      </p:sp>
      <p:sp>
        <p:nvSpPr>
          <p:cNvPr id="7" name="Shape 5"/>
          <p:cNvSpPr/>
          <p:nvPr/>
        </p:nvSpPr>
        <p:spPr>
          <a:xfrm rot="2700000">
            <a:off x="502920" y="6501384"/>
            <a:ext cx="82296" cy="82296"/>
          </a:xfrm>
          <a:prstGeom prst="rect">
            <a:avLst/>
          </a:prstGeom>
          <a:solidFill>
            <a:srgbClr val="FFFFFF"/>
          </a:solidFill>
          <a:ln/>
        </p:spPr>
      </p:sp>
      <p:sp>
        <p:nvSpPr>
          <p:cNvPr id="8" name="Text 6"/>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F4D9D7"/>
                </a:solidFill>
                <a:latin typeface="Roboto" pitchFamily="34" charset="0"/>
                <a:ea typeface="Roboto" pitchFamily="34" charset="-122"/>
                <a:cs typeface="Roboto" pitchFamily="34" charset="-120"/>
              </a:rPr>
              <a:t>BACCI · CAPACITACIÓN EN CIBERDEFENSA Y CIBERSEGURIDAD · 40 HORAS</a:t>
            </a:r>
            <a:endParaRPr lang="en-US" sz="800" dirty="0"/>
          </a:p>
        </p:txBody>
      </p:sp>
      <p:sp>
        <p:nvSpPr>
          <p:cNvPr id="9" name="Text 7"/>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FFFFFF"/>
                </a:solidFill>
                <a:latin typeface="Roboto" pitchFamily="34" charset="0"/>
                <a:ea typeface="Roboto" pitchFamily="34" charset="-122"/>
                <a:cs typeface="Roboto"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ALISTAMIENTO DE LA MÁQUINA · PASO 1 DE 3</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Actualiza el sistema e instala los paquetes del curso</a:t>
            </a:r>
            <a:endParaRPr lang="en-US" sz="2500" dirty="0"/>
          </a:p>
        </p:txBody>
      </p:sp>
      <p:sp>
        <p:nvSpPr>
          <p:cNvPr id="6" name="Text 4"/>
          <p:cNvSpPr/>
          <p:nvPr/>
        </p:nvSpPr>
        <p:spPr>
          <a:xfrm>
            <a:off x="548640" y="1600200"/>
            <a:ext cx="11064240" cy="365760"/>
          </a:xfrm>
          <a:prstGeom prst="rect">
            <a:avLst/>
          </a:prstGeom>
          <a:noFill/>
          <a:ln/>
        </p:spPr>
        <p:txBody>
          <a:bodyPr wrap="square" rtlCol="0" anchor="ctr"/>
          <a:lstStyle/>
          <a:p>
            <a:pPr indent="0" marL="0">
              <a:buNone/>
            </a:pPr>
            <a:r>
              <a:rPr lang="en-US" sz="1300" dirty="0">
                <a:solidFill>
                  <a:srgbClr val="6B6B6B"/>
                </a:solidFill>
                <a:latin typeface="Roboto" pitchFamily="34" charset="0"/>
                <a:ea typeface="Roboto" pitchFamily="34" charset="-122"/>
                <a:cs typeface="Roboto" pitchFamily="34" charset="-120"/>
              </a:rPr>
              <a:t>Tu VM Kali es una imagen limpia. Ejecuta esto ahora, en ese orden, para dejarla con todo lo que vas a necesitar en las 8 sesiones:</a:t>
            </a:r>
            <a:endParaRPr lang="en-US" sz="1300" dirty="0"/>
          </a:p>
        </p:txBody>
      </p:sp>
      <p:sp>
        <p:nvSpPr>
          <p:cNvPr id="7" name="Shape 5"/>
          <p:cNvSpPr/>
          <p:nvPr/>
        </p:nvSpPr>
        <p:spPr>
          <a:xfrm>
            <a:off x="548640" y="2103120"/>
            <a:ext cx="11064240" cy="566928"/>
          </a:xfrm>
          <a:prstGeom prst="roundRect">
            <a:avLst>
              <a:gd name="adj" fmla="val 8065"/>
            </a:avLst>
          </a:prstGeom>
          <a:solidFill>
            <a:srgbClr val="1A1A1A"/>
          </a:solidFill>
          <a:ln/>
        </p:spPr>
      </p:sp>
      <p:sp>
        <p:nvSpPr>
          <p:cNvPr id="8" name="Shape 6"/>
          <p:cNvSpPr/>
          <p:nvPr/>
        </p:nvSpPr>
        <p:spPr>
          <a:xfrm>
            <a:off x="548640" y="2103120"/>
            <a:ext cx="54864" cy="566928"/>
          </a:xfrm>
          <a:prstGeom prst="rect">
            <a:avLst/>
          </a:prstGeom>
          <a:solidFill>
            <a:srgbClr val="E2231A"/>
          </a:solidFill>
          <a:ln/>
        </p:spPr>
      </p:sp>
      <p:sp>
        <p:nvSpPr>
          <p:cNvPr id="9" name="Text 7"/>
          <p:cNvSpPr/>
          <p:nvPr/>
        </p:nvSpPr>
        <p:spPr>
          <a:xfrm>
            <a:off x="822960" y="2103120"/>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sudo apt update &amp;&amp; sudo apt full-upgrade -y &amp;&amp; sudo reboot</a:t>
            </a:r>
            <a:endParaRPr lang="en-US" sz="1300" dirty="0"/>
          </a:p>
        </p:txBody>
      </p:sp>
      <p:sp>
        <p:nvSpPr>
          <p:cNvPr id="10" name="Text 8"/>
          <p:cNvSpPr/>
          <p:nvPr/>
        </p:nvSpPr>
        <p:spPr>
          <a:xfrm>
            <a:off x="6949440" y="2103120"/>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Actualización completa del sistema (reinicia al terminar)</a:t>
            </a:r>
            <a:endParaRPr lang="en-US" sz="1100" dirty="0"/>
          </a:p>
        </p:txBody>
      </p:sp>
      <p:sp>
        <p:nvSpPr>
          <p:cNvPr id="11" name="Shape 9"/>
          <p:cNvSpPr/>
          <p:nvPr/>
        </p:nvSpPr>
        <p:spPr>
          <a:xfrm>
            <a:off x="548640" y="2798064"/>
            <a:ext cx="11064240" cy="566928"/>
          </a:xfrm>
          <a:prstGeom prst="roundRect">
            <a:avLst>
              <a:gd name="adj" fmla="val 8065"/>
            </a:avLst>
          </a:prstGeom>
          <a:solidFill>
            <a:srgbClr val="1A1A1A"/>
          </a:solidFill>
          <a:ln/>
        </p:spPr>
      </p:sp>
      <p:sp>
        <p:nvSpPr>
          <p:cNvPr id="12" name="Shape 10"/>
          <p:cNvSpPr/>
          <p:nvPr/>
        </p:nvSpPr>
        <p:spPr>
          <a:xfrm>
            <a:off x="548640" y="2798064"/>
            <a:ext cx="54864" cy="566928"/>
          </a:xfrm>
          <a:prstGeom prst="rect">
            <a:avLst/>
          </a:prstGeom>
          <a:solidFill>
            <a:srgbClr val="E2231A"/>
          </a:solidFill>
          <a:ln/>
        </p:spPr>
      </p:sp>
      <p:sp>
        <p:nvSpPr>
          <p:cNvPr id="13" name="Text 11"/>
          <p:cNvSpPr/>
          <p:nvPr/>
        </p:nvSpPr>
        <p:spPr>
          <a:xfrm>
            <a:off x="822960" y="2798064"/>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sudo apt install -y burpsuite zaproxy git curl wget openssl python3 python3-pip</a:t>
            </a:r>
            <a:endParaRPr lang="en-US" sz="1300" dirty="0"/>
          </a:p>
        </p:txBody>
      </p:sp>
      <p:sp>
        <p:nvSpPr>
          <p:cNvPr id="14" name="Text 12"/>
          <p:cNvSpPr/>
          <p:nvPr/>
        </p:nvSpPr>
        <p:spPr>
          <a:xfrm>
            <a:off x="6949440" y="2798064"/>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Proxies de intercepción y herramientas base</a:t>
            </a:r>
            <a:endParaRPr lang="en-US" sz="1100" dirty="0"/>
          </a:p>
        </p:txBody>
      </p:sp>
      <p:sp>
        <p:nvSpPr>
          <p:cNvPr id="15" name="Shape 13"/>
          <p:cNvSpPr/>
          <p:nvPr/>
        </p:nvSpPr>
        <p:spPr>
          <a:xfrm>
            <a:off x="548640" y="3493008"/>
            <a:ext cx="11064240" cy="566928"/>
          </a:xfrm>
          <a:prstGeom prst="roundRect">
            <a:avLst>
              <a:gd name="adj" fmla="val 8065"/>
            </a:avLst>
          </a:prstGeom>
          <a:solidFill>
            <a:srgbClr val="1A1A1A"/>
          </a:solidFill>
          <a:ln/>
        </p:spPr>
      </p:sp>
      <p:sp>
        <p:nvSpPr>
          <p:cNvPr id="16" name="Shape 14"/>
          <p:cNvSpPr/>
          <p:nvPr/>
        </p:nvSpPr>
        <p:spPr>
          <a:xfrm>
            <a:off x="548640" y="3493008"/>
            <a:ext cx="54864" cy="566928"/>
          </a:xfrm>
          <a:prstGeom prst="rect">
            <a:avLst/>
          </a:prstGeom>
          <a:solidFill>
            <a:srgbClr val="E2231A"/>
          </a:solidFill>
          <a:ln/>
        </p:spPr>
      </p:sp>
      <p:sp>
        <p:nvSpPr>
          <p:cNvPr id="17" name="Text 15"/>
          <p:cNvSpPr/>
          <p:nvPr/>
        </p:nvSpPr>
        <p:spPr>
          <a:xfrm>
            <a:off x="822960" y="3493008"/>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sudo apt install -y bind9 bind9-dnsutils whois jq amass subfinder theharvester juice-shop</a:t>
            </a:r>
            <a:endParaRPr lang="en-US" sz="1300" dirty="0"/>
          </a:p>
        </p:txBody>
      </p:sp>
      <p:sp>
        <p:nvSpPr>
          <p:cNvPr id="18" name="Text 16"/>
          <p:cNvSpPr/>
          <p:nvPr/>
        </p:nvSpPr>
        <p:spPr>
          <a:xfrm>
            <a:off x="6949440" y="3493008"/>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Servidor DNS local (bind9), herramientas DNS/OSINT/subdominios y Juice Shop</a:t>
            </a:r>
            <a:endParaRPr lang="en-US" sz="1100" dirty="0"/>
          </a:p>
        </p:txBody>
      </p:sp>
      <p:sp>
        <p:nvSpPr>
          <p:cNvPr id="19" name="Shape 17"/>
          <p:cNvSpPr/>
          <p:nvPr/>
        </p:nvSpPr>
        <p:spPr>
          <a:xfrm rot="2700000">
            <a:off x="502920" y="6501384"/>
            <a:ext cx="82296" cy="82296"/>
          </a:xfrm>
          <a:prstGeom prst="rect">
            <a:avLst/>
          </a:prstGeom>
          <a:solidFill>
            <a:srgbClr val="E2231A"/>
          </a:solidFill>
          <a:ln/>
        </p:spPr>
      </p:sp>
      <p:sp>
        <p:nvSpPr>
          <p:cNvPr id="20" name="Text 18"/>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ALISTAMIENTO DE LA MÁQUINA · PASO 1 DE 3</a:t>
            </a:r>
            <a:endParaRPr lang="en-US" sz="800" dirty="0"/>
          </a:p>
        </p:txBody>
      </p:sp>
      <p:sp>
        <p:nvSpPr>
          <p:cNvPr id="21" name="Text 19"/>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ALISTAMIENTO DE LA MÁQUINA · SI VES ESTE ERROR</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Si el full-upgrade falla o ves "hash mismatch" (1/2): limpiar</a:t>
            </a:r>
            <a:endParaRPr lang="en-US" sz="2500" dirty="0"/>
          </a:p>
        </p:txBody>
      </p:sp>
      <p:sp>
        <p:nvSpPr>
          <p:cNvPr id="6" name="Text 4"/>
          <p:cNvSpPr/>
          <p:nvPr/>
        </p:nvSpPr>
        <p:spPr>
          <a:xfrm>
            <a:off x="548640" y="1600200"/>
            <a:ext cx="11064240" cy="365760"/>
          </a:xfrm>
          <a:prstGeom prst="rect">
            <a:avLst/>
          </a:prstGeom>
          <a:noFill/>
          <a:ln/>
        </p:spPr>
        <p:txBody>
          <a:bodyPr wrap="square" rtlCol="0" anchor="ctr"/>
          <a:lstStyle/>
          <a:p>
            <a:pPr indent="0" marL="0">
              <a:buNone/>
            </a:pPr>
            <a:r>
              <a:rPr lang="en-US" sz="1300" dirty="0">
                <a:solidFill>
                  <a:srgbClr val="6B6B6B"/>
                </a:solidFill>
                <a:latin typeface="Roboto" pitchFamily="34" charset="0"/>
                <a:ea typeface="Roboto" pitchFamily="34" charset="-122"/>
                <a:cs typeface="Roboto" pitchFamily="34" charset="-120"/>
              </a:rPr>
              <a:t>Esto le pasó a un participante real probando este mismo procedimiento: sudo apt full-upgrade -y lanzó errores (se resolvió con reboot + apt update + full-upgrade otra vez) y, al instalar jq y juice-shop, apareció un error de "hash mismatch" (listas de paquetes corruptas). Si te pasa lo mismo, primero limpia:</a:t>
            </a:r>
            <a:endParaRPr lang="en-US" sz="1300" dirty="0"/>
          </a:p>
        </p:txBody>
      </p:sp>
      <p:sp>
        <p:nvSpPr>
          <p:cNvPr id="7" name="Shape 5"/>
          <p:cNvSpPr/>
          <p:nvPr/>
        </p:nvSpPr>
        <p:spPr>
          <a:xfrm>
            <a:off x="548640" y="2103120"/>
            <a:ext cx="11064240" cy="566928"/>
          </a:xfrm>
          <a:prstGeom prst="roundRect">
            <a:avLst>
              <a:gd name="adj" fmla="val 8065"/>
            </a:avLst>
          </a:prstGeom>
          <a:solidFill>
            <a:srgbClr val="1A1A1A"/>
          </a:solidFill>
          <a:ln/>
        </p:spPr>
      </p:sp>
      <p:sp>
        <p:nvSpPr>
          <p:cNvPr id="8" name="Shape 6"/>
          <p:cNvSpPr/>
          <p:nvPr/>
        </p:nvSpPr>
        <p:spPr>
          <a:xfrm>
            <a:off x="548640" y="2103120"/>
            <a:ext cx="54864" cy="566928"/>
          </a:xfrm>
          <a:prstGeom prst="rect">
            <a:avLst/>
          </a:prstGeom>
          <a:solidFill>
            <a:srgbClr val="E2231A"/>
          </a:solidFill>
          <a:ln/>
        </p:spPr>
      </p:sp>
      <p:sp>
        <p:nvSpPr>
          <p:cNvPr id="9" name="Text 7"/>
          <p:cNvSpPr/>
          <p:nvPr/>
        </p:nvSpPr>
        <p:spPr>
          <a:xfrm>
            <a:off x="822960" y="2103120"/>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sudo apt clean</a:t>
            </a:r>
            <a:endParaRPr lang="en-US" sz="1300" dirty="0"/>
          </a:p>
        </p:txBody>
      </p:sp>
      <p:sp>
        <p:nvSpPr>
          <p:cNvPr id="10" name="Text 8"/>
          <p:cNvSpPr/>
          <p:nvPr/>
        </p:nvSpPr>
        <p:spPr>
          <a:xfrm>
            <a:off x="6949440" y="2103120"/>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Borra los paquetes ya descargados en caché</a:t>
            </a:r>
            <a:endParaRPr lang="en-US" sz="1100" dirty="0"/>
          </a:p>
        </p:txBody>
      </p:sp>
      <p:sp>
        <p:nvSpPr>
          <p:cNvPr id="11" name="Shape 9"/>
          <p:cNvSpPr/>
          <p:nvPr/>
        </p:nvSpPr>
        <p:spPr>
          <a:xfrm>
            <a:off x="548640" y="2798064"/>
            <a:ext cx="11064240" cy="566928"/>
          </a:xfrm>
          <a:prstGeom prst="roundRect">
            <a:avLst>
              <a:gd name="adj" fmla="val 8065"/>
            </a:avLst>
          </a:prstGeom>
          <a:solidFill>
            <a:srgbClr val="1A1A1A"/>
          </a:solidFill>
          <a:ln/>
        </p:spPr>
      </p:sp>
      <p:sp>
        <p:nvSpPr>
          <p:cNvPr id="12" name="Shape 10"/>
          <p:cNvSpPr/>
          <p:nvPr/>
        </p:nvSpPr>
        <p:spPr>
          <a:xfrm>
            <a:off x="548640" y="2798064"/>
            <a:ext cx="54864" cy="566928"/>
          </a:xfrm>
          <a:prstGeom prst="rect">
            <a:avLst/>
          </a:prstGeom>
          <a:solidFill>
            <a:srgbClr val="E2231A"/>
          </a:solidFill>
          <a:ln/>
        </p:spPr>
      </p:sp>
      <p:sp>
        <p:nvSpPr>
          <p:cNvPr id="13" name="Text 11"/>
          <p:cNvSpPr/>
          <p:nvPr/>
        </p:nvSpPr>
        <p:spPr>
          <a:xfrm>
            <a:off x="822960" y="2798064"/>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sudo rm -rf /var/lib/apt/lists/*</a:t>
            </a:r>
            <a:endParaRPr lang="en-US" sz="1300" dirty="0"/>
          </a:p>
        </p:txBody>
      </p:sp>
      <p:sp>
        <p:nvSpPr>
          <p:cNvPr id="14" name="Text 12"/>
          <p:cNvSpPr/>
          <p:nvPr/>
        </p:nvSpPr>
        <p:spPr>
          <a:xfrm>
            <a:off x="6949440" y="2798064"/>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Elimina las listas de paquetes — las que están corruptas y causan el hash mismatch</a:t>
            </a:r>
            <a:endParaRPr lang="en-US" sz="1100" dirty="0"/>
          </a:p>
        </p:txBody>
      </p:sp>
      <p:sp>
        <p:nvSpPr>
          <p:cNvPr id="15" name="Shape 13"/>
          <p:cNvSpPr/>
          <p:nvPr/>
        </p:nvSpPr>
        <p:spPr>
          <a:xfrm>
            <a:off x="548640" y="3493008"/>
            <a:ext cx="11064240" cy="566928"/>
          </a:xfrm>
          <a:prstGeom prst="roundRect">
            <a:avLst>
              <a:gd name="adj" fmla="val 8065"/>
            </a:avLst>
          </a:prstGeom>
          <a:solidFill>
            <a:srgbClr val="1A1A1A"/>
          </a:solidFill>
          <a:ln/>
        </p:spPr>
      </p:sp>
      <p:sp>
        <p:nvSpPr>
          <p:cNvPr id="16" name="Shape 14"/>
          <p:cNvSpPr/>
          <p:nvPr/>
        </p:nvSpPr>
        <p:spPr>
          <a:xfrm>
            <a:off x="548640" y="3493008"/>
            <a:ext cx="54864" cy="566928"/>
          </a:xfrm>
          <a:prstGeom prst="rect">
            <a:avLst/>
          </a:prstGeom>
          <a:solidFill>
            <a:srgbClr val="E2231A"/>
          </a:solidFill>
          <a:ln/>
        </p:spPr>
      </p:sp>
      <p:sp>
        <p:nvSpPr>
          <p:cNvPr id="17" name="Text 15"/>
          <p:cNvSpPr/>
          <p:nvPr/>
        </p:nvSpPr>
        <p:spPr>
          <a:xfrm>
            <a:off x="822960" y="3493008"/>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sudo rm -rf /var/cache/apt/archives/*</a:t>
            </a:r>
            <a:endParaRPr lang="en-US" sz="1300" dirty="0"/>
          </a:p>
        </p:txBody>
      </p:sp>
      <p:sp>
        <p:nvSpPr>
          <p:cNvPr id="18" name="Text 16"/>
          <p:cNvSpPr/>
          <p:nvPr/>
        </p:nvSpPr>
        <p:spPr>
          <a:xfrm>
            <a:off x="6949440" y="3493008"/>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Elimina el caché de paquetes descargados, por si algún .deb quedó incompleto</a:t>
            </a:r>
            <a:endParaRPr lang="en-US" sz="1100" dirty="0"/>
          </a:p>
        </p:txBody>
      </p:sp>
      <p:sp>
        <p:nvSpPr>
          <p:cNvPr id="19" name="Shape 17"/>
          <p:cNvSpPr/>
          <p:nvPr/>
        </p:nvSpPr>
        <p:spPr>
          <a:xfrm rot="2700000">
            <a:off x="502920" y="6501384"/>
            <a:ext cx="82296" cy="82296"/>
          </a:xfrm>
          <a:prstGeom prst="rect">
            <a:avLst/>
          </a:prstGeom>
          <a:solidFill>
            <a:srgbClr val="E2231A"/>
          </a:solidFill>
          <a:ln/>
        </p:spPr>
      </p:sp>
      <p:sp>
        <p:nvSpPr>
          <p:cNvPr id="20" name="Text 18"/>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ALISTAMIENTO DE LA MÁQUINA · SI VES ESTE ERROR</a:t>
            </a:r>
            <a:endParaRPr lang="en-US" sz="800" dirty="0"/>
          </a:p>
        </p:txBody>
      </p:sp>
      <p:sp>
        <p:nvSpPr>
          <p:cNvPr id="21" name="Text 19"/>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20</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ALISTAMIENTO DE LA MÁQUINA · SI VES ESTE ERROR</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Si el full-upgrade falla o ves "hash mismatch" (2/2): reparar</a:t>
            </a:r>
            <a:endParaRPr lang="en-US" sz="2500" dirty="0"/>
          </a:p>
        </p:txBody>
      </p:sp>
      <p:sp>
        <p:nvSpPr>
          <p:cNvPr id="6" name="Text 4"/>
          <p:cNvSpPr/>
          <p:nvPr/>
        </p:nvSpPr>
        <p:spPr>
          <a:xfrm>
            <a:off x="548640" y="1600200"/>
            <a:ext cx="11064240" cy="365760"/>
          </a:xfrm>
          <a:prstGeom prst="rect">
            <a:avLst/>
          </a:prstGeom>
          <a:noFill/>
          <a:ln/>
        </p:spPr>
        <p:txBody>
          <a:bodyPr wrap="square" rtlCol="0" anchor="ctr"/>
          <a:lstStyle/>
          <a:p>
            <a:pPr indent="0" marL="0">
              <a:buNone/>
            </a:pPr>
            <a:r>
              <a:rPr lang="en-US" sz="1300" dirty="0">
                <a:solidFill>
                  <a:srgbClr val="6B6B6B"/>
                </a:solidFill>
                <a:latin typeface="Roboto" pitchFamily="34" charset="0"/>
                <a:ea typeface="Roboto" pitchFamily="34" charset="-122"/>
                <a:cs typeface="Roboto" pitchFamily="34" charset="-120"/>
              </a:rPr>
              <a:t>Con el caché ya limpio (diapositiva anterior), reescribe el repositorio y termina de reparar el sistema:</a:t>
            </a:r>
            <a:endParaRPr lang="en-US" sz="1300" dirty="0"/>
          </a:p>
        </p:txBody>
      </p:sp>
      <p:sp>
        <p:nvSpPr>
          <p:cNvPr id="7" name="Shape 5"/>
          <p:cNvSpPr/>
          <p:nvPr/>
        </p:nvSpPr>
        <p:spPr>
          <a:xfrm>
            <a:off x="548640" y="2103120"/>
            <a:ext cx="11064240" cy="566928"/>
          </a:xfrm>
          <a:prstGeom prst="roundRect">
            <a:avLst>
              <a:gd name="adj" fmla="val 8065"/>
            </a:avLst>
          </a:prstGeom>
          <a:solidFill>
            <a:srgbClr val="1A1A1A"/>
          </a:solidFill>
          <a:ln/>
        </p:spPr>
      </p:sp>
      <p:sp>
        <p:nvSpPr>
          <p:cNvPr id="8" name="Shape 6"/>
          <p:cNvSpPr/>
          <p:nvPr/>
        </p:nvSpPr>
        <p:spPr>
          <a:xfrm>
            <a:off x="548640" y="2103120"/>
            <a:ext cx="54864" cy="566928"/>
          </a:xfrm>
          <a:prstGeom prst="rect">
            <a:avLst/>
          </a:prstGeom>
          <a:solidFill>
            <a:srgbClr val="E2231A"/>
          </a:solidFill>
          <a:ln/>
        </p:spPr>
      </p:sp>
      <p:sp>
        <p:nvSpPr>
          <p:cNvPr id="9" name="Text 7"/>
          <p:cNvSpPr/>
          <p:nvPr/>
        </p:nvSpPr>
        <p:spPr>
          <a:xfrm>
            <a:off x="822960" y="2103120"/>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echo "deb https://http.kali.org/kali kali-rolling main contrib non-free non-free-firmware" | sudo tee /etc/apt/sources.list</a:t>
            </a:r>
            <a:endParaRPr lang="en-US" sz="1300" dirty="0"/>
          </a:p>
        </p:txBody>
      </p:sp>
      <p:sp>
        <p:nvSpPr>
          <p:cNvPr id="10" name="Text 8"/>
          <p:cNvSpPr/>
          <p:nvPr/>
        </p:nvSpPr>
        <p:spPr>
          <a:xfrm>
            <a:off x="6949440" y="2103120"/>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Reescribe sources.list con el repositorio oficial de Kali</a:t>
            </a:r>
            <a:endParaRPr lang="en-US" sz="1100" dirty="0"/>
          </a:p>
        </p:txBody>
      </p:sp>
      <p:sp>
        <p:nvSpPr>
          <p:cNvPr id="11" name="Shape 9"/>
          <p:cNvSpPr/>
          <p:nvPr/>
        </p:nvSpPr>
        <p:spPr>
          <a:xfrm>
            <a:off x="548640" y="2798064"/>
            <a:ext cx="11064240" cy="566928"/>
          </a:xfrm>
          <a:prstGeom prst="roundRect">
            <a:avLst>
              <a:gd name="adj" fmla="val 8065"/>
            </a:avLst>
          </a:prstGeom>
          <a:solidFill>
            <a:srgbClr val="1A1A1A"/>
          </a:solidFill>
          <a:ln/>
        </p:spPr>
      </p:sp>
      <p:sp>
        <p:nvSpPr>
          <p:cNvPr id="12" name="Shape 10"/>
          <p:cNvSpPr/>
          <p:nvPr/>
        </p:nvSpPr>
        <p:spPr>
          <a:xfrm>
            <a:off x="548640" y="2798064"/>
            <a:ext cx="54864" cy="566928"/>
          </a:xfrm>
          <a:prstGeom prst="rect">
            <a:avLst/>
          </a:prstGeom>
          <a:solidFill>
            <a:srgbClr val="E2231A"/>
          </a:solidFill>
          <a:ln/>
        </p:spPr>
      </p:sp>
      <p:sp>
        <p:nvSpPr>
          <p:cNvPr id="13" name="Text 11"/>
          <p:cNvSpPr/>
          <p:nvPr/>
        </p:nvSpPr>
        <p:spPr>
          <a:xfrm>
            <a:off x="822960" y="2798064"/>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sudo apt update</a:t>
            </a:r>
            <a:endParaRPr lang="en-US" sz="1300" dirty="0"/>
          </a:p>
        </p:txBody>
      </p:sp>
      <p:sp>
        <p:nvSpPr>
          <p:cNvPr id="14" name="Text 12"/>
          <p:cNvSpPr/>
          <p:nvPr/>
        </p:nvSpPr>
        <p:spPr>
          <a:xfrm>
            <a:off x="6949440" y="2798064"/>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Vuelve a descargar las listas de paquetes, ya limpias</a:t>
            </a:r>
            <a:endParaRPr lang="en-US" sz="1100" dirty="0"/>
          </a:p>
        </p:txBody>
      </p:sp>
      <p:sp>
        <p:nvSpPr>
          <p:cNvPr id="15" name="Shape 13"/>
          <p:cNvSpPr/>
          <p:nvPr/>
        </p:nvSpPr>
        <p:spPr>
          <a:xfrm>
            <a:off x="548640" y="3493008"/>
            <a:ext cx="11064240" cy="566928"/>
          </a:xfrm>
          <a:prstGeom prst="roundRect">
            <a:avLst>
              <a:gd name="adj" fmla="val 8065"/>
            </a:avLst>
          </a:prstGeom>
          <a:solidFill>
            <a:srgbClr val="1A1A1A"/>
          </a:solidFill>
          <a:ln/>
        </p:spPr>
      </p:sp>
      <p:sp>
        <p:nvSpPr>
          <p:cNvPr id="16" name="Shape 14"/>
          <p:cNvSpPr/>
          <p:nvPr/>
        </p:nvSpPr>
        <p:spPr>
          <a:xfrm>
            <a:off x="548640" y="3493008"/>
            <a:ext cx="54864" cy="566928"/>
          </a:xfrm>
          <a:prstGeom prst="rect">
            <a:avLst/>
          </a:prstGeom>
          <a:solidFill>
            <a:srgbClr val="E2231A"/>
          </a:solidFill>
          <a:ln/>
        </p:spPr>
      </p:sp>
      <p:sp>
        <p:nvSpPr>
          <p:cNvPr id="17" name="Text 15"/>
          <p:cNvSpPr/>
          <p:nvPr/>
        </p:nvSpPr>
        <p:spPr>
          <a:xfrm>
            <a:off x="822960" y="3493008"/>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sudo dpkg --configure -a</a:t>
            </a:r>
            <a:endParaRPr lang="en-US" sz="1300" dirty="0"/>
          </a:p>
        </p:txBody>
      </p:sp>
      <p:sp>
        <p:nvSpPr>
          <p:cNvPr id="18" name="Text 16"/>
          <p:cNvSpPr/>
          <p:nvPr/>
        </p:nvSpPr>
        <p:spPr>
          <a:xfrm>
            <a:off x="6949440" y="3493008"/>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Termina de configurar paquetes que quedaron a medio instalar</a:t>
            </a:r>
            <a:endParaRPr lang="en-US" sz="1100" dirty="0"/>
          </a:p>
        </p:txBody>
      </p:sp>
      <p:sp>
        <p:nvSpPr>
          <p:cNvPr id="19" name="Shape 17"/>
          <p:cNvSpPr/>
          <p:nvPr/>
        </p:nvSpPr>
        <p:spPr>
          <a:xfrm>
            <a:off x="548640" y="4187952"/>
            <a:ext cx="11064240" cy="566928"/>
          </a:xfrm>
          <a:prstGeom prst="roundRect">
            <a:avLst>
              <a:gd name="adj" fmla="val 8065"/>
            </a:avLst>
          </a:prstGeom>
          <a:solidFill>
            <a:srgbClr val="1A1A1A"/>
          </a:solidFill>
          <a:ln/>
        </p:spPr>
      </p:sp>
      <p:sp>
        <p:nvSpPr>
          <p:cNvPr id="20" name="Shape 18"/>
          <p:cNvSpPr/>
          <p:nvPr/>
        </p:nvSpPr>
        <p:spPr>
          <a:xfrm>
            <a:off x="548640" y="4187952"/>
            <a:ext cx="54864" cy="566928"/>
          </a:xfrm>
          <a:prstGeom prst="rect">
            <a:avLst/>
          </a:prstGeom>
          <a:solidFill>
            <a:srgbClr val="E2231A"/>
          </a:solidFill>
          <a:ln/>
        </p:spPr>
      </p:sp>
      <p:sp>
        <p:nvSpPr>
          <p:cNvPr id="21" name="Text 19"/>
          <p:cNvSpPr/>
          <p:nvPr/>
        </p:nvSpPr>
        <p:spPr>
          <a:xfrm>
            <a:off x="822960" y="4187952"/>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sudo apt --fix-broken install</a:t>
            </a:r>
            <a:endParaRPr lang="en-US" sz="1300" dirty="0"/>
          </a:p>
        </p:txBody>
      </p:sp>
      <p:sp>
        <p:nvSpPr>
          <p:cNvPr id="22" name="Text 20"/>
          <p:cNvSpPr/>
          <p:nvPr/>
        </p:nvSpPr>
        <p:spPr>
          <a:xfrm>
            <a:off x="6949440" y="4187952"/>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Repara dependencias rotas antes de reintentar</a:t>
            </a:r>
            <a:endParaRPr lang="en-US" sz="1100" dirty="0"/>
          </a:p>
        </p:txBody>
      </p:sp>
      <p:sp>
        <p:nvSpPr>
          <p:cNvPr id="23" name="Shape 21"/>
          <p:cNvSpPr/>
          <p:nvPr/>
        </p:nvSpPr>
        <p:spPr>
          <a:xfrm rot="2700000">
            <a:off x="502920" y="6501384"/>
            <a:ext cx="82296" cy="82296"/>
          </a:xfrm>
          <a:prstGeom prst="rect">
            <a:avLst/>
          </a:prstGeom>
          <a:solidFill>
            <a:srgbClr val="E2231A"/>
          </a:solidFill>
          <a:ln/>
        </p:spPr>
      </p:sp>
      <p:sp>
        <p:nvSpPr>
          <p:cNvPr id="24" name="Text 22"/>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ALISTAMIENTO DE LA MÁQUINA · SI VES ESTE ERROR</a:t>
            </a:r>
            <a:endParaRPr lang="en-US" sz="800" dirty="0"/>
          </a:p>
        </p:txBody>
      </p:sp>
      <p:sp>
        <p:nvSpPr>
          <p:cNvPr id="25" name="Text 23"/>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21</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ALISTAMIENTO DE LA MÁQUINA · PASO 2 DE 3 — DNS LOCAL (BIND)</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Configura tu propio servidor DNS local con BIND (1/2)</a:t>
            </a:r>
            <a:endParaRPr lang="en-US" sz="2500" dirty="0"/>
          </a:p>
        </p:txBody>
      </p:sp>
      <p:sp>
        <p:nvSpPr>
          <p:cNvPr id="6" name="Text 4"/>
          <p:cNvSpPr/>
          <p:nvPr/>
        </p:nvSpPr>
        <p:spPr>
          <a:xfrm>
            <a:off x="548640" y="1600200"/>
            <a:ext cx="11064240" cy="365760"/>
          </a:xfrm>
          <a:prstGeom prst="rect">
            <a:avLst/>
          </a:prstGeom>
          <a:noFill/>
          <a:ln/>
        </p:spPr>
        <p:txBody>
          <a:bodyPr wrap="square" rtlCol="0" anchor="ctr"/>
          <a:lstStyle/>
          <a:p>
            <a:pPr indent="0" marL="0">
              <a:buNone/>
            </a:pPr>
            <a:r>
              <a:rPr lang="en-US" sz="1300" dirty="0">
                <a:solidFill>
                  <a:srgbClr val="6B6B6B"/>
                </a:solidFill>
                <a:latin typeface="Roboto" pitchFamily="34" charset="0"/>
                <a:ea typeface="Roboto" pitchFamily="34" charset="-122"/>
                <a:cs typeface="Roboto" pitchFamily="34" charset="-120"/>
              </a:rPr>
              <a:t>Importante: dig, nslookup y host consultan un servidor DNS directamente — NO leen /etc/hosts. Por eso en tu VM vas a instalar un servidor DNS local real (BIND), no /etc/hosts, para que www.laboratorio-bacci.test y los subdominios de la Sesión 4 resuelvan de forma consistente con cualquier herramienta. Hazlo ahora, en tu propia VM:</a:t>
            </a:r>
            <a:endParaRPr lang="en-US" sz="1300" dirty="0"/>
          </a:p>
        </p:txBody>
      </p:sp>
      <p:sp>
        <p:nvSpPr>
          <p:cNvPr id="7" name="Shape 5"/>
          <p:cNvSpPr/>
          <p:nvPr/>
        </p:nvSpPr>
        <p:spPr>
          <a:xfrm>
            <a:off x="548640" y="2103120"/>
            <a:ext cx="11064240" cy="566928"/>
          </a:xfrm>
          <a:prstGeom prst="roundRect">
            <a:avLst>
              <a:gd name="adj" fmla="val 8065"/>
            </a:avLst>
          </a:prstGeom>
          <a:solidFill>
            <a:srgbClr val="1A1A1A"/>
          </a:solidFill>
          <a:ln/>
        </p:spPr>
      </p:sp>
      <p:sp>
        <p:nvSpPr>
          <p:cNvPr id="8" name="Shape 6"/>
          <p:cNvSpPr/>
          <p:nvPr/>
        </p:nvSpPr>
        <p:spPr>
          <a:xfrm>
            <a:off x="548640" y="2103120"/>
            <a:ext cx="54864" cy="566928"/>
          </a:xfrm>
          <a:prstGeom prst="rect">
            <a:avLst/>
          </a:prstGeom>
          <a:solidFill>
            <a:srgbClr val="E2231A"/>
          </a:solidFill>
          <a:ln/>
        </p:spPr>
      </p:sp>
      <p:sp>
        <p:nvSpPr>
          <p:cNvPr id="9" name="Text 7"/>
          <p:cNvSpPr/>
          <p:nvPr/>
        </p:nvSpPr>
        <p:spPr>
          <a:xfrm>
            <a:off x="822960" y="2103120"/>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sudo apt install -y bind9</a:t>
            </a:r>
            <a:endParaRPr lang="en-US" sz="1300" dirty="0"/>
          </a:p>
        </p:txBody>
      </p:sp>
      <p:sp>
        <p:nvSpPr>
          <p:cNvPr id="10" name="Text 8"/>
          <p:cNvSpPr/>
          <p:nvPr/>
        </p:nvSpPr>
        <p:spPr>
          <a:xfrm>
            <a:off x="6949440" y="2103120"/>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Instala el servidor DNS (bind9-dnsutils ya trae los clientes dig/nslookup/host)</a:t>
            </a:r>
            <a:endParaRPr lang="en-US" sz="1100" dirty="0"/>
          </a:p>
        </p:txBody>
      </p:sp>
      <p:sp>
        <p:nvSpPr>
          <p:cNvPr id="11" name="Shape 9"/>
          <p:cNvSpPr/>
          <p:nvPr/>
        </p:nvSpPr>
        <p:spPr>
          <a:xfrm>
            <a:off x="548640" y="2798064"/>
            <a:ext cx="11064240" cy="566928"/>
          </a:xfrm>
          <a:prstGeom prst="roundRect">
            <a:avLst>
              <a:gd name="adj" fmla="val 8065"/>
            </a:avLst>
          </a:prstGeom>
          <a:solidFill>
            <a:srgbClr val="1A1A1A"/>
          </a:solidFill>
          <a:ln/>
        </p:spPr>
      </p:sp>
      <p:sp>
        <p:nvSpPr>
          <p:cNvPr id="12" name="Shape 10"/>
          <p:cNvSpPr/>
          <p:nvPr/>
        </p:nvSpPr>
        <p:spPr>
          <a:xfrm>
            <a:off x="548640" y="2798064"/>
            <a:ext cx="54864" cy="566928"/>
          </a:xfrm>
          <a:prstGeom prst="rect">
            <a:avLst/>
          </a:prstGeom>
          <a:solidFill>
            <a:srgbClr val="E2231A"/>
          </a:solidFill>
          <a:ln/>
        </p:spPr>
      </p:sp>
      <p:sp>
        <p:nvSpPr>
          <p:cNvPr id="13" name="Text 11"/>
          <p:cNvSpPr/>
          <p:nvPr/>
        </p:nvSpPr>
        <p:spPr>
          <a:xfrm>
            <a:off x="822960" y="2798064"/>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sudo nano /etc/bind/db.laboratorio-bacci.test</a:t>
            </a:r>
            <a:endParaRPr lang="en-US" sz="1300" dirty="0"/>
          </a:p>
        </p:txBody>
      </p:sp>
      <p:sp>
        <p:nvSpPr>
          <p:cNvPr id="14" name="Text 12"/>
          <p:cNvSpPr/>
          <p:nvPr/>
        </p:nvSpPr>
        <p:spPr>
          <a:xfrm>
            <a:off x="6949440" y="2798064"/>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Crea el archivo de zona con los registros del dominio (contenido completo en las notas)</a:t>
            </a:r>
            <a:endParaRPr lang="en-US" sz="1100" dirty="0"/>
          </a:p>
        </p:txBody>
      </p:sp>
      <p:sp>
        <p:nvSpPr>
          <p:cNvPr id="15" name="Shape 13"/>
          <p:cNvSpPr/>
          <p:nvPr/>
        </p:nvSpPr>
        <p:spPr>
          <a:xfrm>
            <a:off x="548640" y="3493008"/>
            <a:ext cx="11064240" cy="566928"/>
          </a:xfrm>
          <a:prstGeom prst="roundRect">
            <a:avLst>
              <a:gd name="adj" fmla="val 8065"/>
            </a:avLst>
          </a:prstGeom>
          <a:solidFill>
            <a:srgbClr val="1A1A1A"/>
          </a:solidFill>
          <a:ln/>
        </p:spPr>
      </p:sp>
      <p:sp>
        <p:nvSpPr>
          <p:cNvPr id="16" name="Shape 14"/>
          <p:cNvSpPr/>
          <p:nvPr/>
        </p:nvSpPr>
        <p:spPr>
          <a:xfrm>
            <a:off x="548640" y="3493008"/>
            <a:ext cx="54864" cy="566928"/>
          </a:xfrm>
          <a:prstGeom prst="rect">
            <a:avLst/>
          </a:prstGeom>
          <a:solidFill>
            <a:srgbClr val="E2231A"/>
          </a:solidFill>
          <a:ln/>
        </p:spPr>
      </p:sp>
      <p:sp>
        <p:nvSpPr>
          <p:cNvPr id="17" name="Text 15"/>
          <p:cNvSpPr/>
          <p:nvPr/>
        </p:nvSpPr>
        <p:spPr>
          <a:xfrm>
            <a:off x="822960" y="3493008"/>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sudo nano /etc/bind/named.conf.local</a:t>
            </a:r>
            <a:endParaRPr lang="en-US" sz="1300" dirty="0"/>
          </a:p>
        </p:txBody>
      </p:sp>
      <p:sp>
        <p:nvSpPr>
          <p:cNvPr id="18" name="Text 16"/>
          <p:cNvSpPr/>
          <p:nvPr/>
        </p:nvSpPr>
        <p:spPr>
          <a:xfrm>
            <a:off x="6949440" y="3493008"/>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Declara la zona (contenido en las notas)</a:t>
            </a:r>
            <a:endParaRPr lang="en-US" sz="1100" dirty="0"/>
          </a:p>
        </p:txBody>
      </p:sp>
      <p:sp>
        <p:nvSpPr>
          <p:cNvPr id="19" name="Shape 17"/>
          <p:cNvSpPr/>
          <p:nvPr/>
        </p:nvSpPr>
        <p:spPr>
          <a:xfrm>
            <a:off x="548640" y="4187952"/>
            <a:ext cx="11064240" cy="566928"/>
          </a:xfrm>
          <a:prstGeom prst="roundRect">
            <a:avLst>
              <a:gd name="adj" fmla="val 8065"/>
            </a:avLst>
          </a:prstGeom>
          <a:solidFill>
            <a:srgbClr val="1A1A1A"/>
          </a:solidFill>
          <a:ln/>
        </p:spPr>
      </p:sp>
      <p:sp>
        <p:nvSpPr>
          <p:cNvPr id="20" name="Shape 18"/>
          <p:cNvSpPr/>
          <p:nvPr/>
        </p:nvSpPr>
        <p:spPr>
          <a:xfrm>
            <a:off x="548640" y="4187952"/>
            <a:ext cx="54864" cy="566928"/>
          </a:xfrm>
          <a:prstGeom prst="rect">
            <a:avLst/>
          </a:prstGeom>
          <a:solidFill>
            <a:srgbClr val="E2231A"/>
          </a:solidFill>
          <a:ln/>
        </p:spPr>
      </p:sp>
      <p:sp>
        <p:nvSpPr>
          <p:cNvPr id="21" name="Text 19"/>
          <p:cNvSpPr/>
          <p:nvPr/>
        </p:nvSpPr>
        <p:spPr>
          <a:xfrm>
            <a:off x="822960" y="4187952"/>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sudo nano /etc/bind/named.conf.options</a:t>
            </a:r>
            <a:endParaRPr lang="en-US" sz="1300" dirty="0"/>
          </a:p>
        </p:txBody>
      </p:sp>
      <p:sp>
        <p:nvSpPr>
          <p:cNvPr id="22" name="Text 20"/>
          <p:cNvSpPr/>
          <p:nvPr/>
        </p:nvSpPr>
        <p:spPr>
          <a:xfrm>
            <a:off x="6949440" y="4187952"/>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Agrega forwarders para que los dominios reales (ej. example.com) sigan resolviendo (contenido en las notas)</a:t>
            </a:r>
            <a:endParaRPr lang="en-US" sz="1100" dirty="0"/>
          </a:p>
        </p:txBody>
      </p:sp>
      <p:sp>
        <p:nvSpPr>
          <p:cNvPr id="23" name="Shape 21"/>
          <p:cNvSpPr/>
          <p:nvPr/>
        </p:nvSpPr>
        <p:spPr>
          <a:xfrm>
            <a:off x="548640" y="4882896"/>
            <a:ext cx="11064240" cy="566928"/>
          </a:xfrm>
          <a:prstGeom prst="roundRect">
            <a:avLst>
              <a:gd name="adj" fmla="val 8065"/>
            </a:avLst>
          </a:prstGeom>
          <a:solidFill>
            <a:srgbClr val="1A1A1A"/>
          </a:solidFill>
          <a:ln/>
        </p:spPr>
      </p:sp>
      <p:sp>
        <p:nvSpPr>
          <p:cNvPr id="24" name="Shape 22"/>
          <p:cNvSpPr/>
          <p:nvPr/>
        </p:nvSpPr>
        <p:spPr>
          <a:xfrm>
            <a:off x="548640" y="4882896"/>
            <a:ext cx="54864" cy="566928"/>
          </a:xfrm>
          <a:prstGeom prst="rect">
            <a:avLst/>
          </a:prstGeom>
          <a:solidFill>
            <a:srgbClr val="E2231A"/>
          </a:solidFill>
          <a:ln/>
        </p:spPr>
      </p:sp>
      <p:sp>
        <p:nvSpPr>
          <p:cNvPr id="25" name="Text 23"/>
          <p:cNvSpPr/>
          <p:nvPr/>
        </p:nvSpPr>
        <p:spPr>
          <a:xfrm>
            <a:off x="822960" y="4882896"/>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sudo systemctl restart named &amp;&amp; sudo systemctl enable named</a:t>
            </a:r>
            <a:endParaRPr lang="en-US" sz="1300" dirty="0"/>
          </a:p>
        </p:txBody>
      </p:sp>
      <p:sp>
        <p:nvSpPr>
          <p:cNvPr id="26" name="Text 24"/>
          <p:cNvSpPr/>
          <p:nvPr/>
        </p:nvSpPr>
        <p:spPr>
          <a:xfrm>
            <a:off x="6949440" y="4882896"/>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Aplica los cambios y deja BIND activo tras reiniciar la VM (el servicio systemd se llama named, no bind9 — ver nota)</a:t>
            </a:r>
            <a:endParaRPr lang="en-US" sz="1100" dirty="0"/>
          </a:p>
        </p:txBody>
      </p:sp>
      <p:sp>
        <p:nvSpPr>
          <p:cNvPr id="27" name="Shape 25"/>
          <p:cNvSpPr/>
          <p:nvPr/>
        </p:nvSpPr>
        <p:spPr>
          <a:xfrm rot="2700000">
            <a:off x="502920" y="6501384"/>
            <a:ext cx="82296" cy="82296"/>
          </a:xfrm>
          <a:prstGeom prst="rect">
            <a:avLst/>
          </a:prstGeom>
          <a:solidFill>
            <a:srgbClr val="E2231A"/>
          </a:solidFill>
          <a:ln/>
        </p:spPr>
      </p:sp>
      <p:sp>
        <p:nvSpPr>
          <p:cNvPr id="28" name="Text 26"/>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ALISTAMIENTO DE LA MÁQUINA · PASO 2 DE 3 — DNS LOCAL (BIND)</a:t>
            </a:r>
            <a:endParaRPr lang="en-US" sz="800" dirty="0"/>
          </a:p>
        </p:txBody>
      </p:sp>
      <p:sp>
        <p:nvSpPr>
          <p:cNvPr id="29" name="Text 27"/>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22</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ALISTAMIENTO DE LA MÁQUINA · PASO 2 DE 3 — DNS LOCAL (BIND)</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Activa tu VM como su propio resolutor y verifica (2/2)</a:t>
            </a:r>
            <a:endParaRPr lang="en-US" sz="2500" dirty="0"/>
          </a:p>
        </p:txBody>
      </p:sp>
      <p:sp>
        <p:nvSpPr>
          <p:cNvPr id="6" name="Text 4"/>
          <p:cNvSpPr/>
          <p:nvPr/>
        </p:nvSpPr>
        <p:spPr>
          <a:xfrm>
            <a:off x="548640" y="1600200"/>
            <a:ext cx="11064240" cy="365760"/>
          </a:xfrm>
          <a:prstGeom prst="rect">
            <a:avLst/>
          </a:prstGeom>
          <a:noFill/>
          <a:ln/>
        </p:spPr>
        <p:txBody>
          <a:bodyPr wrap="square" rtlCol="0" anchor="ctr"/>
          <a:lstStyle/>
          <a:p>
            <a:pPr indent="0" marL="0">
              <a:buNone/>
            </a:pPr>
            <a:r>
              <a:rPr lang="en-US" sz="1300" dirty="0">
                <a:solidFill>
                  <a:srgbClr val="6B6B6B"/>
                </a:solidFill>
                <a:latin typeface="Roboto" pitchFamily="34" charset="0"/>
                <a:ea typeface="Roboto" pitchFamily="34" charset="-122"/>
                <a:cs typeface="Roboto" pitchFamily="34" charset="-120"/>
              </a:rPr>
              <a:t>Con la zona ya declarada (diapositiva anterior), haz que tu VM use BIND como su propio resolutor, y verifica el comportamiento — incluido el wildcard:</a:t>
            </a:r>
            <a:endParaRPr lang="en-US" sz="1300" dirty="0"/>
          </a:p>
        </p:txBody>
      </p:sp>
      <p:sp>
        <p:nvSpPr>
          <p:cNvPr id="7" name="Shape 5"/>
          <p:cNvSpPr/>
          <p:nvPr/>
        </p:nvSpPr>
        <p:spPr>
          <a:xfrm>
            <a:off x="548640" y="2103120"/>
            <a:ext cx="11064240" cy="566928"/>
          </a:xfrm>
          <a:prstGeom prst="roundRect">
            <a:avLst>
              <a:gd name="adj" fmla="val 8065"/>
            </a:avLst>
          </a:prstGeom>
          <a:solidFill>
            <a:srgbClr val="1A1A1A"/>
          </a:solidFill>
          <a:ln/>
        </p:spPr>
      </p:sp>
      <p:sp>
        <p:nvSpPr>
          <p:cNvPr id="8" name="Shape 6"/>
          <p:cNvSpPr/>
          <p:nvPr/>
        </p:nvSpPr>
        <p:spPr>
          <a:xfrm>
            <a:off x="548640" y="2103120"/>
            <a:ext cx="54864" cy="566928"/>
          </a:xfrm>
          <a:prstGeom prst="rect">
            <a:avLst/>
          </a:prstGeom>
          <a:solidFill>
            <a:srgbClr val="E2231A"/>
          </a:solidFill>
          <a:ln/>
        </p:spPr>
      </p:sp>
      <p:sp>
        <p:nvSpPr>
          <p:cNvPr id="9" name="Text 7"/>
          <p:cNvSpPr/>
          <p:nvPr/>
        </p:nvSpPr>
        <p:spPr>
          <a:xfrm>
            <a:off x="822960" y="2103120"/>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echo "nameserver 127.0.0.1" | sudo tee /etc/resolv.conf</a:t>
            </a:r>
            <a:endParaRPr lang="en-US" sz="1300" dirty="0"/>
          </a:p>
        </p:txBody>
      </p:sp>
      <p:sp>
        <p:nvSpPr>
          <p:cNvPr id="10" name="Text 8"/>
          <p:cNvSpPr/>
          <p:nvPr/>
        </p:nvSpPr>
        <p:spPr>
          <a:xfrm>
            <a:off x="6949440" y="2103120"/>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Hace que la VM consulte primero a su propio BIND</a:t>
            </a:r>
            <a:endParaRPr lang="en-US" sz="1100" dirty="0"/>
          </a:p>
        </p:txBody>
      </p:sp>
      <p:sp>
        <p:nvSpPr>
          <p:cNvPr id="11" name="Shape 9"/>
          <p:cNvSpPr/>
          <p:nvPr/>
        </p:nvSpPr>
        <p:spPr>
          <a:xfrm>
            <a:off x="548640" y="2798064"/>
            <a:ext cx="11064240" cy="566928"/>
          </a:xfrm>
          <a:prstGeom prst="roundRect">
            <a:avLst>
              <a:gd name="adj" fmla="val 8065"/>
            </a:avLst>
          </a:prstGeom>
          <a:solidFill>
            <a:srgbClr val="1A1A1A"/>
          </a:solidFill>
          <a:ln/>
        </p:spPr>
      </p:sp>
      <p:sp>
        <p:nvSpPr>
          <p:cNvPr id="12" name="Shape 10"/>
          <p:cNvSpPr/>
          <p:nvPr/>
        </p:nvSpPr>
        <p:spPr>
          <a:xfrm>
            <a:off x="548640" y="2798064"/>
            <a:ext cx="54864" cy="566928"/>
          </a:xfrm>
          <a:prstGeom prst="rect">
            <a:avLst/>
          </a:prstGeom>
          <a:solidFill>
            <a:srgbClr val="E2231A"/>
          </a:solidFill>
          <a:ln/>
        </p:spPr>
      </p:sp>
      <p:sp>
        <p:nvSpPr>
          <p:cNvPr id="13" name="Text 11"/>
          <p:cNvSpPr/>
          <p:nvPr/>
        </p:nvSpPr>
        <p:spPr>
          <a:xfrm>
            <a:off x="822960" y="2798064"/>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dig www.laboratorio-bacci.test +short</a:t>
            </a:r>
            <a:endParaRPr lang="en-US" sz="1300" dirty="0"/>
          </a:p>
        </p:txBody>
      </p:sp>
      <p:sp>
        <p:nvSpPr>
          <p:cNvPr id="14" name="Text 12"/>
          <p:cNvSpPr/>
          <p:nvPr/>
        </p:nvSpPr>
        <p:spPr>
          <a:xfrm>
            <a:off x="6949440" y="2798064"/>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Debe responder 127.0.0.1 (registro explícito de la zona)</a:t>
            </a:r>
            <a:endParaRPr lang="en-US" sz="1100" dirty="0"/>
          </a:p>
        </p:txBody>
      </p:sp>
      <p:sp>
        <p:nvSpPr>
          <p:cNvPr id="15" name="Shape 13"/>
          <p:cNvSpPr/>
          <p:nvPr/>
        </p:nvSpPr>
        <p:spPr>
          <a:xfrm>
            <a:off x="548640" y="3493008"/>
            <a:ext cx="11064240" cy="566928"/>
          </a:xfrm>
          <a:prstGeom prst="roundRect">
            <a:avLst>
              <a:gd name="adj" fmla="val 8065"/>
            </a:avLst>
          </a:prstGeom>
          <a:solidFill>
            <a:srgbClr val="1A1A1A"/>
          </a:solidFill>
          <a:ln/>
        </p:spPr>
      </p:sp>
      <p:sp>
        <p:nvSpPr>
          <p:cNvPr id="16" name="Shape 14"/>
          <p:cNvSpPr/>
          <p:nvPr/>
        </p:nvSpPr>
        <p:spPr>
          <a:xfrm>
            <a:off x="548640" y="3493008"/>
            <a:ext cx="54864" cy="566928"/>
          </a:xfrm>
          <a:prstGeom prst="rect">
            <a:avLst/>
          </a:prstGeom>
          <a:solidFill>
            <a:srgbClr val="E2231A"/>
          </a:solidFill>
          <a:ln/>
        </p:spPr>
      </p:sp>
      <p:sp>
        <p:nvSpPr>
          <p:cNvPr id="17" name="Text 15"/>
          <p:cNvSpPr/>
          <p:nvPr/>
        </p:nvSpPr>
        <p:spPr>
          <a:xfrm>
            <a:off x="822960" y="3493008"/>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dig nombre-al-azar-no-listado.laboratorio-bacci.test +short</a:t>
            </a:r>
            <a:endParaRPr lang="en-US" sz="1300" dirty="0"/>
          </a:p>
        </p:txBody>
      </p:sp>
      <p:sp>
        <p:nvSpPr>
          <p:cNvPr id="18" name="Text 16"/>
          <p:cNvSpPr/>
          <p:nvPr/>
        </p:nvSpPr>
        <p:spPr>
          <a:xfrm>
            <a:off x="6949440" y="3493008"/>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También debe responder 127.0.0.1 — así se comporta un wildcard real</a:t>
            </a:r>
            <a:endParaRPr lang="en-US" sz="1100" dirty="0"/>
          </a:p>
        </p:txBody>
      </p:sp>
      <p:sp>
        <p:nvSpPr>
          <p:cNvPr id="19" name="Shape 17"/>
          <p:cNvSpPr/>
          <p:nvPr/>
        </p:nvSpPr>
        <p:spPr>
          <a:xfrm>
            <a:off x="548640" y="4187952"/>
            <a:ext cx="11064240" cy="566928"/>
          </a:xfrm>
          <a:prstGeom prst="roundRect">
            <a:avLst>
              <a:gd name="adj" fmla="val 8065"/>
            </a:avLst>
          </a:prstGeom>
          <a:solidFill>
            <a:srgbClr val="1A1A1A"/>
          </a:solidFill>
          <a:ln/>
        </p:spPr>
      </p:sp>
      <p:sp>
        <p:nvSpPr>
          <p:cNvPr id="20" name="Shape 18"/>
          <p:cNvSpPr/>
          <p:nvPr/>
        </p:nvSpPr>
        <p:spPr>
          <a:xfrm>
            <a:off x="548640" y="4187952"/>
            <a:ext cx="54864" cy="566928"/>
          </a:xfrm>
          <a:prstGeom prst="rect">
            <a:avLst/>
          </a:prstGeom>
          <a:solidFill>
            <a:srgbClr val="E2231A"/>
          </a:solidFill>
          <a:ln/>
        </p:spPr>
      </p:sp>
      <p:sp>
        <p:nvSpPr>
          <p:cNvPr id="21" name="Text 19"/>
          <p:cNvSpPr/>
          <p:nvPr/>
        </p:nvSpPr>
        <p:spPr>
          <a:xfrm>
            <a:off x="822960" y="4187952"/>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dig dev.laboratorio-bacci.test +short</a:t>
            </a:r>
            <a:endParaRPr lang="en-US" sz="1300" dirty="0"/>
          </a:p>
        </p:txBody>
      </p:sp>
      <p:sp>
        <p:nvSpPr>
          <p:cNvPr id="22" name="Text 20"/>
          <p:cNvSpPr/>
          <p:nvPr/>
        </p:nvSpPr>
        <p:spPr>
          <a:xfrm>
            <a:off x="6949440" y="4187952"/>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Debe responder vacío (NODATA): registrado, pero sin registro A</a:t>
            </a:r>
            <a:endParaRPr lang="en-US" sz="1100" dirty="0"/>
          </a:p>
        </p:txBody>
      </p:sp>
      <p:sp>
        <p:nvSpPr>
          <p:cNvPr id="23" name="Shape 21"/>
          <p:cNvSpPr/>
          <p:nvPr/>
        </p:nvSpPr>
        <p:spPr>
          <a:xfrm>
            <a:off x="548640" y="4882896"/>
            <a:ext cx="11064240" cy="566928"/>
          </a:xfrm>
          <a:prstGeom prst="roundRect">
            <a:avLst>
              <a:gd name="adj" fmla="val 8065"/>
            </a:avLst>
          </a:prstGeom>
          <a:solidFill>
            <a:srgbClr val="1A1A1A"/>
          </a:solidFill>
          <a:ln/>
        </p:spPr>
      </p:sp>
      <p:sp>
        <p:nvSpPr>
          <p:cNvPr id="24" name="Shape 22"/>
          <p:cNvSpPr/>
          <p:nvPr/>
        </p:nvSpPr>
        <p:spPr>
          <a:xfrm>
            <a:off x="548640" y="4882896"/>
            <a:ext cx="54864" cy="566928"/>
          </a:xfrm>
          <a:prstGeom prst="rect">
            <a:avLst/>
          </a:prstGeom>
          <a:solidFill>
            <a:srgbClr val="E2231A"/>
          </a:solidFill>
          <a:ln/>
        </p:spPr>
      </p:sp>
      <p:sp>
        <p:nvSpPr>
          <p:cNvPr id="25" name="Text 23"/>
          <p:cNvSpPr/>
          <p:nvPr/>
        </p:nvSpPr>
        <p:spPr>
          <a:xfrm>
            <a:off x="822960" y="4882896"/>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dig example.com +short</a:t>
            </a:r>
            <a:endParaRPr lang="en-US" sz="1300" dirty="0"/>
          </a:p>
        </p:txBody>
      </p:sp>
      <p:sp>
        <p:nvSpPr>
          <p:cNvPr id="26" name="Text 24"/>
          <p:cNvSpPr/>
          <p:nvPr/>
        </p:nvSpPr>
        <p:spPr>
          <a:xfrm>
            <a:off x="6949440" y="4882896"/>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Debe seguir resolviendo un dominio real — confirma que el reenvío (forwarders) funciona</a:t>
            </a:r>
            <a:endParaRPr lang="en-US" sz="1100" dirty="0"/>
          </a:p>
        </p:txBody>
      </p:sp>
      <p:sp>
        <p:nvSpPr>
          <p:cNvPr id="27" name="Shape 25"/>
          <p:cNvSpPr/>
          <p:nvPr/>
        </p:nvSpPr>
        <p:spPr>
          <a:xfrm rot="2700000">
            <a:off x="502920" y="6501384"/>
            <a:ext cx="82296" cy="82296"/>
          </a:xfrm>
          <a:prstGeom prst="rect">
            <a:avLst/>
          </a:prstGeom>
          <a:solidFill>
            <a:srgbClr val="E2231A"/>
          </a:solidFill>
          <a:ln/>
        </p:spPr>
      </p:sp>
      <p:sp>
        <p:nvSpPr>
          <p:cNvPr id="28" name="Text 26"/>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ALISTAMIENTO DE LA MÁQUINA · PASO 2 DE 3 — DNS LOCAL (BIND)</a:t>
            </a:r>
            <a:endParaRPr lang="en-US" sz="800" dirty="0"/>
          </a:p>
        </p:txBody>
      </p:sp>
      <p:sp>
        <p:nvSpPr>
          <p:cNvPr id="29" name="Text 27"/>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23</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ALISTAMIENTO DE LA MÁQUINA · PASO 3 DE 3 — SITIO HTTPS DE PRÁCTICA</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Genera la CA y el certificado de www.laboratorio-bacci.test:8443 (1/2)</a:t>
            </a:r>
            <a:endParaRPr lang="en-US" sz="2500" dirty="0"/>
          </a:p>
        </p:txBody>
      </p:sp>
      <p:sp>
        <p:nvSpPr>
          <p:cNvPr id="6" name="Text 4"/>
          <p:cNvSpPr/>
          <p:nvPr/>
        </p:nvSpPr>
        <p:spPr>
          <a:xfrm>
            <a:off x="548640" y="1600200"/>
            <a:ext cx="11064240" cy="365760"/>
          </a:xfrm>
          <a:prstGeom prst="rect">
            <a:avLst/>
          </a:prstGeom>
          <a:noFill/>
          <a:ln/>
        </p:spPr>
        <p:txBody>
          <a:bodyPr wrap="square" rtlCol="0" anchor="ctr"/>
          <a:lstStyle/>
          <a:p>
            <a:pPr indent="0" marL="0">
              <a:buNone/>
            </a:pPr>
            <a:r>
              <a:rPr lang="en-US" sz="1300" dirty="0">
                <a:solidFill>
                  <a:srgbClr val="6B6B6B"/>
                </a:solidFill>
                <a:latin typeface="Roboto" pitchFamily="34" charset="0"/>
                <a:ea typeface="Roboto" pitchFamily="34" charset="-122"/>
                <a:cs typeface="Roboto" pitchFamily="34" charset="-120"/>
              </a:rPr>
              <a:t>Último paso del alistamiento: preparar el sitio HTTPS de práctica usado en los Laboratorios 1, 5 y 6. El nombre ya resuelve por BIND (diapositiva anterior); ahora falta el certificado. Ejecuta esto en tu propia VM:</a:t>
            </a:r>
            <a:endParaRPr lang="en-US" sz="1300" dirty="0"/>
          </a:p>
        </p:txBody>
      </p:sp>
      <p:sp>
        <p:nvSpPr>
          <p:cNvPr id="7" name="Shape 5"/>
          <p:cNvSpPr/>
          <p:nvPr/>
        </p:nvSpPr>
        <p:spPr>
          <a:xfrm>
            <a:off x="548640" y="2103120"/>
            <a:ext cx="11064240" cy="566928"/>
          </a:xfrm>
          <a:prstGeom prst="roundRect">
            <a:avLst>
              <a:gd name="adj" fmla="val 8065"/>
            </a:avLst>
          </a:prstGeom>
          <a:solidFill>
            <a:srgbClr val="1A1A1A"/>
          </a:solidFill>
          <a:ln/>
        </p:spPr>
      </p:sp>
      <p:sp>
        <p:nvSpPr>
          <p:cNvPr id="8" name="Shape 6"/>
          <p:cNvSpPr/>
          <p:nvPr/>
        </p:nvSpPr>
        <p:spPr>
          <a:xfrm>
            <a:off x="548640" y="2103120"/>
            <a:ext cx="54864" cy="566928"/>
          </a:xfrm>
          <a:prstGeom prst="rect">
            <a:avLst/>
          </a:prstGeom>
          <a:solidFill>
            <a:srgbClr val="E2231A"/>
          </a:solidFill>
          <a:ln/>
        </p:spPr>
      </p:sp>
      <p:sp>
        <p:nvSpPr>
          <p:cNvPr id="9" name="Text 7"/>
          <p:cNvSpPr/>
          <p:nvPr/>
        </p:nvSpPr>
        <p:spPr>
          <a:xfrm>
            <a:off x="822960" y="2103120"/>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openssl genrsa -out lab-ca.key 4096</a:t>
            </a:r>
            <a:endParaRPr lang="en-US" sz="1300" dirty="0"/>
          </a:p>
        </p:txBody>
      </p:sp>
      <p:sp>
        <p:nvSpPr>
          <p:cNvPr id="10" name="Text 8"/>
          <p:cNvSpPr/>
          <p:nvPr/>
        </p:nvSpPr>
        <p:spPr>
          <a:xfrm>
            <a:off x="6949440" y="2103120"/>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Clave privada de tu CA de laboratorio (nunca se distribuye)</a:t>
            </a:r>
            <a:endParaRPr lang="en-US" sz="1100" dirty="0"/>
          </a:p>
        </p:txBody>
      </p:sp>
      <p:sp>
        <p:nvSpPr>
          <p:cNvPr id="11" name="Shape 9"/>
          <p:cNvSpPr/>
          <p:nvPr/>
        </p:nvSpPr>
        <p:spPr>
          <a:xfrm>
            <a:off x="548640" y="2798064"/>
            <a:ext cx="11064240" cy="566928"/>
          </a:xfrm>
          <a:prstGeom prst="roundRect">
            <a:avLst>
              <a:gd name="adj" fmla="val 8065"/>
            </a:avLst>
          </a:prstGeom>
          <a:solidFill>
            <a:srgbClr val="1A1A1A"/>
          </a:solidFill>
          <a:ln/>
        </p:spPr>
      </p:sp>
      <p:sp>
        <p:nvSpPr>
          <p:cNvPr id="12" name="Shape 10"/>
          <p:cNvSpPr/>
          <p:nvPr/>
        </p:nvSpPr>
        <p:spPr>
          <a:xfrm>
            <a:off x="548640" y="2798064"/>
            <a:ext cx="54864" cy="566928"/>
          </a:xfrm>
          <a:prstGeom prst="rect">
            <a:avLst/>
          </a:prstGeom>
          <a:solidFill>
            <a:srgbClr val="E2231A"/>
          </a:solidFill>
          <a:ln/>
        </p:spPr>
      </p:sp>
      <p:sp>
        <p:nvSpPr>
          <p:cNvPr id="13" name="Text 11"/>
          <p:cNvSpPr/>
          <p:nvPr/>
        </p:nvSpPr>
        <p:spPr>
          <a:xfrm>
            <a:off x="822960" y="2798064"/>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openssl req -x509 -new -key lab-ca.key -sha256 -days 365 -out lab-ca.crt -subj "/CN=Laboratorio BACCI CA/O=Curso Ciberseguridad"</a:t>
            </a:r>
            <a:endParaRPr lang="en-US" sz="1300" dirty="0"/>
          </a:p>
        </p:txBody>
      </p:sp>
      <p:sp>
        <p:nvSpPr>
          <p:cNvPr id="14" name="Text 12"/>
          <p:cNvSpPr/>
          <p:nvPr/>
        </p:nvSpPr>
        <p:spPr>
          <a:xfrm>
            <a:off x="6949440" y="2798064"/>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Certificado autofirmado de la CA (este sí se distribuye/importa)</a:t>
            </a:r>
            <a:endParaRPr lang="en-US" sz="1100" dirty="0"/>
          </a:p>
        </p:txBody>
      </p:sp>
      <p:sp>
        <p:nvSpPr>
          <p:cNvPr id="15" name="Shape 13"/>
          <p:cNvSpPr/>
          <p:nvPr/>
        </p:nvSpPr>
        <p:spPr>
          <a:xfrm>
            <a:off x="548640" y="3493008"/>
            <a:ext cx="11064240" cy="566928"/>
          </a:xfrm>
          <a:prstGeom prst="roundRect">
            <a:avLst>
              <a:gd name="adj" fmla="val 8065"/>
            </a:avLst>
          </a:prstGeom>
          <a:solidFill>
            <a:srgbClr val="1A1A1A"/>
          </a:solidFill>
          <a:ln/>
        </p:spPr>
      </p:sp>
      <p:sp>
        <p:nvSpPr>
          <p:cNvPr id="16" name="Shape 14"/>
          <p:cNvSpPr/>
          <p:nvPr/>
        </p:nvSpPr>
        <p:spPr>
          <a:xfrm>
            <a:off x="548640" y="3493008"/>
            <a:ext cx="54864" cy="566928"/>
          </a:xfrm>
          <a:prstGeom prst="rect">
            <a:avLst/>
          </a:prstGeom>
          <a:solidFill>
            <a:srgbClr val="E2231A"/>
          </a:solidFill>
          <a:ln/>
        </p:spPr>
      </p:sp>
      <p:sp>
        <p:nvSpPr>
          <p:cNvPr id="17" name="Text 15"/>
          <p:cNvSpPr/>
          <p:nvPr/>
        </p:nvSpPr>
        <p:spPr>
          <a:xfrm>
            <a:off x="822960" y="3493008"/>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openssl genrsa -out server.key 2048</a:t>
            </a:r>
            <a:endParaRPr lang="en-US" sz="1300" dirty="0"/>
          </a:p>
        </p:txBody>
      </p:sp>
      <p:sp>
        <p:nvSpPr>
          <p:cNvPr id="18" name="Text 16"/>
          <p:cNvSpPr/>
          <p:nvPr/>
        </p:nvSpPr>
        <p:spPr>
          <a:xfrm>
            <a:off x="6949440" y="3493008"/>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Clave privada del servidor de práctica</a:t>
            </a:r>
            <a:endParaRPr lang="en-US" sz="1100" dirty="0"/>
          </a:p>
        </p:txBody>
      </p:sp>
      <p:sp>
        <p:nvSpPr>
          <p:cNvPr id="19" name="Shape 17"/>
          <p:cNvSpPr/>
          <p:nvPr/>
        </p:nvSpPr>
        <p:spPr>
          <a:xfrm>
            <a:off x="548640" y="4187952"/>
            <a:ext cx="11064240" cy="566928"/>
          </a:xfrm>
          <a:prstGeom prst="roundRect">
            <a:avLst>
              <a:gd name="adj" fmla="val 8065"/>
            </a:avLst>
          </a:prstGeom>
          <a:solidFill>
            <a:srgbClr val="1A1A1A"/>
          </a:solidFill>
          <a:ln/>
        </p:spPr>
      </p:sp>
      <p:sp>
        <p:nvSpPr>
          <p:cNvPr id="20" name="Shape 18"/>
          <p:cNvSpPr/>
          <p:nvPr/>
        </p:nvSpPr>
        <p:spPr>
          <a:xfrm>
            <a:off x="548640" y="4187952"/>
            <a:ext cx="54864" cy="566928"/>
          </a:xfrm>
          <a:prstGeom prst="rect">
            <a:avLst/>
          </a:prstGeom>
          <a:solidFill>
            <a:srgbClr val="E2231A"/>
          </a:solidFill>
          <a:ln/>
        </p:spPr>
      </p:sp>
      <p:sp>
        <p:nvSpPr>
          <p:cNvPr id="21" name="Text 19"/>
          <p:cNvSpPr/>
          <p:nvPr/>
        </p:nvSpPr>
        <p:spPr>
          <a:xfrm>
            <a:off x="822960" y="4187952"/>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openssl req -new -key server.key -out server.csr -subj "/CN=www.laboratorio-bacci.test"</a:t>
            </a:r>
            <a:endParaRPr lang="en-US" sz="1300" dirty="0"/>
          </a:p>
        </p:txBody>
      </p:sp>
      <p:sp>
        <p:nvSpPr>
          <p:cNvPr id="22" name="Text 20"/>
          <p:cNvSpPr/>
          <p:nvPr/>
        </p:nvSpPr>
        <p:spPr>
          <a:xfrm>
            <a:off x="6949440" y="4187952"/>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Solicitud de certificado (CSR) del servidor</a:t>
            </a:r>
            <a:endParaRPr lang="en-US" sz="1100" dirty="0"/>
          </a:p>
        </p:txBody>
      </p:sp>
      <p:sp>
        <p:nvSpPr>
          <p:cNvPr id="23" name="Shape 21"/>
          <p:cNvSpPr/>
          <p:nvPr/>
        </p:nvSpPr>
        <p:spPr>
          <a:xfrm rot="2700000">
            <a:off x="502920" y="6501384"/>
            <a:ext cx="82296" cy="82296"/>
          </a:xfrm>
          <a:prstGeom prst="rect">
            <a:avLst/>
          </a:prstGeom>
          <a:solidFill>
            <a:srgbClr val="E2231A"/>
          </a:solidFill>
          <a:ln/>
        </p:spPr>
      </p:sp>
      <p:sp>
        <p:nvSpPr>
          <p:cNvPr id="24" name="Text 22"/>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ALISTAMIENTO DE LA MÁQUINA · PASO 3 DE 3 — SITIO HTTPS DE PRÁCTICA</a:t>
            </a:r>
            <a:endParaRPr lang="en-US" sz="800" dirty="0"/>
          </a:p>
        </p:txBody>
      </p:sp>
      <p:sp>
        <p:nvSpPr>
          <p:cNvPr id="25" name="Text 23"/>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24</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ALISTAMIENTO DE LA MÁQUINA · PASO 3 DE 3 — SITIO HTTPS DE PRÁCTICA</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Firma el certificado y levanta el sitio en el puerto 8443 (2/2)</a:t>
            </a:r>
            <a:endParaRPr lang="en-US" sz="2500" dirty="0"/>
          </a:p>
        </p:txBody>
      </p:sp>
      <p:sp>
        <p:nvSpPr>
          <p:cNvPr id="6" name="Text 4"/>
          <p:cNvSpPr/>
          <p:nvPr/>
        </p:nvSpPr>
        <p:spPr>
          <a:xfrm>
            <a:off x="548640" y="1600200"/>
            <a:ext cx="11064240" cy="365760"/>
          </a:xfrm>
          <a:prstGeom prst="rect">
            <a:avLst/>
          </a:prstGeom>
          <a:noFill/>
          <a:ln/>
        </p:spPr>
        <p:txBody>
          <a:bodyPr wrap="square" rtlCol="0" anchor="ctr"/>
          <a:lstStyle/>
          <a:p>
            <a:pPr indent="0" marL="0">
              <a:buNone/>
            </a:pPr>
            <a:r>
              <a:rPr lang="en-US" sz="1300" dirty="0">
                <a:solidFill>
                  <a:srgbClr val="6B6B6B"/>
                </a:solidFill>
                <a:latin typeface="Roboto" pitchFamily="34" charset="0"/>
                <a:ea typeface="Roboto" pitchFamily="34" charset="-122"/>
                <a:cs typeface="Roboto" pitchFamily="34" charset="-120"/>
              </a:rPr>
              <a:t>Con la CA y la CSR ya generadas (diapositiva anterior), firma el certificado del servidor y levanta el sitio en el puerto 8443:</a:t>
            </a:r>
            <a:endParaRPr lang="en-US" sz="1300" dirty="0"/>
          </a:p>
        </p:txBody>
      </p:sp>
      <p:sp>
        <p:nvSpPr>
          <p:cNvPr id="7" name="Shape 5"/>
          <p:cNvSpPr/>
          <p:nvPr/>
        </p:nvSpPr>
        <p:spPr>
          <a:xfrm>
            <a:off x="548640" y="2103120"/>
            <a:ext cx="11064240" cy="566928"/>
          </a:xfrm>
          <a:prstGeom prst="roundRect">
            <a:avLst>
              <a:gd name="adj" fmla="val 8065"/>
            </a:avLst>
          </a:prstGeom>
          <a:solidFill>
            <a:srgbClr val="1A1A1A"/>
          </a:solidFill>
          <a:ln/>
        </p:spPr>
      </p:sp>
      <p:sp>
        <p:nvSpPr>
          <p:cNvPr id="8" name="Shape 6"/>
          <p:cNvSpPr/>
          <p:nvPr/>
        </p:nvSpPr>
        <p:spPr>
          <a:xfrm>
            <a:off x="548640" y="2103120"/>
            <a:ext cx="54864" cy="566928"/>
          </a:xfrm>
          <a:prstGeom prst="rect">
            <a:avLst/>
          </a:prstGeom>
          <a:solidFill>
            <a:srgbClr val="E2231A"/>
          </a:solidFill>
          <a:ln/>
        </p:spPr>
      </p:sp>
      <p:sp>
        <p:nvSpPr>
          <p:cNvPr id="9" name="Text 7"/>
          <p:cNvSpPr/>
          <p:nvPr/>
        </p:nvSpPr>
        <p:spPr>
          <a:xfrm>
            <a:off x="822960" y="2103120"/>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openssl x509 -req -in server.csr -CA lab-ca.crt -CAkey lab-ca.key -CAcreateserial -out server.crt -days 365 -sha256</a:t>
            </a:r>
            <a:endParaRPr lang="en-US" sz="1300" dirty="0"/>
          </a:p>
        </p:txBody>
      </p:sp>
      <p:sp>
        <p:nvSpPr>
          <p:cNvPr id="10" name="Text 8"/>
          <p:cNvSpPr/>
          <p:nvPr/>
        </p:nvSpPr>
        <p:spPr>
          <a:xfrm>
            <a:off x="6949440" y="2103120"/>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Firma el CSR con la CA de laboratorio y produce server.crt</a:t>
            </a:r>
            <a:endParaRPr lang="en-US" sz="1100" dirty="0"/>
          </a:p>
        </p:txBody>
      </p:sp>
      <p:sp>
        <p:nvSpPr>
          <p:cNvPr id="11" name="Shape 9"/>
          <p:cNvSpPr/>
          <p:nvPr/>
        </p:nvSpPr>
        <p:spPr>
          <a:xfrm>
            <a:off x="548640" y="2798064"/>
            <a:ext cx="11064240" cy="566928"/>
          </a:xfrm>
          <a:prstGeom prst="roundRect">
            <a:avLst>
              <a:gd name="adj" fmla="val 8065"/>
            </a:avLst>
          </a:prstGeom>
          <a:solidFill>
            <a:srgbClr val="1A1A1A"/>
          </a:solidFill>
          <a:ln/>
        </p:spPr>
      </p:sp>
      <p:sp>
        <p:nvSpPr>
          <p:cNvPr id="12" name="Shape 10"/>
          <p:cNvSpPr/>
          <p:nvPr/>
        </p:nvSpPr>
        <p:spPr>
          <a:xfrm>
            <a:off x="548640" y="2798064"/>
            <a:ext cx="54864" cy="566928"/>
          </a:xfrm>
          <a:prstGeom prst="rect">
            <a:avLst/>
          </a:prstGeom>
          <a:solidFill>
            <a:srgbClr val="E2231A"/>
          </a:solidFill>
          <a:ln/>
        </p:spPr>
      </p:sp>
      <p:sp>
        <p:nvSpPr>
          <p:cNvPr id="13" name="Text 11"/>
          <p:cNvSpPr/>
          <p:nvPr/>
        </p:nvSpPr>
        <p:spPr>
          <a:xfrm>
            <a:off x="822960" y="2798064"/>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openssl s_server -accept 8443 -cert server.crt -key server.key -www</a:t>
            </a:r>
            <a:endParaRPr lang="en-US" sz="1300" dirty="0"/>
          </a:p>
        </p:txBody>
      </p:sp>
      <p:sp>
        <p:nvSpPr>
          <p:cNvPr id="14" name="Text 12"/>
          <p:cNvSpPr/>
          <p:nvPr/>
        </p:nvSpPr>
        <p:spPr>
          <a:xfrm>
            <a:off x="6949440" y="2798064"/>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Levanta el sitio HTTPS de práctica en el puerto 8443 (deja la terminal ocupada; Ctrl+C para detener) — usa -www minúscula, no -WWW</a:t>
            </a:r>
            <a:endParaRPr lang="en-US" sz="1100" dirty="0"/>
          </a:p>
        </p:txBody>
      </p:sp>
      <p:sp>
        <p:nvSpPr>
          <p:cNvPr id="15" name="Shape 13"/>
          <p:cNvSpPr/>
          <p:nvPr/>
        </p:nvSpPr>
        <p:spPr>
          <a:xfrm>
            <a:off x="548640" y="3493008"/>
            <a:ext cx="11064240" cy="566928"/>
          </a:xfrm>
          <a:prstGeom prst="roundRect">
            <a:avLst>
              <a:gd name="adj" fmla="val 8065"/>
            </a:avLst>
          </a:prstGeom>
          <a:solidFill>
            <a:srgbClr val="1A1A1A"/>
          </a:solidFill>
          <a:ln/>
        </p:spPr>
      </p:sp>
      <p:sp>
        <p:nvSpPr>
          <p:cNvPr id="16" name="Shape 14"/>
          <p:cNvSpPr/>
          <p:nvPr/>
        </p:nvSpPr>
        <p:spPr>
          <a:xfrm>
            <a:off x="548640" y="3493008"/>
            <a:ext cx="54864" cy="566928"/>
          </a:xfrm>
          <a:prstGeom prst="rect">
            <a:avLst/>
          </a:prstGeom>
          <a:solidFill>
            <a:srgbClr val="E2231A"/>
          </a:solidFill>
          <a:ln/>
        </p:spPr>
      </p:sp>
      <p:sp>
        <p:nvSpPr>
          <p:cNvPr id="17" name="Text 15"/>
          <p:cNvSpPr/>
          <p:nvPr/>
        </p:nvSpPr>
        <p:spPr>
          <a:xfrm>
            <a:off x="822960" y="3493008"/>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curl -v --cacert lab-ca.crt https://www.laboratorio-bacci.test:8443</a:t>
            </a:r>
            <a:endParaRPr lang="en-US" sz="1300" dirty="0"/>
          </a:p>
        </p:txBody>
      </p:sp>
      <p:sp>
        <p:nvSpPr>
          <p:cNvPr id="18" name="Text 16"/>
          <p:cNvSpPr/>
          <p:nvPr/>
        </p:nvSpPr>
        <p:spPr>
          <a:xfrm>
            <a:off x="6949440" y="3493008"/>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Verifica que el sitio responde antes de dar la VM por lista</a:t>
            </a:r>
            <a:endParaRPr lang="en-US" sz="1100" dirty="0"/>
          </a:p>
        </p:txBody>
      </p:sp>
      <p:sp>
        <p:nvSpPr>
          <p:cNvPr id="19" name="Shape 17"/>
          <p:cNvSpPr/>
          <p:nvPr/>
        </p:nvSpPr>
        <p:spPr>
          <a:xfrm rot="2700000">
            <a:off x="502920" y="6501384"/>
            <a:ext cx="82296" cy="82296"/>
          </a:xfrm>
          <a:prstGeom prst="rect">
            <a:avLst/>
          </a:prstGeom>
          <a:solidFill>
            <a:srgbClr val="E2231A"/>
          </a:solidFill>
          <a:ln/>
        </p:spPr>
      </p:sp>
      <p:sp>
        <p:nvSpPr>
          <p:cNvPr id="20" name="Text 18"/>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ALISTAMIENTO DE LA MÁQUINA · PASO 3 DE 3 — SITIO HTTPS DE PRÁCTICA</a:t>
            </a:r>
            <a:endParaRPr lang="en-US" sz="800" dirty="0"/>
          </a:p>
        </p:txBody>
      </p:sp>
      <p:sp>
        <p:nvSpPr>
          <p:cNvPr id="21" name="Text 19"/>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25</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2231A"/>
        </a:solidFill>
      </p:bgPr>
    </p:bg>
    <p:spTree>
      <p:nvGrpSpPr>
        <p:cNvPr id="1" name=""/>
        <p:cNvGrpSpPr/>
        <p:nvPr/>
      </p:nvGrpSpPr>
      <p:grpSpPr>
        <a:xfrm>
          <a:off x="0" y="0"/>
          <a:ext cx="0" cy="0"/>
          <a:chOff x="0" y="0"/>
          <a:chExt cx="0" cy="0"/>
        </a:xfrm>
      </p:grpSpPr>
      <p:sp>
        <p:nvSpPr>
          <p:cNvPr id="2" name="Shape 0"/>
          <p:cNvSpPr/>
          <p:nvPr/>
        </p:nvSpPr>
        <p:spPr>
          <a:xfrm>
            <a:off x="9692640" y="3840480"/>
            <a:ext cx="4937760" cy="4937760"/>
          </a:xfrm>
          <a:prstGeom prst="ellipse">
            <a:avLst/>
          </a:prstGeom>
          <a:solidFill>
            <a:srgbClr val="A81810">
              <a:alpha val="70000"/>
            </a:srgbClr>
          </a:solidFill>
          <a:ln/>
        </p:spPr>
      </p:sp>
      <p:sp>
        <p:nvSpPr>
          <p:cNvPr id="3" name="Shape 1"/>
          <p:cNvSpPr/>
          <p:nvPr/>
        </p:nvSpPr>
        <p:spPr>
          <a:xfrm>
            <a:off x="-1097280" y="-1097280"/>
            <a:ext cx="2377440" cy="2377440"/>
          </a:xfrm>
          <a:prstGeom prst="ellipse">
            <a:avLst/>
          </a:prstGeom>
          <a:solidFill>
            <a:srgbClr val="A81810">
              <a:alpha val="70000"/>
            </a:srgbClr>
          </a:solidFill>
          <a:ln/>
        </p:spPr>
      </p:sp>
      <p:sp>
        <p:nvSpPr>
          <p:cNvPr id="4" name="Text 2"/>
          <p:cNvSpPr/>
          <p:nvPr/>
        </p:nvSpPr>
        <p:spPr>
          <a:xfrm>
            <a:off x="914400" y="2606040"/>
            <a:ext cx="9144000" cy="365760"/>
          </a:xfrm>
          <a:prstGeom prst="rect">
            <a:avLst/>
          </a:prstGeom>
          <a:noFill/>
          <a:ln/>
        </p:spPr>
        <p:txBody>
          <a:bodyPr wrap="square" rtlCol="0" anchor="ctr"/>
          <a:lstStyle/>
          <a:p>
            <a:pPr indent="0" marL="0">
              <a:buNone/>
            </a:pPr>
            <a:r>
              <a:rPr lang="en-US" sz="1300" b="1" spc="150" kern="0" dirty="0">
                <a:solidFill>
                  <a:srgbClr val="FEB126"/>
                </a:solidFill>
                <a:latin typeface="Roboto" pitchFamily="34" charset="0"/>
                <a:ea typeface="Roboto" pitchFamily="34" charset="-122"/>
                <a:cs typeface="Roboto" pitchFamily="34" charset="-120"/>
              </a:rPr>
              <a:t>CHECKLIST LAB-READY · 11:00 A. M. – 12:00 M. (1 HORA)</a:t>
            </a:r>
            <a:endParaRPr lang="en-US" sz="1300" dirty="0"/>
          </a:p>
        </p:txBody>
      </p:sp>
      <p:sp>
        <p:nvSpPr>
          <p:cNvPr id="5" name="Text 3"/>
          <p:cNvSpPr/>
          <p:nvPr/>
        </p:nvSpPr>
        <p:spPr>
          <a:xfrm>
            <a:off x="914400" y="2971800"/>
            <a:ext cx="9875520" cy="1188720"/>
          </a:xfrm>
          <a:prstGeom prst="rect">
            <a:avLst/>
          </a:prstGeom>
          <a:noFill/>
          <a:ln/>
        </p:spPr>
        <p:txBody>
          <a:bodyPr wrap="square" rtlCol="0" anchor="ctr"/>
          <a:lstStyle/>
          <a:p>
            <a:pPr indent="0" marL="0">
              <a:buNone/>
            </a:pPr>
            <a:r>
              <a:rPr lang="en-US" sz="3400" b="1" dirty="0">
                <a:solidFill>
                  <a:srgbClr val="FFFFFF"/>
                </a:solidFill>
                <a:latin typeface="Roboto" pitchFamily="34" charset="0"/>
                <a:ea typeface="Roboto" pitchFamily="34" charset="-122"/>
                <a:cs typeface="Roboto" pitchFamily="34" charset="-120"/>
              </a:rPr>
              <a:t>Ahora, verifica que todo quedó funcionando</a:t>
            </a:r>
            <a:endParaRPr lang="en-US" sz="3400" dirty="0"/>
          </a:p>
        </p:txBody>
      </p:sp>
      <p:sp>
        <p:nvSpPr>
          <p:cNvPr id="6" name="Text 4"/>
          <p:cNvSpPr/>
          <p:nvPr/>
        </p:nvSpPr>
        <p:spPr>
          <a:xfrm>
            <a:off x="914400" y="4069080"/>
            <a:ext cx="8961120" cy="640080"/>
          </a:xfrm>
          <a:prstGeom prst="rect">
            <a:avLst/>
          </a:prstGeom>
          <a:noFill/>
          <a:ln/>
        </p:spPr>
        <p:txBody>
          <a:bodyPr wrap="square" rtlCol="0" anchor="ctr"/>
          <a:lstStyle/>
          <a:p>
            <a:pPr indent="0" marL="0">
              <a:buNone/>
            </a:pPr>
            <a:r>
              <a:rPr lang="en-US" sz="1500" dirty="0">
                <a:solidFill>
                  <a:srgbClr val="FBDAD8"/>
                </a:solidFill>
                <a:latin typeface="Roboto" pitchFamily="34" charset="0"/>
                <a:ea typeface="Roboto" pitchFamily="34" charset="-122"/>
                <a:cs typeface="Roboto" pitchFamily="34" charset="-120"/>
              </a:rPr>
              <a:t>6 partes rápidas: conectividad, herramientas base, DNS/OSINT, subdominios, Burp/ZAP/Juice Shop, y certificados/repositorio/snapshot.</a:t>
            </a:r>
            <a:endParaRPr lang="en-US" sz="1500" dirty="0"/>
          </a:p>
        </p:txBody>
      </p:sp>
      <p:sp>
        <p:nvSpPr>
          <p:cNvPr id="7" name="Shape 5"/>
          <p:cNvSpPr/>
          <p:nvPr/>
        </p:nvSpPr>
        <p:spPr>
          <a:xfrm rot="2700000">
            <a:off x="502920" y="6501384"/>
            <a:ext cx="82296" cy="82296"/>
          </a:xfrm>
          <a:prstGeom prst="rect">
            <a:avLst/>
          </a:prstGeom>
          <a:solidFill>
            <a:srgbClr val="FFFFFF"/>
          </a:solidFill>
          <a:ln/>
        </p:spPr>
      </p:sp>
      <p:sp>
        <p:nvSpPr>
          <p:cNvPr id="8" name="Text 6"/>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F4D9D7"/>
                </a:solidFill>
                <a:latin typeface="Roboto" pitchFamily="34" charset="0"/>
                <a:ea typeface="Roboto" pitchFamily="34" charset="-122"/>
                <a:cs typeface="Roboto" pitchFamily="34" charset="-120"/>
              </a:rPr>
              <a:t>BACCI · CAPACITACIÓN EN CIBERDEFENSA Y CIBERSEGURIDAD · 40 HORAS</a:t>
            </a:r>
            <a:endParaRPr lang="en-US" sz="800" dirty="0"/>
          </a:p>
        </p:txBody>
      </p:sp>
      <p:sp>
        <p:nvSpPr>
          <p:cNvPr id="9" name="Text 7"/>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FFFFFF"/>
                </a:solidFill>
                <a:latin typeface="Roboto" pitchFamily="34" charset="0"/>
                <a:ea typeface="Roboto" pitchFamily="34" charset="-122"/>
                <a:cs typeface="Roboto" pitchFamily="34" charset="-120"/>
              </a:rPr>
              <a:t>26</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CHECKLIST LAB-READY (1/6) · CONECTIVIDAD Y SISTEMA</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¿Tu VM Kali arranca y tiene salida a Internet?</a:t>
            </a:r>
            <a:endParaRPr lang="en-US" sz="2500" dirty="0"/>
          </a:p>
        </p:txBody>
      </p:sp>
      <p:sp>
        <p:nvSpPr>
          <p:cNvPr id="6" name="Shape 4"/>
          <p:cNvSpPr/>
          <p:nvPr/>
        </p:nvSpPr>
        <p:spPr>
          <a:xfrm>
            <a:off x="548640" y="1645920"/>
            <a:ext cx="11064240" cy="777240"/>
          </a:xfrm>
          <a:prstGeom prst="roundRect">
            <a:avLst>
              <a:gd name="adj" fmla="val 9412"/>
            </a:avLst>
          </a:prstGeom>
          <a:solidFill>
            <a:srgbClr val="FCEBEA"/>
          </a:solidFill>
          <a:ln/>
        </p:spPr>
      </p:sp>
      <p:sp>
        <p:nvSpPr>
          <p:cNvPr id="7" name="Shape 5"/>
          <p:cNvSpPr/>
          <p:nvPr/>
        </p:nvSpPr>
        <p:spPr>
          <a:xfrm>
            <a:off x="548640" y="1645920"/>
            <a:ext cx="54864" cy="777240"/>
          </a:xfrm>
          <a:prstGeom prst="rect">
            <a:avLst/>
          </a:prstGeom>
          <a:solidFill>
            <a:srgbClr val="E2231A"/>
          </a:solidFill>
          <a:ln/>
        </p:spPr>
      </p:sp>
      <p:sp>
        <p:nvSpPr>
          <p:cNvPr id="8" name="Text 6"/>
          <p:cNvSpPr/>
          <p:nvPr/>
        </p:nvSpPr>
        <p:spPr>
          <a:xfrm>
            <a:off x="822960" y="1645920"/>
            <a:ext cx="10515600" cy="777240"/>
          </a:xfrm>
          <a:prstGeom prst="rect">
            <a:avLst/>
          </a:prstGeom>
          <a:noFill/>
          <a:ln/>
        </p:spPr>
        <p:txBody>
          <a:bodyPr wrap="square" rtlCol="0" anchor="ctr"/>
          <a:lstStyle/>
          <a:p>
            <a:pPr indent="0" marL="0">
              <a:buNone/>
            </a:pPr>
            <a:r>
              <a:rPr lang="en-US" sz="1300" b="1" dirty="0">
                <a:solidFill>
                  <a:srgbClr val="E2231A"/>
                </a:solidFill>
                <a:latin typeface="Roboto" pitchFamily="34" charset="0"/>
                <a:ea typeface="Roboto" pitchFamily="34" charset="-122"/>
                <a:cs typeface="Roboto" pitchFamily="34" charset="-120"/>
              </a:rPr>
              <a:t>Objetivo del ejercicio:  </a:t>
            </a:r>
            <a:pPr indent="0" marL="0">
              <a:buNone/>
            </a:pPr>
            <a:r>
              <a:rPr lang="en-US" sz="1300" dirty="0">
                <a:solidFill>
                  <a:srgbClr val="1A1A1A"/>
                </a:solidFill>
                <a:latin typeface="Roboto" pitchFamily="34" charset="0"/>
                <a:ea typeface="Roboto" pitchFamily="34" charset="-122"/>
                <a:cs typeface="Roboto" pitchFamily="34" charset="-120"/>
              </a:rPr>
              <a:t>Confirmar que la VM Kali está correctamente conectada dentro de VirtualBox y tiene salida real a Internet y resolución DNS, antes de verificar herramientas específicas.</a:t>
            </a:r>
            <a:endParaRPr lang="en-US" sz="1300" dirty="0"/>
          </a:p>
        </p:txBody>
      </p:sp>
      <p:sp>
        <p:nvSpPr>
          <p:cNvPr id="9" name="Shape 7"/>
          <p:cNvSpPr/>
          <p:nvPr/>
        </p:nvSpPr>
        <p:spPr>
          <a:xfrm>
            <a:off x="640080" y="2651760"/>
            <a:ext cx="384048" cy="384048"/>
          </a:xfrm>
          <a:prstGeom prst="ellipse">
            <a:avLst/>
          </a:prstGeom>
          <a:solidFill>
            <a:srgbClr val="E2231A"/>
          </a:solidFill>
          <a:ln/>
        </p:spPr>
      </p:sp>
      <p:sp>
        <p:nvSpPr>
          <p:cNvPr id="10" name="Text 8"/>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11" name="Text 9"/>
          <p:cNvSpPr/>
          <p:nvPr/>
        </p:nvSpPr>
        <p:spPr>
          <a:xfrm>
            <a:off x="1234440" y="2606040"/>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Verifica que tu VM está en modo NAT (VirtualBox → Configuración → Red → Adaptador 1 → NAT). Resultado esperado: el adaptador aparece habilitado en NAT.</a:t>
            </a:r>
            <a:endParaRPr lang="en-US" sz="1300" dirty="0"/>
          </a:p>
        </p:txBody>
      </p:sp>
      <p:sp>
        <p:nvSpPr>
          <p:cNvPr id="12" name="Shape 10"/>
          <p:cNvSpPr/>
          <p:nvPr/>
        </p:nvSpPr>
        <p:spPr>
          <a:xfrm>
            <a:off x="640080" y="3182112"/>
            <a:ext cx="384048" cy="384048"/>
          </a:xfrm>
          <a:prstGeom prst="ellipse">
            <a:avLst/>
          </a:prstGeom>
          <a:solidFill>
            <a:srgbClr val="E2231A"/>
          </a:solidFill>
          <a:ln/>
        </p:spPr>
      </p:sp>
      <p:sp>
        <p:nvSpPr>
          <p:cNvPr id="13" name="Text 11"/>
          <p:cNvSpPr/>
          <p:nvPr/>
        </p:nvSpPr>
        <p:spPr>
          <a:xfrm>
            <a:off x="640080" y="3182112"/>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4" name="Text 12"/>
          <p:cNvSpPr/>
          <p:nvPr/>
        </p:nvSpPr>
        <p:spPr>
          <a:xfrm>
            <a:off x="1234440" y="3136392"/>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Enciende la VM. Resultado esperado: arranca hasta el escritorio, sin mensajes de error ni kernel panic.</a:t>
            </a:r>
            <a:endParaRPr lang="en-US" sz="1300" dirty="0"/>
          </a:p>
        </p:txBody>
      </p:sp>
      <p:sp>
        <p:nvSpPr>
          <p:cNvPr id="15" name="Shape 13"/>
          <p:cNvSpPr/>
          <p:nvPr/>
        </p:nvSpPr>
        <p:spPr>
          <a:xfrm>
            <a:off x="640080" y="3712464"/>
            <a:ext cx="384048" cy="384048"/>
          </a:xfrm>
          <a:prstGeom prst="ellipse">
            <a:avLst/>
          </a:prstGeom>
          <a:solidFill>
            <a:srgbClr val="E2231A"/>
          </a:solidFill>
          <a:ln/>
        </p:spPr>
      </p:sp>
      <p:sp>
        <p:nvSpPr>
          <p:cNvPr id="16" name="Text 14"/>
          <p:cNvSpPr/>
          <p:nvPr/>
        </p:nvSpPr>
        <p:spPr>
          <a:xfrm>
            <a:off x="640080" y="3712464"/>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7" name="Text 15"/>
          <p:cNvSpPr/>
          <p:nvPr/>
        </p:nvSpPr>
        <p:spPr>
          <a:xfrm>
            <a:off x="1234440" y="3666744"/>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Ejecuta ping -c 2 1.1.1.1. Resultado esperado: 2 paquetes transmitidos, 2 recibidos, 0 % de pérdida.</a:t>
            </a:r>
            <a:endParaRPr lang="en-US" sz="1300" dirty="0"/>
          </a:p>
        </p:txBody>
      </p:sp>
      <p:sp>
        <p:nvSpPr>
          <p:cNvPr id="18" name="Shape 16"/>
          <p:cNvSpPr/>
          <p:nvPr/>
        </p:nvSpPr>
        <p:spPr>
          <a:xfrm>
            <a:off x="640080" y="4242816"/>
            <a:ext cx="384048" cy="384048"/>
          </a:xfrm>
          <a:prstGeom prst="ellipse">
            <a:avLst/>
          </a:prstGeom>
          <a:solidFill>
            <a:srgbClr val="E2231A"/>
          </a:solidFill>
          <a:ln/>
        </p:spPr>
      </p:sp>
      <p:sp>
        <p:nvSpPr>
          <p:cNvPr id="19" name="Text 17"/>
          <p:cNvSpPr/>
          <p:nvPr/>
        </p:nvSpPr>
        <p:spPr>
          <a:xfrm>
            <a:off x="640080" y="4242816"/>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4</a:t>
            </a:r>
            <a:endParaRPr lang="en-US" sz="1400" dirty="0"/>
          </a:p>
        </p:txBody>
      </p:sp>
      <p:sp>
        <p:nvSpPr>
          <p:cNvPr id="20" name="Text 18"/>
          <p:cNvSpPr/>
          <p:nvPr/>
        </p:nvSpPr>
        <p:spPr>
          <a:xfrm>
            <a:off x="1234440" y="4197096"/>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Ejecuta ping -c 2 google.com. Resultado esperado: el nombre se resuelve a una IP y responde — confirma que el DNS funciona, no solo la conectividad por IP.</a:t>
            </a:r>
            <a:endParaRPr lang="en-US" sz="1300" dirty="0"/>
          </a:p>
        </p:txBody>
      </p:sp>
      <p:sp>
        <p:nvSpPr>
          <p:cNvPr id="21" name="Shape 19"/>
          <p:cNvSpPr/>
          <p:nvPr/>
        </p:nvSpPr>
        <p:spPr>
          <a:xfrm>
            <a:off x="640080" y="4773168"/>
            <a:ext cx="384048" cy="384048"/>
          </a:xfrm>
          <a:prstGeom prst="ellipse">
            <a:avLst/>
          </a:prstGeom>
          <a:solidFill>
            <a:srgbClr val="E2231A"/>
          </a:solidFill>
          <a:ln/>
        </p:spPr>
      </p:sp>
      <p:sp>
        <p:nvSpPr>
          <p:cNvPr id="22" name="Text 20"/>
          <p:cNvSpPr/>
          <p:nvPr/>
        </p:nvSpPr>
        <p:spPr>
          <a:xfrm>
            <a:off x="640080" y="4773168"/>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5</a:t>
            </a:r>
            <a:endParaRPr lang="en-US" sz="1400" dirty="0"/>
          </a:p>
        </p:txBody>
      </p:sp>
      <p:sp>
        <p:nvSpPr>
          <p:cNvPr id="23" name="Text 21"/>
          <p:cNvSpPr/>
          <p:nvPr/>
        </p:nvSpPr>
        <p:spPr>
          <a:xfrm>
            <a:off x="1234440" y="4727448"/>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Confirma que tienes permisos de sudo con sudo -v. Resultado esperado: no pide contraseña de root ni marca error de configuración.</a:t>
            </a:r>
            <a:endParaRPr lang="en-US" sz="1300" dirty="0"/>
          </a:p>
        </p:txBody>
      </p:sp>
      <p:sp>
        <p:nvSpPr>
          <p:cNvPr id="24" name="Shape 22"/>
          <p:cNvSpPr/>
          <p:nvPr/>
        </p:nvSpPr>
        <p:spPr>
          <a:xfrm>
            <a:off x="548640" y="5623560"/>
            <a:ext cx="7680960" cy="685800"/>
          </a:xfrm>
          <a:prstGeom prst="roundRect">
            <a:avLst>
              <a:gd name="adj" fmla="val 10667"/>
            </a:avLst>
          </a:prstGeom>
          <a:solidFill>
            <a:srgbClr val="F7F5F4"/>
          </a:solidFill>
          <a:ln w="9525">
            <a:solidFill>
              <a:srgbClr val="E7E1DF"/>
            </a:solidFill>
            <a:prstDash val="solid"/>
          </a:ln>
        </p:spPr>
      </p:sp>
      <p:sp>
        <p:nvSpPr>
          <p:cNvPr id="25" name="Shape 23"/>
          <p:cNvSpPr/>
          <p:nvPr/>
        </p:nvSpPr>
        <p:spPr>
          <a:xfrm>
            <a:off x="548640" y="5623560"/>
            <a:ext cx="7680960" cy="64008"/>
          </a:xfrm>
          <a:prstGeom prst="rect">
            <a:avLst/>
          </a:prstGeom>
          <a:solidFill>
            <a:srgbClr val="E2231A"/>
          </a:solidFill>
          <a:ln/>
        </p:spPr>
      </p:sp>
      <p:sp>
        <p:nvSpPr>
          <p:cNvPr id="26" name="Text 24"/>
          <p:cNvSpPr/>
          <p:nvPr/>
        </p:nvSpPr>
        <p:spPr>
          <a:xfrm>
            <a:off x="777240" y="5623560"/>
            <a:ext cx="7223760" cy="685800"/>
          </a:xfrm>
          <a:prstGeom prst="rect">
            <a:avLst/>
          </a:prstGeom>
          <a:noFill/>
          <a:ln/>
        </p:spPr>
        <p:txBody>
          <a:bodyPr wrap="square" rtlCol="0" anchor="ctr"/>
          <a:lstStyle/>
          <a:p>
            <a:pPr indent="0" marL="0">
              <a:buNone/>
            </a:pPr>
            <a:r>
              <a:rPr lang="en-US" sz="1200" b="1" dirty="0">
                <a:solidFill>
                  <a:srgbClr val="E2231A"/>
                </a:solidFill>
                <a:latin typeface="Roboto" pitchFamily="34" charset="0"/>
                <a:ea typeface="Roboto" pitchFamily="34" charset="-122"/>
                <a:cs typeface="Roboto" pitchFamily="34" charset="-120"/>
              </a:rPr>
              <a:t>Entregable:  </a:t>
            </a:r>
            <a:pPr indent="0" marL="0">
              <a:buNone/>
            </a:pPr>
            <a:r>
              <a:rPr lang="en-US" sz="1200" dirty="0">
                <a:solidFill>
                  <a:srgbClr val="1A1A1A"/>
                </a:solidFill>
                <a:latin typeface="Roboto" pitchFamily="34" charset="0"/>
                <a:ea typeface="Roboto" pitchFamily="34" charset="-122"/>
                <a:cs typeface="Roboto" pitchFamily="34" charset="-120"/>
              </a:rPr>
              <a:t>VM encendida, en modo NAT, con Internet y DNS funcionando — los 5 resultados esperados confirmados.</a:t>
            </a:r>
            <a:endParaRPr lang="en-US" sz="1200" dirty="0"/>
          </a:p>
        </p:txBody>
      </p:sp>
      <p:sp>
        <p:nvSpPr>
          <p:cNvPr id="27" name="Shape 25"/>
          <p:cNvSpPr/>
          <p:nvPr/>
        </p:nvSpPr>
        <p:spPr>
          <a:xfrm>
            <a:off x="8412480" y="5623560"/>
            <a:ext cx="3200400" cy="685800"/>
          </a:xfrm>
          <a:prstGeom prst="roundRect">
            <a:avLst>
              <a:gd name="adj" fmla="val 10667"/>
            </a:avLst>
          </a:prstGeom>
          <a:solidFill>
            <a:srgbClr val="E2231A"/>
          </a:solidFill>
          <a:ln/>
        </p:spPr>
      </p:sp>
      <p:sp>
        <p:nvSpPr>
          <p:cNvPr id="28" name="Text 26"/>
          <p:cNvSpPr/>
          <p:nvPr/>
        </p:nvSpPr>
        <p:spPr>
          <a:xfrm>
            <a:off x="8412480" y="5623560"/>
            <a:ext cx="3200400" cy="685800"/>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10 min</a:t>
            </a:r>
            <a:endParaRPr lang="en-US" sz="1400" dirty="0"/>
          </a:p>
        </p:txBody>
      </p:sp>
      <p:sp>
        <p:nvSpPr>
          <p:cNvPr id="29" name="Shape 27"/>
          <p:cNvSpPr/>
          <p:nvPr/>
        </p:nvSpPr>
        <p:spPr>
          <a:xfrm rot="2700000">
            <a:off x="502920" y="6501384"/>
            <a:ext cx="82296" cy="82296"/>
          </a:xfrm>
          <a:prstGeom prst="rect">
            <a:avLst/>
          </a:prstGeom>
          <a:solidFill>
            <a:srgbClr val="E2231A"/>
          </a:solidFill>
          <a:ln/>
        </p:spPr>
      </p:sp>
      <p:sp>
        <p:nvSpPr>
          <p:cNvPr id="30" name="Text 28"/>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CHECKLIST LAB-READY (1/6) · CONECTIVIDAD Y SISTEMA</a:t>
            </a:r>
            <a:endParaRPr lang="en-US" sz="800" dirty="0"/>
          </a:p>
        </p:txBody>
      </p:sp>
      <p:sp>
        <p:nvSpPr>
          <p:cNvPr id="31" name="Text 29"/>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27</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CHECKLIST LAB-READY (2/6) · HERRAMIENTAS BASE</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¿Las herramientas base de línea de comandos están instaladas?</a:t>
            </a:r>
            <a:endParaRPr lang="en-US" sz="2500" dirty="0"/>
          </a:p>
        </p:txBody>
      </p:sp>
      <p:sp>
        <p:nvSpPr>
          <p:cNvPr id="6" name="Shape 4"/>
          <p:cNvSpPr/>
          <p:nvPr/>
        </p:nvSpPr>
        <p:spPr>
          <a:xfrm>
            <a:off x="548640" y="1645920"/>
            <a:ext cx="11064240" cy="777240"/>
          </a:xfrm>
          <a:prstGeom prst="roundRect">
            <a:avLst>
              <a:gd name="adj" fmla="val 9412"/>
            </a:avLst>
          </a:prstGeom>
          <a:solidFill>
            <a:srgbClr val="FCEBEA"/>
          </a:solidFill>
          <a:ln/>
        </p:spPr>
      </p:sp>
      <p:sp>
        <p:nvSpPr>
          <p:cNvPr id="7" name="Shape 5"/>
          <p:cNvSpPr/>
          <p:nvPr/>
        </p:nvSpPr>
        <p:spPr>
          <a:xfrm>
            <a:off x="548640" y="1645920"/>
            <a:ext cx="54864" cy="777240"/>
          </a:xfrm>
          <a:prstGeom prst="rect">
            <a:avLst/>
          </a:prstGeom>
          <a:solidFill>
            <a:srgbClr val="E2231A"/>
          </a:solidFill>
          <a:ln/>
        </p:spPr>
      </p:sp>
      <p:sp>
        <p:nvSpPr>
          <p:cNvPr id="8" name="Text 6"/>
          <p:cNvSpPr/>
          <p:nvPr/>
        </p:nvSpPr>
        <p:spPr>
          <a:xfrm>
            <a:off x="822960" y="1645920"/>
            <a:ext cx="10515600" cy="777240"/>
          </a:xfrm>
          <a:prstGeom prst="rect">
            <a:avLst/>
          </a:prstGeom>
          <a:noFill/>
          <a:ln/>
        </p:spPr>
        <p:txBody>
          <a:bodyPr wrap="square" rtlCol="0" anchor="ctr"/>
          <a:lstStyle/>
          <a:p>
            <a:pPr indent="0" marL="0">
              <a:buNone/>
            </a:pPr>
            <a:r>
              <a:rPr lang="en-US" sz="1300" b="1" dirty="0">
                <a:solidFill>
                  <a:srgbClr val="E2231A"/>
                </a:solidFill>
                <a:latin typeface="Roboto" pitchFamily="34" charset="0"/>
                <a:ea typeface="Roboto" pitchFamily="34" charset="-122"/>
                <a:cs typeface="Roboto" pitchFamily="34" charset="-120"/>
              </a:rPr>
              <a:t>Objetivo del ejercicio:  </a:t>
            </a:r>
            <a:pPr indent="0" marL="0">
              <a:buNone/>
            </a:pPr>
            <a:r>
              <a:rPr lang="en-US" sz="1300" dirty="0">
                <a:solidFill>
                  <a:srgbClr val="1A1A1A"/>
                </a:solidFill>
                <a:latin typeface="Roboto" pitchFamily="34" charset="0"/>
                <a:ea typeface="Roboto" pitchFamily="34" charset="-122"/>
                <a:cs typeface="Roboto" pitchFamily="34" charset="-120"/>
              </a:rPr>
              <a:t>Verificar que git, curl, wget, openssl y python3 responden correctamente — son la base de todos los laboratorios del curso, desde la Sesión 1 hasta la 8.</a:t>
            </a:r>
            <a:endParaRPr lang="en-US" sz="1300" dirty="0"/>
          </a:p>
        </p:txBody>
      </p:sp>
      <p:sp>
        <p:nvSpPr>
          <p:cNvPr id="9" name="Shape 7"/>
          <p:cNvSpPr/>
          <p:nvPr/>
        </p:nvSpPr>
        <p:spPr>
          <a:xfrm>
            <a:off x="640080" y="2651760"/>
            <a:ext cx="384048" cy="384048"/>
          </a:xfrm>
          <a:prstGeom prst="ellipse">
            <a:avLst/>
          </a:prstGeom>
          <a:solidFill>
            <a:srgbClr val="E2231A"/>
          </a:solidFill>
          <a:ln/>
        </p:spPr>
      </p:sp>
      <p:sp>
        <p:nvSpPr>
          <p:cNvPr id="10" name="Text 8"/>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11" name="Text 9"/>
          <p:cNvSpPr/>
          <p:nvPr/>
        </p:nvSpPr>
        <p:spPr>
          <a:xfrm>
            <a:off x="1234440" y="2606040"/>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Ejecuta git --version. Resultado esperado: imprime un número de versión (ej. git version 2.x).</a:t>
            </a:r>
            <a:endParaRPr lang="en-US" sz="1300" dirty="0"/>
          </a:p>
        </p:txBody>
      </p:sp>
      <p:sp>
        <p:nvSpPr>
          <p:cNvPr id="12" name="Shape 10"/>
          <p:cNvSpPr/>
          <p:nvPr/>
        </p:nvSpPr>
        <p:spPr>
          <a:xfrm>
            <a:off x="640080" y="3182112"/>
            <a:ext cx="384048" cy="384048"/>
          </a:xfrm>
          <a:prstGeom prst="ellipse">
            <a:avLst/>
          </a:prstGeom>
          <a:solidFill>
            <a:srgbClr val="E2231A"/>
          </a:solidFill>
          <a:ln/>
        </p:spPr>
      </p:sp>
      <p:sp>
        <p:nvSpPr>
          <p:cNvPr id="13" name="Text 11"/>
          <p:cNvSpPr/>
          <p:nvPr/>
        </p:nvSpPr>
        <p:spPr>
          <a:xfrm>
            <a:off x="640080" y="3182112"/>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4" name="Text 12"/>
          <p:cNvSpPr/>
          <p:nvPr/>
        </p:nvSpPr>
        <p:spPr>
          <a:xfrm>
            <a:off x="1234440" y="3136392"/>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Ejecuta curl --version. Resultado esperado: imprime la versión de curl y los protocolos soportados.</a:t>
            </a:r>
            <a:endParaRPr lang="en-US" sz="1300" dirty="0"/>
          </a:p>
        </p:txBody>
      </p:sp>
      <p:sp>
        <p:nvSpPr>
          <p:cNvPr id="15" name="Shape 13"/>
          <p:cNvSpPr/>
          <p:nvPr/>
        </p:nvSpPr>
        <p:spPr>
          <a:xfrm>
            <a:off x="640080" y="3712464"/>
            <a:ext cx="384048" cy="384048"/>
          </a:xfrm>
          <a:prstGeom prst="ellipse">
            <a:avLst/>
          </a:prstGeom>
          <a:solidFill>
            <a:srgbClr val="E2231A"/>
          </a:solidFill>
          <a:ln/>
        </p:spPr>
      </p:sp>
      <p:sp>
        <p:nvSpPr>
          <p:cNvPr id="16" name="Text 14"/>
          <p:cNvSpPr/>
          <p:nvPr/>
        </p:nvSpPr>
        <p:spPr>
          <a:xfrm>
            <a:off x="640080" y="3712464"/>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7" name="Text 15"/>
          <p:cNvSpPr/>
          <p:nvPr/>
        </p:nvSpPr>
        <p:spPr>
          <a:xfrm>
            <a:off x="1234440" y="3666744"/>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Ejecuta wget --version. Resultado esperado: imprime la versión de GNU Wget.</a:t>
            </a:r>
            <a:endParaRPr lang="en-US" sz="1300" dirty="0"/>
          </a:p>
        </p:txBody>
      </p:sp>
      <p:sp>
        <p:nvSpPr>
          <p:cNvPr id="18" name="Shape 16"/>
          <p:cNvSpPr/>
          <p:nvPr/>
        </p:nvSpPr>
        <p:spPr>
          <a:xfrm>
            <a:off x="640080" y="4242816"/>
            <a:ext cx="384048" cy="384048"/>
          </a:xfrm>
          <a:prstGeom prst="ellipse">
            <a:avLst/>
          </a:prstGeom>
          <a:solidFill>
            <a:srgbClr val="E2231A"/>
          </a:solidFill>
          <a:ln/>
        </p:spPr>
      </p:sp>
      <p:sp>
        <p:nvSpPr>
          <p:cNvPr id="19" name="Text 17"/>
          <p:cNvSpPr/>
          <p:nvPr/>
        </p:nvSpPr>
        <p:spPr>
          <a:xfrm>
            <a:off x="640080" y="4242816"/>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4</a:t>
            </a:r>
            <a:endParaRPr lang="en-US" sz="1400" dirty="0"/>
          </a:p>
        </p:txBody>
      </p:sp>
      <p:sp>
        <p:nvSpPr>
          <p:cNvPr id="20" name="Text 18"/>
          <p:cNvSpPr/>
          <p:nvPr/>
        </p:nvSpPr>
        <p:spPr>
          <a:xfrm>
            <a:off x="1234440" y="4197096"/>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Ejecuta openssl version. Resultado esperado: imprime la versión de OpenSSL instalada.</a:t>
            </a:r>
            <a:endParaRPr lang="en-US" sz="1300" dirty="0"/>
          </a:p>
        </p:txBody>
      </p:sp>
      <p:sp>
        <p:nvSpPr>
          <p:cNvPr id="21" name="Shape 19"/>
          <p:cNvSpPr/>
          <p:nvPr/>
        </p:nvSpPr>
        <p:spPr>
          <a:xfrm>
            <a:off x="640080" y="4773168"/>
            <a:ext cx="384048" cy="384048"/>
          </a:xfrm>
          <a:prstGeom prst="ellipse">
            <a:avLst/>
          </a:prstGeom>
          <a:solidFill>
            <a:srgbClr val="E2231A"/>
          </a:solidFill>
          <a:ln/>
        </p:spPr>
      </p:sp>
      <p:sp>
        <p:nvSpPr>
          <p:cNvPr id="22" name="Text 20"/>
          <p:cNvSpPr/>
          <p:nvPr/>
        </p:nvSpPr>
        <p:spPr>
          <a:xfrm>
            <a:off x="640080" y="4773168"/>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5</a:t>
            </a:r>
            <a:endParaRPr lang="en-US" sz="1400" dirty="0"/>
          </a:p>
        </p:txBody>
      </p:sp>
      <p:sp>
        <p:nvSpPr>
          <p:cNvPr id="23" name="Text 21"/>
          <p:cNvSpPr/>
          <p:nvPr/>
        </p:nvSpPr>
        <p:spPr>
          <a:xfrm>
            <a:off x="1234440" y="4727448"/>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Ejecuta python3 --version. Resultado esperado: imprime Python 3.x.x.</a:t>
            </a:r>
            <a:endParaRPr lang="en-US" sz="1300" dirty="0"/>
          </a:p>
        </p:txBody>
      </p:sp>
      <p:sp>
        <p:nvSpPr>
          <p:cNvPr id="24" name="Shape 22"/>
          <p:cNvSpPr/>
          <p:nvPr/>
        </p:nvSpPr>
        <p:spPr>
          <a:xfrm>
            <a:off x="548640" y="5623560"/>
            <a:ext cx="7680960" cy="685800"/>
          </a:xfrm>
          <a:prstGeom prst="roundRect">
            <a:avLst>
              <a:gd name="adj" fmla="val 10667"/>
            </a:avLst>
          </a:prstGeom>
          <a:solidFill>
            <a:srgbClr val="F7F5F4"/>
          </a:solidFill>
          <a:ln w="9525">
            <a:solidFill>
              <a:srgbClr val="E7E1DF"/>
            </a:solidFill>
            <a:prstDash val="solid"/>
          </a:ln>
        </p:spPr>
      </p:sp>
      <p:sp>
        <p:nvSpPr>
          <p:cNvPr id="25" name="Shape 23"/>
          <p:cNvSpPr/>
          <p:nvPr/>
        </p:nvSpPr>
        <p:spPr>
          <a:xfrm>
            <a:off x="548640" y="5623560"/>
            <a:ext cx="7680960" cy="64008"/>
          </a:xfrm>
          <a:prstGeom prst="rect">
            <a:avLst/>
          </a:prstGeom>
          <a:solidFill>
            <a:srgbClr val="E2231A"/>
          </a:solidFill>
          <a:ln/>
        </p:spPr>
      </p:sp>
      <p:sp>
        <p:nvSpPr>
          <p:cNvPr id="26" name="Text 24"/>
          <p:cNvSpPr/>
          <p:nvPr/>
        </p:nvSpPr>
        <p:spPr>
          <a:xfrm>
            <a:off x="777240" y="5623560"/>
            <a:ext cx="7223760" cy="685800"/>
          </a:xfrm>
          <a:prstGeom prst="rect">
            <a:avLst/>
          </a:prstGeom>
          <a:noFill/>
          <a:ln/>
        </p:spPr>
        <p:txBody>
          <a:bodyPr wrap="square" rtlCol="0" anchor="ctr"/>
          <a:lstStyle/>
          <a:p>
            <a:pPr indent="0" marL="0">
              <a:buNone/>
            </a:pPr>
            <a:r>
              <a:rPr lang="en-US" sz="1200" b="1" dirty="0">
                <a:solidFill>
                  <a:srgbClr val="E2231A"/>
                </a:solidFill>
                <a:latin typeface="Roboto" pitchFamily="34" charset="0"/>
                <a:ea typeface="Roboto" pitchFamily="34" charset="-122"/>
                <a:cs typeface="Roboto" pitchFamily="34" charset="-120"/>
              </a:rPr>
              <a:t>Entregable:  </a:t>
            </a:r>
            <a:pPr indent="0" marL="0">
              <a:buNone/>
            </a:pPr>
            <a:r>
              <a:rPr lang="en-US" sz="1200" dirty="0">
                <a:solidFill>
                  <a:srgbClr val="1A1A1A"/>
                </a:solidFill>
                <a:latin typeface="Roboto" pitchFamily="34" charset="0"/>
                <a:ea typeface="Roboto" pitchFamily="34" charset="-122"/>
                <a:cs typeface="Roboto" pitchFamily="34" charset="-120"/>
              </a:rPr>
              <a:t>Las 5 herramientas responden con su número de versión, sin ningún error de "command not found".</a:t>
            </a:r>
            <a:endParaRPr lang="en-US" sz="1200" dirty="0"/>
          </a:p>
        </p:txBody>
      </p:sp>
      <p:sp>
        <p:nvSpPr>
          <p:cNvPr id="27" name="Shape 25"/>
          <p:cNvSpPr/>
          <p:nvPr/>
        </p:nvSpPr>
        <p:spPr>
          <a:xfrm>
            <a:off x="8412480" y="5623560"/>
            <a:ext cx="3200400" cy="685800"/>
          </a:xfrm>
          <a:prstGeom prst="roundRect">
            <a:avLst>
              <a:gd name="adj" fmla="val 10667"/>
            </a:avLst>
          </a:prstGeom>
          <a:solidFill>
            <a:srgbClr val="E2231A"/>
          </a:solidFill>
          <a:ln/>
        </p:spPr>
      </p:sp>
      <p:sp>
        <p:nvSpPr>
          <p:cNvPr id="28" name="Text 26"/>
          <p:cNvSpPr/>
          <p:nvPr/>
        </p:nvSpPr>
        <p:spPr>
          <a:xfrm>
            <a:off x="8412480" y="5623560"/>
            <a:ext cx="3200400" cy="685800"/>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10 min</a:t>
            </a:r>
            <a:endParaRPr lang="en-US" sz="1400" dirty="0"/>
          </a:p>
        </p:txBody>
      </p:sp>
      <p:sp>
        <p:nvSpPr>
          <p:cNvPr id="29" name="Shape 27"/>
          <p:cNvSpPr/>
          <p:nvPr/>
        </p:nvSpPr>
        <p:spPr>
          <a:xfrm rot="2700000">
            <a:off x="502920" y="6501384"/>
            <a:ext cx="82296" cy="82296"/>
          </a:xfrm>
          <a:prstGeom prst="rect">
            <a:avLst/>
          </a:prstGeom>
          <a:solidFill>
            <a:srgbClr val="E2231A"/>
          </a:solidFill>
          <a:ln/>
        </p:spPr>
      </p:sp>
      <p:sp>
        <p:nvSpPr>
          <p:cNvPr id="30" name="Text 28"/>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CHECKLIST LAB-READY (2/6) · HERRAMIENTAS BASE</a:t>
            </a:r>
            <a:endParaRPr lang="en-US" sz="800" dirty="0"/>
          </a:p>
        </p:txBody>
      </p:sp>
      <p:sp>
        <p:nvSpPr>
          <p:cNvPr id="31" name="Text 29"/>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28</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CHECKLIST LAB-READY (3/6) · DNS Y OSINT</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¿Las herramientas de DNS y OSINT están listas para las Sesiones 2 a 4?</a:t>
            </a:r>
            <a:endParaRPr lang="en-US" sz="2500" dirty="0"/>
          </a:p>
        </p:txBody>
      </p:sp>
      <p:sp>
        <p:nvSpPr>
          <p:cNvPr id="6" name="Shape 4"/>
          <p:cNvSpPr/>
          <p:nvPr/>
        </p:nvSpPr>
        <p:spPr>
          <a:xfrm>
            <a:off x="548640" y="1645920"/>
            <a:ext cx="11064240" cy="777240"/>
          </a:xfrm>
          <a:prstGeom prst="roundRect">
            <a:avLst>
              <a:gd name="adj" fmla="val 9412"/>
            </a:avLst>
          </a:prstGeom>
          <a:solidFill>
            <a:srgbClr val="FCEBEA"/>
          </a:solidFill>
          <a:ln/>
        </p:spPr>
      </p:sp>
      <p:sp>
        <p:nvSpPr>
          <p:cNvPr id="7" name="Shape 5"/>
          <p:cNvSpPr/>
          <p:nvPr/>
        </p:nvSpPr>
        <p:spPr>
          <a:xfrm>
            <a:off x="548640" y="1645920"/>
            <a:ext cx="54864" cy="777240"/>
          </a:xfrm>
          <a:prstGeom prst="rect">
            <a:avLst/>
          </a:prstGeom>
          <a:solidFill>
            <a:srgbClr val="E2231A"/>
          </a:solidFill>
          <a:ln/>
        </p:spPr>
      </p:sp>
      <p:sp>
        <p:nvSpPr>
          <p:cNvPr id="8" name="Text 6"/>
          <p:cNvSpPr/>
          <p:nvPr/>
        </p:nvSpPr>
        <p:spPr>
          <a:xfrm>
            <a:off x="822960" y="1645920"/>
            <a:ext cx="10515600" cy="777240"/>
          </a:xfrm>
          <a:prstGeom prst="rect">
            <a:avLst/>
          </a:prstGeom>
          <a:noFill/>
          <a:ln/>
        </p:spPr>
        <p:txBody>
          <a:bodyPr wrap="square" rtlCol="0" anchor="ctr"/>
          <a:lstStyle/>
          <a:p>
            <a:pPr indent="0" marL="0">
              <a:buNone/>
            </a:pPr>
            <a:r>
              <a:rPr lang="en-US" sz="1300" b="1" dirty="0">
                <a:solidFill>
                  <a:srgbClr val="E2231A"/>
                </a:solidFill>
                <a:latin typeface="Roboto" pitchFamily="34" charset="0"/>
                <a:ea typeface="Roboto" pitchFamily="34" charset="-122"/>
                <a:cs typeface="Roboto" pitchFamily="34" charset="-120"/>
              </a:rPr>
              <a:t>Objetivo del ejercicio:  </a:t>
            </a:r>
            <a:pPr indent="0" marL="0">
              <a:buNone/>
            </a:pPr>
            <a:r>
              <a:rPr lang="en-US" sz="1300" dirty="0">
                <a:solidFill>
                  <a:srgbClr val="1A1A1A"/>
                </a:solidFill>
                <a:latin typeface="Roboto" pitchFamily="34" charset="0"/>
                <a:ea typeface="Roboto" pitchFamily="34" charset="-122"/>
                <a:cs typeface="Roboto" pitchFamily="34" charset="-120"/>
              </a:rPr>
              <a:t>Confirmar dig, nslookup, host, whois y jq — usadas en el Laboratorio 1 (DNS/HTTP/TLS), el Laboratorio 2 (OSINT) y el Laboratorio 3 (subdominios).</a:t>
            </a:r>
            <a:endParaRPr lang="en-US" sz="1300" dirty="0"/>
          </a:p>
        </p:txBody>
      </p:sp>
      <p:sp>
        <p:nvSpPr>
          <p:cNvPr id="9" name="Shape 7"/>
          <p:cNvSpPr/>
          <p:nvPr/>
        </p:nvSpPr>
        <p:spPr>
          <a:xfrm>
            <a:off x="640080" y="2651760"/>
            <a:ext cx="384048" cy="384048"/>
          </a:xfrm>
          <a:prstGeom prst="ellipse">
            <a:avLst/>
          </a:prstGeom>
          <a:solidFill>
            <a:srgbClr val="E2231A"/>
          </a:solidFill>
          <a:ln/>
        </p:spPr>
      </p:sp>
      <p:sp>
        <p:nvSpPr>
          <p:cNvPr id="10" name="Text 8"/>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11" name="Text 9"/>
          <p:cNvSpPr/>
          <p:nvPr/>
        </p:nvSpPr>
        <p:spPr>
          <a:xfrm>
            <a:off x="1234440" y="2606040"/>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Ejecuta dig +short example.com. Resultado esperado: devuelve al menos una dirección IP, sin mensaje de error.</a:t>
            </a:r>
            <a:endParaRPr lang="en-US" sz="1300" dirty="0"/>
          </a:p>
        </p:txBody>
      </p:sp>
      <p:sp>
        <p:nvSpPr>
          <p:cNvPr id="12" name="Shape 10"/>
          <p:cNvSpPr/>
          <p:nvPr/>
        </p:nvSpPr>
        <p:spPr>
          <a:xfrm>
            <a:off x="640080" y="3182112"/>
            <a:ext cx="384048" cy="384048"/>
          </a:xfrm>
          <a:prstGeom prst="ellipse">
            <a:avLst/>
          </a:prstGeom>
          <a:solidFill>
            <a:srgbClr val="E2231A"/>
          </a:solidFill>
          <a:ln/>
        </p:spPr>
      </p:sp>
      <p:sp>
        <p:nvSpPr>
          <p:cNvPr id="13" name="Text 11"/>
          <p:cNvSpPr/>
          <p:nvPr/>
        </p:nvSpPr>
        <p:spPr>
          <a:xfrm>
            <a:off x="640080" y="3182112"/>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4" name="Text 12"/>
          <p:cNvSpPr/>
          <p:nvPr/>
        </p:nvSpPr>
        <p:spPr>
          <a:xfrm>
            <a:off x="1234440" y="3136392"/>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Ejecuta nslookup example.com. Resultado esperado: muestra el servidor DNS usado y la dirección resuelta.</a:t>
            </a:r>
            <a:endParaRPr lang="en-US" sz="1300" dirty="0"/>
          </a:p>
        </p:txBody>
      </p:sp>
      <p:sp>
        <p:nvSpPr>
          <p:cNvPr id="15" name="Shape 13"/>
          <p:cNvSpPr/>
          <p:nvPr/>
        </p:nvSpPr>
        <p:spPr>
          <a:xfrm>
            <a:off x="640080" y="3712464"/>
            <a:ext cx="384048" cy="384048"/>
          </a:xfrm>
          <a:prstGeom prst="ellipse">
            <a:avLst/>
          </a:prstGeom>
          <a:solidFill>
            <a:srgbClr val="E2231A"/>
          </a:solidFill>
          <a:ln/>
        </p:spPr>
      </p:sp>
      <p:sp>
        <p:nvSpPr>
          <p:cNvPr id="16" name="Text 14"/>
          <p:cNvSpPr/>
          <p:nvPr/>
        </p:nvSpPr>
        <p:spPr>
          <a:xfrm>
            <a:off x="640080" y="3712464"/>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7" name="Text 15"/>
          <p:cNvSpPr/>
          <p:nvPr/>
        </p:nvSpPr>
        <p:spPr>
          <a:xfrm>
            <a:off x="1234440" y="3666744"/>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Ejecuta host example.com. Resultado esperado: imprime la dirección IP asociada al nombre.</a:t>
            </a:r>
            <a:endParaRPr lang="en-US" sz="1300" dirty="0"/>
          </a:p>
        </p:txBody>
      </p:sp>
      <p:sp>
        <p:nvSpPr>
          <p:cNvPr id="18" name="Shape 16"/>
          <p:cNvSpPr/>
          <p:nvPr/>
        </p:nvSpPr>
        <p:spPr>
          <a:xfrm>
            <a:off x="640080" y="4242816"/>
            <a:ext cx="384048" cy="384048"/>
          </a:xfrm>
          <a:prstGeom prst="ellipse">
            <a:avLst/>
          </a:prstGeom>
          <a:solidFill>
            <a:srgbClr val="E2231A"/>
          </a:solidFill>
          <a:ln/>
        </p:spPr>
      </p:sp>
      <p:sp>
        <p:nvSpPr>
          <p:cNvPr id="19" name="Text 17"/>
          <p:cNvSpPr/>
          <p:nvPr/>
        </p:nvSpPr>
        <p:spPr>
          <a:xfrm>
            <a:off x="640080" y="4242816"/>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4</a:t>
            </a:r>
            <a:endParaRPr lang="en-US" sz="1400" dirty="0"/>
          </a:p>
        </p:txBody>
      </p:sp>
      <p:sp>
        <p:nvSpPr>
          <p:cNvPr id="20" name="Text 18"/>
          <p:cNvSpPr/>
          <p:nvPr/>
        </p:nvSpPr>
        <p:spPr>
          <a:xfrm>
            <a:off x="1234440" y="4197096"/>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Ejecuta whois example.com | head. Resultado esperado: imprime datos de registro del dominio.</a:t>
            </a:r>
            <a:endParaRPr lang="en-US" sz="1300" dirty="0"/>
          </a:p>
        </p:txBody>
      </p:sp>
      <p:sp>
        <p:nvSpPr>
          <p:cNvPr id="21" name="Shape 19"/>
          <p:cNvSpPr/>
          <p:nvPr/>
        </p:nvSpPr>
        <p:spPr>
          <a:xfrm>
            <a:off x="640080" y="4773168"/>
            <a:ext cx="384048" cy="384048"/>
          </a:xfrm>
          <a:prstGeom prst="ellipse">
            <a:avLst/>
          </a:prstGeom>
          <a:solidFill>
            <a:srgbClr val="E2231A"/>
          </a:solidFill>
          <a:ln/>
        </p:spPr>
      </p:sp>
      <p:sp>
        <p:nvSpPr>
          <p:cNvPr id="22" name="Text 20"/>
          <p:cNvSpPr/>
          <p:nvPr/>
        </p:nvSpPr>
        <p:spPr>
          <a:xfrm>
            <a:off x="640080" y="4773168"/>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5</a:t>
            </a:r>
            <a:endParaRPr lang="en-US" sz="1400" dirty="0"/>
          </a:p>
        </p:txBody>
      </p:sp>
      <p:sp>
        <p:nvSpPr>
          <p:cNvPr id="23" name="Text 21"/>
          <p:cNvSpPr/>
          <p:nvPr/>
        </p:nvSpPr>
        <p:spPr>
          <a:xfrm>
            <a:off x="1234440" y="4727448"/>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Ejecuta echo '{"a":1}' | jq .. Resultado esperado: jq imprime el JSON formateado — confirma que está instalado.</a:t>
            </a:r>
            <a:endParaRPr lang="en-US" sz="1300" dirty="0"/>
          </a:p>
        </p:txBody>
      </p:sp>
      <p:sp>
        <p:nvSpPr>
          <p:cNvPr id="24" name="Shape 22"/>
          <p:cNvSpPr/>
          <p:nvPr/>
        </p:nvSpPr>
        <p:spPr>
          <a:xfrm>
            <a:off x="548640" y="5623560"/>
            <a:ext cx="7680960" cy="685800"/>
          </a:xfrm>
          <a:prstGeom prst="roundRect">
            <a:avLst>
              <a:gd name="adj" fmla="val 10667"/>
            </a:avLst>
          </a:prstGeom>
          <a:solidFill>
            <a:srgbClr val="F7F5F4"/>
          </a:solidFill>
          <a:ln w="9525">
            <a:solidFill>
              <a:srgbClr val="E7E1DF"/>
            </a:solidFill>
            <a:prstDash val="solid"/>
          </a:ln>
        </p:spPr>
      </p:sp>
      <p:sp>
        <p:nvSpPr>
          <p:cNvPr id="25" name="Shape 23"/>
          <p:cNvSpPr/>
          <p:nvPr/>
        </p:nvSpPr>
        <p:spPr>
          <a:xfrm>
            <a:off x="548640" y="5623560"/>
            <a:ext cx="7680960" cy="64008"/>
          </a:xfrm>
          <a:prstGeom prst="rect">
            <a:avLst/>
          </a:prstGeom>
          <a:solidFill>
            <a:srgbClr val="E2231A"/>
          </a:solidFill>
          <a:ln/>
        </p:spPr>
      </p:sp>
      <p:sp>
        <p:nvSpPr>
          <p:cNvPr id="26" name="Text 24"/>
          <p:cNvSpPr/>
          <p:nvPr/>
        </p:nvSpPr>
        <p:spPr>
          <a:xfrm>
            <a:off x="777240" y="5623560"/>
            <a:ext cx="7223760" cy="685800"/>
          </a:xfrm>
          <a:prstGeom prst="rect">
            <a:avLst/>
          </a:prstGeom>
          <a:noFill/>
          <a:ln/>
        </p:spPr>
        <p:txBody>
          <a:bodyPr wrap="square" rtlCol="0" anchor="ctr"/>
          <a:lstStyle/>
          <a:p>
            <a:pPr indent="0" marL="0">
              <a:buNone/>
            </a:pPr>
            <a:r>
              <a:rPr lang="en-US" sz="1200" b="1" dirty="0">
                <a:solidFill>
                  <a:srgbClr val="E2231A"/>
                </a:solidFill>
                <a:latin typeface="Roboto" pitchFamily="34" charset="0"/>
                <a:ea typeface="Roboto" pitchFamily="34" charset="-122"/>
                <a:cs typeface="Roboto" pitchFamily="34" charset="-120"/>
              </a:rPr>
              <a:t>Entregable:  </a:t>
            </a:r>
            <a:pPr indent="0" marL="0">
              <a:buNone/>
            </a:pPr>
            <a:r>
              <a:rPr lang="en-US" sz="1200" dirty="0">
                <a:solidFill>
                  <a:srgbClr val="1A1A1A"/>
                </a:solidFill>
                <a:latin typeface="Roboto" pitchFamily="34" charset="0"/>
                <a:ea typeface="Roboto" pitchFamily="34" charset="-122"/>
                <a:cs typeface="Roboto" pitchFamily="34" charset="-120"/>
              </a:rPr>
              <a:t>Los 5 comandos ejecutan sin error de "command not found", con salida coherente en cada caso.</a:t>
            </a:r>
            <a:endParaRPr lang="en-US" sz="1200" dirty="0"/>
          </a:p>
        </p:txBody>
      </p:sp>
      <p:sp>
        <p:nvSpPr>
          <p:cNvPr id="27" name="Shape 25"/>
          <p:cNvSpPr/>
          <p:nvPr/>
        </p:nvSpPr>
        <p:spPr>
          <a:xfrm>
            <a:off x="8412480" y="5623560"/>
            <a:ext cx="3200400" cy="685800"/>
          </a:xfrm>
          <a:prstGeom prst="roundRect">
            <a:avLst>
              <a:gd name="adj" fmla="val 10667"/>
            </a:avLst>
          </a:prstGeom>
          <a:solidFill>
            <a:srgbClr val="E2231A"/>
          </a:solidFill>
          <a:ln/>
        </p:spPr>
      </p:sp>
      <p:sp>
        <p:nvSpPr>
          <p:cNvPr id="28" name="Text 26"/>
          <p:cNvSpPr/>
          <p:nvPr/>
        </p:nvSpPr>
        <p:spPr>
          <a:xfrm>
            <a:off x="8412480" y="5623560"/>
            <a:ext cx="3200400" cy="685800"/>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10 min</a:t>
            </a:r>
            <a:endParaRPr lang="en-US" sz="1400" dirty="0"/>
          </a:p>
        </p:txBody>
      </p:sp>
      <p:sp>
        <p:nvSpPr>
          <p:cNvPr id="29" name="Shape 27"/>
          <p:cNvSpPr/>
          <p:nvPr/>
        </p:nvSpPr>
        <p:spPr>
          <a:xfrm rot="2700000">
            <a:off x="502920" y="6501384"/>
            <a:ext cx="82296" cy="82296"/>
          </a:xfrm>
          <a:prstGeom prst="rect">
            <a:avLst/>
          </a:prstGeom>
          <a:solidFill>
            <a:srgbClr val="E2231A"/>
          </a:solidFill>
          <a:ln/>
        </p:spPr>
      </p:sp>
      <p:sp>
        <p:nvSpPr>
          <p:cNvPr id="30" name="Text 28"/>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CHECKLIST LAB-READY (3/6) · DNS Y OSINT</a:t>
            </a:r>
            <a:endParaRPr lang="en-US" sz="800" dirty="0"/>
          </a:p>
        </p:txBody>
      </p:sp>
      <p:sp>
        <p:nvSpPr>
          <p:cNvPr id="31" name="Text 29"/>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29</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CHECKLIST LAB-READY (4/6) · SUBDOMINIOS</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¿Amass, Subfinder y theHarvester están instalados?</a:t>
            </a:r>
            <a:endParaRPr lang="en-US" sz="2500" dirty="0"/>
          </a:p>
        </p:txBody>
      </p:sp>
      <p:sp>
        <p:nvSpPr>
          <p:cNvPr id="6" name="Shape 4"/>
          <p:cNvSpPr/>
          <p:nvPr/>
        </p:nvSpPr>
        <p:spPr>
          <a:xfrm>
            <a:off x="548640" y="1645920"/>
            <a:ext cx="11064240" cy="777240"/>
          </a:xfrm>
          <a:prstGeom prst="roundRect">
            <a:avLst>
              <a:gd name="adj" fmla="val 9412"/>
            </a:avLst>
          </a:prstGeom>
          <a:solidFill>
            <a:srgbClr val="FCEBEA"/>
          </a:solidFill>
          <a:ln/>
        </p:spPr>
      </p:sp>
      <p:sp>
        <p:nvSpPr>
          <p:cNvPr id="7" name="Shape 5"/>
          <p:cNvSpPr/>
          <p:nvPr/>
        </p:nvSpPr>
        <p:spPr>
          <a:xfrm>
            <a:off x="548640" y="1645920"/>
            <a:ext cx="54864" cy="777240"/>
          </a:xfrm>
          <a:prstGeom prst="rect">
            <a:avLst/>
          </a:prstGeom>
          <a:solidFill>
            <a:srgbClr val="E2231A"/>
          </a:solidFill>
          <a:ln/>
        </p:spPr>
      </p:sp>
      <p:sp>
        <p:nvSpPr>
          <p:cNvPr id="8" name="Text 6"/>
          <p:cNvSpPr/>
          <p:nvPr/>
        </p:nvSpPr>
        <p:spPr>
          <a:xfrm>
            <a:off x="822960" y="1645920"/>
            <a:ext cx="10515600" cy="777240"/>
          </a:xfrm>
          <a:prstGeom prst="rect">
            <a:avLst/>
          </a:prstGeom>
          <a:noFill/>
          <a:ln/>
        </p:spPr>
        <p:txBody>
          <a:bodyPr wrap="square" rtlCol="0" anchor="ctr"/>
          <a:lstStyle/>
          <a:p>
            <a:pPr indent="0" marL="0">
              <a:buNone/>
            </a:pPr>
            <a:r>
              <a:rPr lang="en-US" sz="1300" b="1" dirty="0">
                <a:solidFill>
                  <a:srgbClr val="E2231A"/>
                </a:solidFill>
                <a:latin typeface="Roboto" pitchFamily="34" charset="0"/>
                <a:ea typeface="Roboto" pitchFamily="34" charset="-122"/>
                <a:cs typeface="Roboto" pitchFamily="34" charset="-120"/>
              </a:rPr>
              <a:t>Objetivo del ejercicio:  </a:t>
            </a:r>
            <a:pPr indent="0" marL="0">
              <a:buNone/>
            </a:pPr>
            <a:r>
              <a:rPr lang="en-US" sz="1300" dirty="0">
                <a:solidFill>
                  <a:srgbClr val="1A1A1A"/>
                </a:solidFill>
                <a:latin typeface="Roboto" pitchFamily="34" charset="0"/>
                <a:ea typeface="Roboto" pitchFamily="34" charset="-122"/>
                <a:cs typeface="Roboto" pitchFamily="34" charset="-120"/>
              </a:rPr>
              <a:t>Confirmar las tres herramientas de reconocimiento de subdominios que se mencionan como referencia adicional en la Sesión 4, aunque el plan no las exige en los laboratorios evaluados.</a:t>
            </a:r>
            <a:endParaRPr lang="en-US" sz="1300" dirty="0"/>
          </a:p>
        </p:txBody>
      </p:sp>
      <p:sp>
        <p:nvSpPr>
          <p:cNvPr id="9" name="Shape 7"/>
          <p:cNvSpPr/>
          <p:nvPr/>
        </p:nvSpPr>
        <p:spPr>
          <a:xfrm>
            <a:off x="640080" y="2651760"/>
            <a:ext cx="384048" cy="384048"/>
          </a:xfrm>
          <a:prstGeom prst="ellipse">
            <a:avLst/>
          </a:prstGeom>
          <a:solidFill>
            <a:srgbClr val="E2231A"/>
          </a:solidFill>
          <a:ln/>
        </p:spPr>
      </p:sp>
      <p:sp>
        <p:nvSpPr>
          <p:cNvPr id="10" name="Text 8"/>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11" name="Text 9"/>
          <p:cNvSpPr/>
          <p:nvPr/>
        </p:nvSpPr>
        <p:spPr>
          <a:xfrm>
            <a:off x="1234440" y="2606040"/>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Ejecuta amass -version. Resultado esperado: imprime la versión de Amass instalada.</a:t>
            </a:r>
            <a:endParaRPr lang="en-US" sz="1300" dirty="0"/>
          </a:p>
        </p:txBody>
      </p:sp>
      <p:sp>
        <p:nvSpPr>
          <p:cNvPr id="12" name="Shape 10"/>
          <p:cNvSpPr/>
          <p:nvPr/>
        </p:nvSpPr>
        <p:spPr>
          <a:xfrm>
            <a:off x="640080" y="3182112"/>
            <a:ext cx="384048" cy="384048"/>
          </a:xfrm>
          <a:prstGeom prst="ellipse">
            <a:avLst/>
          </a:prstGeom>
          <a:solidFill>
            <a:srgbClr val="E2231A"/>
          </a:solidFill>
          <a:ln/>
        </p:spPr>
      </p:sp>
      <p:sp>
        <p:nvSpPr>
          <p:cNvPr id="13" name="Text 11"/>
          <p:cNvSpPr/>
          <p:nvPr/>
        </p:nvSpPr>
        <p:spPr>
          <a:xfrm>
            <a:off x="640080" y="3182112"/>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4" name="Text 12"/>
          <p:cNvSpPr/>
          <p:nvPr/>
        </p:nvSpPr>
        <p:spPr>
          <a:xfrm>
            <a:off x="1234440" y="3136392"/>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Ejecuta subfinder -version. Resultado esperado: imprime la versión de Subfinder instalada.</a:t>
            </a:r>
            <a:endParaRPr lang="en-US" sz="1300" dirty="0"/>
          </a:p>
        </p:txBody>
      </p:sp>
      <p:sp>
        <p:nvSpPr>
          <p:cNvPr id="15" name="Shape 13"/>
          <p:cNvSpPr/>
          <p:nvPr/>
        </p:nvSpPr>
        <p:spPr>
          <a:xfrm>
            <a:off x="640080" y="3712464"/>
            <a:ext cx="384048" cy="384048"/>
          </a:xfrm>
          <a:prstGeom prst="ellipse">
            <a:avLst/>
          </a:prstGeom>
          <a:solidFill>
            <a:srgbClr val="E2231A"/>
          </a:solidFill>
          <a:ln/>
        </p:spPr>
      </p:sp>
      <p:sp>
        <p:nvSpPr>
          <p:cNvPr id="16" name="Text 14"/>
          <p:cNvSpPr/>
          <p:nvPr/>
        </p:nvSpPr>
        <p:spPr>
          <a:xfrm>
            <a:off x="640080" y="3712464"/>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7" name="Text 15"/>
          <p:cNvSpPr/>
          <p:nvPr/>
        </p:nvSpPr>
        <p:spPr>
          <a:xfrm>
            <a:off x="1234440" y="3666744"/>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Ejecuta theHarvester --version (o theharvester --version, según el binario en tu VM). Resultado esperado: imprime la versión instalada.</a:t>
            </a:r>
            <a:endParaRPr lang="en-US" sz="1300" dirty="0"/>
          </a:p>
        </p:txBody>
      </p:sp>
      <p:sp>
        <p:nvSpPr>
          <p:cNvPr id="18" name="Shape 16"/>
          <p:cNvSpPr/>
          <p:nvPr/>
        </p:nvSpPr>
        <p:spPr>
          <a:xfrm>
            <a:off x="548640" y="5623560"/>
            <a:ext cx="7680960" cy="685800"/>
          </a:xfrm>
          <a:prstGeom prst="roundRect">
            <a:avLst>
              <a:gd name="adj" fmla="val 10667"/>
            </a:avLst>
          </a:prstGeom>
          <a:solidFill>
            <a:srgbClr val="F7F5F4"/>
          </a:solidFill>
          <a:ln w="9525">
            <a:solidFill>
              <a:srgbClr val="E7E1DF"/>
            </a:solidFill>
            <a:prstDash val="solid"/>
          </a:ln>
        </p:spPr>
      </p:sp>
      <p:sp>
        <p:nvSpPr>
          <p:cNvPr id="19" name="Shape 17"/>
          <p:cNvSpPr/>
          <p:nvPr/>
        </p:nvSpPr>
        <p:spPr>
          <a:xfrm>
            <a:off x="548640" y="5623560"/>
            <a:ext cx="7680960" cy="64008"/>
          </a:xfrm>
          <a:prstGeom prst="rect">
            <a:avLst/>
          </a:prstGeom>
          <a:solidFill>
            <a:srgbClr val="E2231A"/>
          </a:solidFill>
          <a:ln/>
        </p:spPr>
      </p:sp>
      <p:sp>
        <p:nvSpPr>
          <p:cNvPr id="20" name="Text 18"/>
          <p:cNvSpPr/>
          <p:nvPr/>
        </p:nvSpPr>
        <p:spPr>
          <a:xfrm>
            <a:off x="777240" y="5623560"/>
            <a:ext cx="7223760" cy="685800"/>
          </a:xfrm>
          <a:prstGeom prst="rect">
            <a:avLst/>
          </a:prstGeom>
          <a:noFill/>
          <a:ln/>
        </p:spPr>
        <p:txBody>
          <a:bodyPr wrap="square" rtlCol="0" anchor="ctr"/>
          <a:lstStyle/>
          <a:p>
            <a:pPr indent="0" marL="0">
              <a:buNone/>
            </a:pPr>
            <a:r>
              <a:rPr lang="en-US" sz="1200" b="1" dirty="0">
                <a:solidFill>
                  <a:srgbClr val="E2231A"/>
                </a:solidFill>
                <a:latin typeface="Roboto" pitchFamily="34" charset="0"/>
                <a:ea typeface="Roboto" pitchFamily="34" charset="-122"/>
                <a:cs typeface="Roboto" pitchFamily="34" charset="-120"/>
              </a:rPr>
              <a:t>Entregable:  </a:t>
            </a:r>
            <a:pPr indent="0" marL="0">
              <a:buNone/>
            </a:pPr>
            <a:r>
              <a:rPr lang="en-US" sz="1200" dirty="0">
                <a:solidFill>
                  <a:srgbClr val="1A1A1A"/>
                </a:solidFill>
                <a:latin typeface="Roboto" pitchFamily="34" charset="0"/>
                <a:ea typeface="Roboto" pitchFamily="34" charset="-122"/>
                <a:cs typeface="Roboto" pitchFamily="34" charset="-120"/>
              </a:rPr>
              <a:t>Las 3 herramientas responden con su versión — quedan disponibles como referencia adicional para la Sesión 4.</a:t>
            </a:r>
            <a:endParaRPr lang="en-US" sz="1200" dirty="0"/>
          </a:p>
        </p:txBody>
      </p:sp>
      <p:sp>
        <p:nvSpPr>
          <p:cNvPr id="21" name="Shape 19"/>
          <p:cNvSpPr/>
          <p:nvPr/>
        </p:nvSpPr>
        <p:spPr>
          <a:xfrm>
            <a:off x="8412480" y="5623560"/>
            <a:ext cx="3200400" cy="685800"/>
          </a:xfrm>
          <a:prstGeom prst="roundRect">
            <a:avLst>
              <a:gd name="adj" fmla="val 10667"/>
            </a:avLst>
          </a:prstGeom>
          <a:solidFill>
            <a:srgbClr val="E2231A"/>
          </a:solidFill>
          <a:ln/>
        </p:spPr>
      </p:sp>
      <p:sp>
        <p:nvSpPr>
          <p:cNvPr id="22" name="Text 20"/>
          <p:cNvSpPr/>
          <p:nvPr/>
        </p:nvSpPr>
        <p:spPr>
          <a:xfrm>
            <a:off x="8412480" y="5623560"/>
            <a:ext cx="3200400" cy="685800"/>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5 min</a:t>
            </a:r>
            <a:endParaRPr lang="en-US" sz="1400" dirty="0"/>
          </a:p>
        </p:txBody>
      </p:sp>
      <p:sp>
        <p:nvSpPr>
          <p:cNvPr id="23" name="Shape 21"/>
          <p:cNvSpPr/>
          <p:nvPr/>
        </p:nvSpPr>
        <p:spPr>
          <a:xfrm rot="2700000">
            <a:off x="502920" y="6501384"/>
            <a:ext cx="82296" cy="82296"/>
          </a:xfrm>
          <a:prstGeom prst="rect">
            <a:avLst/>
          </a:prstGeom>
          <a:solidFill>
            <a:srgbClr val="E2231A"/>
          </a:solidFill>
          <a:ln/>
        </p:spPr>
      </p:sp>
      <p:sp>
        <p:nvSpPr>
          <p:cNvPr id="24" name="Text 22"/>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CHECKLIST LAB-READY (4/6) · SUBDOMINIOS</a:t>
            </a:r>
            <a:endParaRPr lang="en-US" sz="800" dirty="0"/>
          </a:p>
        </p:txBody>
      </p:sp>
      <p:sp>
        <p:nvSpPr>
          <p:cNvPr id="25" name="Text 23"/>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30</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CHECKLIST LAB-READY (5/6) · BURP, ZAP Y JUICE SHOP</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¿Los proxies de intercepción y la app de práctica están listos?</a:t>
            </a:r>
            <a:endParaRPr lang="en-US" sz="2500" dirty="0"/>
          </a:p>
        </p:txBody>
      </p:sp>
      <p:sp>
        <p:nvSpPr>
          <p:cNvPr id="6" name="Shape 4"/>
          <p:cNvSpPr/>
          <p:nvPr/>
        </p:nvSpPr>
        <p:spPr>
          <a:xfrm>
            <a:off x="548640" y="1645920"/>
            <a:ext cx="11064240" cy="777240"/>
          </a:xfrm>
          <a:prstGeom prst="roundRect">
            <a:avLst>
              <a:gd name="adj" fmla="val 9412"/>
            </a:avLst>
          </a:prstGeom>
          <a:solidFill>
            <a:srgbClr val="FCEBEA"/>
          </a:solidFill>
          <a:ln/>
        </p:spPr>
      </p:sp>
      <p:sp>
        <p:nvSpPr>
          <p:cNvPr id="7" name="Shape 5"/>
          <p:cNvSpPr/>
          <p:nvPr/>
        </p:nvSpPr>
        <p:spPr>
          <a:xfrm>
            <a:off x="548640" y="1645920"/>
            <a:ext cx="54864" cy="777240"/>
          </a:xfrm>
          <a:prstGeom prst="rect">
            <a:avLst/>
          </a:prstGeom>
          <a:solidFill>
            <a:srgbClr val="E2231A"/>
          </a:solidFill>
          <a:ln/>
        </p:spPr>
      </p:sp>
      <p:sp>
        <p:nvSpPr>
          <p:cNvPr id="8" name="Text 6"/>
          <p:cNvSpPr/>
          <p:nvPr/>
        </p:nvSpPr>
        <p:spPr>
          <a:xfrm>
            <a:off x="822960" y="1645920"/>
            <a:ext cx="10515600" cy="777240"/>
          </a:xfrm>
          <a:prstGeom prst="rect">
            <a:avLst/>
          </a:prstGeom>
          <a:noFill/>
          <a:ln/>
        </p:spPr>
        <p:txBody>
          <a:bodyPr wrap="square" rtlCol="0" anchor="ctr"/>
          <a:lstStyle/>
          <a:p>
            <a:pPr indent="0" marL="0">
              <a:buNone/>
            </a:pPr>
            <a:r>
              <a:rPr lang="en-US" sz="1300" b="1" dirty="0">
                <a:solidFill>
                  <a:srgbClr val="E2231A"/>
                </a:solidFill>
                <a:latin typeface="Roboto" pitchFamily="34" charset="0"/>
                <a:ea typeface="Roboto" pitchFamily="34" charset="-122"/>
                <a:cs typeface="Roboto" pitchFamily="34" charset="-120"/>
              </a:rPr>
              <a:t>Objetivo del ejercicio:  </a:t>
            </a:r>
            <a:pPr indent="0" marL="0">
              <a:buNone/>
            </a:pPr>
            <a:r>
              <a:rPr lang="en-US" sz="1300" dirty="0">
                <a:solidFill>
                  <a:srgbClr val="1A1A1A"/>
                </a:solidFill>
                <a:latin typeface="Roboto" pitchFamily="34" charset="0"/>
                <a:ea typeface="Roboto" pitchFamily="34" charset="-122"/>
                <a:cs typeface="Roboto" pitchFamily="34" charset="-120"/>
              </a:rPr>
              <a:t>Confirmar que Burp Suite, OWASP ZAP y Juice Shop abren correctamente, y que existe un perfil de Firefox dedicado exclusivamente a los laboratorios.</a:t>
            </a:r>
            <a:endParaRPr lang="en-US" sz="1300" dirty="0"/>
          </a:p>
        </p:txBody>
      </p:sp>
      <p:sp>
        <p:nvSpPr>
          <p:cNvPr id="9" name="Shape 7"/>
          <p:cNvSpPr/>
          <p:nvPr/>
        </p:nvSpPr>
        <p:spPr>
          <a:xfrm>
            <a:off x="640080" y="2651760"/>
            <a:ext cx="384048" cy="384048"/>
          </a:xfrm>
          <a:prstGeom prst="ellipse">
            <a:avLst/>
          </a:prstGeom>
          <a:solidFill>
            <a:srgbClr val="E2231A"/>
          </a:solidFill>
          <a:ln/>
        </p:spPr>
      </p:sp>
      <p:sp>
        <p:nvSpPr>
          <p:cNvPr id="10" name="Text 8"/>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11" name="Text 9"/>
          <p:cNvSpPr/>
          <p:nvPr/>
        </p:nvSpPr>
        <p:spPr>
          <a:xfrm>
            <a:off x="1234440" y="2606040"/>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Abre Burp Suite (comando burpsuite) y crea un proyecto temporal. Resultado esperado: la interfaz abre sin error y el listener queda en 127.0.0.1:8080 (Proxy → Proxy settings).</a:t>
            </a:r>
            <a:endParaRPr lang="en-US" sz="1300" dirty="0"/>
          </a:p>
        </p:txBody>
      </p:sp>
      <p:sp>
        <p:nvSpPr>
          <p:cNvPr id="12" name="Shape 10"/>
          <p:cNvSpPr/>
          <p:nvPr/>
        </p:nvSpPr>
        <p:spPr>
          <a:xfrm>
            <a:off x="640080" y="3182112"/>
            <a:ext cx="384048" cy="384048"/>
          </a:xfrm>
          <a:prstGeom prst="ellipse">
            <a:avLst/>
          </a:prstGeom>
          <a:solidFill>
            <a:srgbClr val="E2231A"/>
          </a:solidFill>
          <a:ln/>
        </p:spPr>
      </p:sp>
      <p:sp>
        <p:nvSpPr>
          <p:cNvPr id="13" name="Text 11"/>
          <p:cNvSpPr/>
          <p:nvPr/>
        </p:nvSpPr>
        <p:spPr>
          <a:xfrm>
            <a:off x="640080" y="3182112"/>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4" name="Text 12"/>
          <p:cNvSpPr/>
          <p:nvPr/>
        </p:nvSpPr>
        <p:spPr>
          <a:xfrm>
            <a:off x="1234440" y="3136392"/>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Cierra Burp por completo y abre OWASP ZAP (comando zaproxy). Resultado esperado: la interfaz abre y el Local Proxy se puede configurar en 127.0.0.1:8081 (Tools → Options → Local Proxies).</a:t>
            </a:r>
            <a:endParaRPr lang="en-US" sz="1300" dirty="0"/>
          </a:p>
        </p:txBody>
      </p:sp>
      <p:sp>
        <p:nvSpPr>
          <p:cNvPr id="15" name="Shape 13"/>
          <p:cNvSpPr/>
          <p:nvPr/>
        </p:nvSpPr>
        <p:spPr>
          <a:xfrm>
            <a:off x="640080" y="3712464"/>
            <a:ext cx="384048" cy="384048"/>
          </a:xfrm>
          <a:prstGeom prst="ellipse">
            <a:avLst/>
          </a:prstGeom>
          <a:solidFill>
            <a:srgbClr val="E2231A"/>
          </a:solidFill>
          <a:ln/>
        </p:spPr>
      </p:sp>
      <p:sp>
        <p:nvSpPr>
          <p:cNvPr id="16" name="Text 14"/>
          <p:cNvSpPr/>
          <p:nvPr/>
        </p:nvSpPr>
        <p:spPr>
          <a:xfrm>
            <a:off x="640080" y="3712464"/>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7" name="Text 15"/>
          <p:cNvSpPr/>
          <p:nvPr/>
        </p:nvSpPr>
        <p:spPr>
          <a:xfrm>
            <a:off x="1234440" y="3666744"/>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Cierra ZAP y confirma que Juice Shop está disponible (comando juice-shop, o verifica que el servicio ya corre). Resultado esperado: la aplicación queda accesible en el navegador, típicamente en http://localhost:3000.</a:t>
            </a:r>
            <a:endParaRPr lang="en-US" sz="1300" dirty="0"/>
          </a:p>
        </p:txBody>
      </p:sp>
      <p:sp>
        <p:nvSpPr>
          <p:cNvPr id="18" name="Shape 16"/>
          <p:cNvSpPr/>
          <p:nvPr/>
        </p:nvSpPr>
        <p:spPr>
          <a:xfrm>
            <a:off x="640080" y="4242816"/>
            <a:ext cx="384048" cy="384048"/>
          </a:xfrm>
          <a:prstGeom prst="ellipse">
            <a:avLst/>
          </a:prstGeom>
          <a:solidFill>
            <a:srgbClr val="E2231A"/>
          </a:solidFill>
          <a:ln/>
        </p:spPr>
      </p:sp>
      <p:sp>
        <p:nvSpPr>
          <p:cNvPr id="19" name="Text 17"/>
          <p:cNvSpPr/>
          <p:nvPr/>
        </p:nvSpPr>
        <p:spPr>
          <a:xfrm>
            <a:off x="640080" y="4242816"/>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4</a:t>
            </a:r>
            <a:endParaRPr lang="en-US" sz="1400" dirty="0"/>
          </a:p>
        </p:txBody>
      </p:sp>
      <p:sp>
        <p:nvSpPr>
          <p:cNvPr id="20" name="Text 18"/>
          <p:cNvSpPr/>
          <p:nvPr/>
        </p:nvSpPr>
        <p:spPr>
          <a:xfrm>
            <a:off x="1234440" y="4197096"/>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Crea (si no existe) un perfil de Firefox dedicado exclusivamente a los laboratorios. Resultado esperado: puedes abrir Firefox con ese perfil por separado del perfil personal.</a:t>
            </a:r>
            <a:endParaRPr lang="en-US" sz="1300" dirty="0"/>
          </a:p>
        </p:txBody>
      </p:sp>
      <p:sp>
        <p:nvSpPr>
          <p:cNvPr id="21" name="Shape 19"/>
          <p:cNvSpPr/>
          <p:nvPr/>
        </p:nvSpPr>
        <p:spPr>
          <a:xfrm>
            <a:off x="548640" y="5623560"/>
            <a:ext cx="7680960" cy="685800"/>
          </a:xfrm>
          <a:prstGeom prst="roundRect">
            <a:avLst>
              <a:gd name="adj" fmla="val 10667"/>
            </a:avLst>
          </a:prstGeom>
          <a:solidFill>
            <a:srgbClr val="F7F5F4"/>
          </a:solidFill>
          <a:ln w="9525">
            <a:solidFill>
              <a:srgbClr val="E7E1DF"/>
            </a:solidFill>
            <a:prstDash val="solid"/>
          </a:ln>
        </p:spPr>
      </p:sp>
      <p:sp>
        <p:nvSpPr>
          <p:cNvPr id="22" name="Shape 20"/>
          <p:cNvSpPr/>
          <p:nvPr/>
        </p:nvSpPr>
        <p:spPr>
          <a:xfrm>
            <a:off x="548640" y="5623560"/>
            <a:ext cx="7680960" cy="64008"/>
          </a:xfrm>
          <a:prstGeom prst="rect">
            <a:avLst/>
          </a:prstGeom>
          <a:solidFill>
            <a:srgbClr val="E2231A"/>
          </a:solidFill>
          <a:ln/>
        </p:spPr>
      </p:sp>
      <p:sp>
        <p:nvSpPr>
          <p:cNvPr id="23" name="Text 21"/>
          <p:cNvSpPr/>
          <p:nvPr/>
        </p:nvSpPr>
        <p:spPr>
          <a:xfrm>
            <a:off x="777240" y="5623560"/>
            <a:ext cx="7223760" cy="685800"/>
          </a:xfrm>
          <a:prstGeom prst="rect">
            <a:avLst/>
          </a:prstGeom>
          <a:noFill/>
          <a:ln/>
        </p:spPr>
        <p:txBody>
          <a:bodyPr wrap="square" rtlCol="0" anchor="ctr"/>
          <a:lstStyle/>
          <a:p>
            <a:pPr indent="0" marL="0">
              <a:buNone/>
            </a:pPr>
            <a:r>
              <a:rPr lang="en-US" sz="1200" b="1" dirty="0">
                <a:solidFill>
                  <a:srgbClr val="E2231A"/>
                </a:solidFill>
                <a:latin typeface="Roboto" pitchFamily="34" charset="0"/>
                <a:ea typeface="Roboto" pitchFamily="34" charset="-122"/>
                <a:cs typeface="Roboto" pitchFamily="34" charset="-120"/>
              </a:rPr>
              <a:t>Entregable:  </a:t>
            </a:r>
            <a:pPr indent="0" marL="0">
              <a:buNone/>
            </a:pPr>
            <a:r>
              <a:rPr lang="en-US" sz="1200" dirty="0">
                <a:solidFill>
                  <a:srgbClr val="1A1A1A"/>
                </a:solidFill>
                <a:latin typeface="Roboto" pitchFamily="34" charset="0"/>
                <a:ea typeface="Roboto" pitchFamily="34" charset="-122"/>
                <a:cs typeface="Roboto" pitchFamily="34" charset="-120"/>
              </a:rPr>
              <a:t>Burp, ZAP y Juice Shop abren sin error en los puertos/URLs esperados, y existe un perfil de Firefox dedicado a los laboratorios.</a:t>
            </a:r>
            <a:endParaRPr lang="en-US" sz="1200" dirty="0"/>
          </a:p>
        </p:txBody>
      </p:sp>
      <p:sp>
        <p:nvSpPr>
          <p:cNvPr id="24" name="Shape 22"/>
          <p:cNvSpPr/>
          <p:nvPr/>
        </p:nvSpPr>
        <p:spPr>
          <a:xfrm>
            <a:off x="8412480" y="5623560"/>
            <a:ext cx="3200400" cy="685800"/>
          </a:xfrm>
          <a:prstGeom prst="roundRect">
            <a:avLst>
              <a:gd name="adj" fmla="val 10667"/>
            </a:avLst>
          </a:prstGeom>
          <a:solidFill>
            <a:srgbClr val="E2231A"/>
          </a:solidFill>
          <a:ln/>
        </p:spPr>
      </p:sp>
      <p:sp>
        <p:nvSpPr>
          <p:cNvPr id="25" name="Text 23"/>
          <p:cNvSpPr/>
          <p:nvPr/>
        </p:nvSpPr>
        <p:spPr>
          <a:xfrm>
            <a:off x="8412480" y="5623560"/>
            <a:ext cx="3200400" cy="685800"/>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15 min</a:t>
            </a:r>
            <a:endParaRPr lang="en-US" sz="1400" dirty="0"/>
          </a:p>
        </p:txBody>
      </p:sp>
      <p:sp>
        <p:nvSpPr>
          <p:cNvPr id="26" name="Shape 24"/>
          <p:cNvSpPr/>
          <p:nvPr/>
        </p:nvSpPr>
        <p:spPr>
          <a:xfrm rot="2700000">
            <a:off x="502920" y="6501384"/>
            <a:ext cx="82296" cy="82296"/>
          </a:xfrm>
          <a:prstGeom prst="rect">
            <a:avLst/>
          </a:prstGeom>
          <a:solidFill>
            <a:srgbClr val="E2231A"/>
          </a:solidFill>
          <a:ln/>
        </p:spPr>
      </p:sp>
      <p:sp>
        <p:nvSpPr>
          <p:cNvPr id="27" name="Text 25"/>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CHECKLIST LAB-READY (5/6) · BURP, ZAP Y JUICE SHOP</a:t>
            </a:r>
            <a:endParaRPr lang="en-US" sz="800" dirty="0"/>
          </a:p>
        </p:txBody>
      </p:sp>
      <p:sp>
        <p:nvSpPr>
          <p:cNvPr id="28" name="Text 26"/>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31</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CHECKLIST LAB-READY (6/6) · CERTIFICADOS, REPOSITORIO Y SNAPSHOT</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¿El resto del entorno de laboratorio está listo?</a:t>
            </a:r>
            <a:endParaRPr lang="en-US" sz="2500" dirty="0"/>
          </a:p>
        </p:txBody>
      </p:sp>
      <p:sp>
        <p:nvSpPr>
          <p:cNvPr id="6" name="Shape 4"/>
          <p:cNvSpPr/>
          <p:nvPr/>
        </p:nvSpPr>
        <p:spPr>
          <a:xfrm>
            <a:off x="548640" y="1645920"/>
            <a:ext cx="11064240" cy="777240"/>
          </a:xfrm>
          <a:prstGeom prst="roundRect">
            <a:avLst>
              <a:gd name="adj" fmla="val 9412"/>
            </a:avLst>
          </a:prstGeom>
          <a:solidFill>
            <a:srgbClr val="FCEBEA"/>
          </a:solidFill>
          <a:ln/>
        </p:spPr>
      </p:sp>
      <p:sp>
        <p:nvSpPr>
          <p:cNvPr id="7" name="Shape 5"/>
          <p:cNvSpPr/>
          <p:nvPr/>
        </p:nvSpPr>
        <p:spPr>
          <a:xfrm>
            <a:off x="548640" y="1645920"/>
            <a:ext cx="54864" cy="777240"/>
          </a:xfrm>
          <a:prstGeom prst="rect">
            <a:avLst/>
          </a:prstGeom>
          <a:solidFill>
            <a:srgbClr val="E2231A"/>
          </a:solidFill>
          <a:ln/>
        </p:spPr>
      </p:sp>
      <p:sp>
        <p:nvSpPr>
          <p:cNvPr id="8" name="Text 6"/>
          <p:cNvSpPr/>
          <p:nvPr/>
        </p:nvSpPr>
        <p:spPr>
          <a:xfrm>
            <a:off x="822960" y="1645920"/>
            <a:ext cx="10515600" cy="777240"/>
          </a:xfrm>
          <a:prstGeom prst="rect">
            <a:avLst/>
          </a:prstGeom>
          <a:noFill/>
          <a:ln/>
        </p:spPr>
        <p:txBody>
          <a:bodyPr wrap="square" rtlCol="0" anchor="ctr"/>
          <a:lstStyle/>
          <a:p>
            <a:pPr indent="0" marL="0">
              <a:buNone/>
            </a:pPr>
            <a:r>
              <a:rPr lang="en-US" sz="1300" b="1" dirty="0">
                <a:solidFill>
                  <a:srgbClr val="E2231A"/>
                </a:solidFill>
                <a:latin typeface="Roboto" pitchFamily="34" charset="0"/>
                <a:ea typeface="Roboto" pitchFamily="34" charset="-122"/>
                <a:cs typeface="Roboto" pitchFamily="34" charset="-120"/>
              </a:rPr>
              <a:t>Objetivo del ejercicio:  </a:t>
            </a:r>
            <a:pPr indent="0" marL="0">
              <a:buNone/>
            </a:pPr>
            <a:r>
              <a:rPr lang="en-US" sz="1300" dirty="0">
                <a:solidFill>
                  <a:srgbClr val="1A1A1A"/>
                </a:solidFill>
                <a:latin typeface="Roboto" pitchFamily="34" charset="0"/>
                <a:ea typeface="Roboto" pitchFamily="34" charset="-122"/>
                <a:cs typeface="Roboto" pitchFamily="34" charset="-120"/>
              </a:rPr>
              <a:t>Cerrar la revisión del ambiente confirmando los elementos que se usarán en sesiones específicas más adelante en el curso, y dejar un snapshot limpio de la VM.</a:t>
            </a:r>
            <a:endParaRPr lang="en-US" sz="1300" dirty="0"/>
          </a:p>
        </p:txBody>
      </p:sp>
      <p:sp>
        <p:nvSpPr>
          <p:cNvPr id="9" name="Shape 7"/>
          <p:cNvSpPr/>
          <p:nvPr/>
        </p:nvSpPr>
        <p:spPr>
          <a:xfrm>
            <a:off x="640080" y="2651760"/>
            <a:ext cx="384048" cy="384048"/>
          </a:xfrm>
          <a:prstGeom prst="ellipse">
            <a:avLst/>
          </a:prstGeom>
          <a:solidFill>
            <a:srgbClr val="E2231A"/>
          </a:solidFill>
          <a:ln/>
        </p:spPr>
      </p:sp>
      <p:sp>
        <p:nvSpPr>
          <p:cNvPr id="10" name="Text 8"/>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11" name="Text 9"/>
          <p:cNvSpPr/>
          <p:nvPr/>
        </p:nvSpPr>
        <p:spPr>
          <a:xfrm>
            <a:off x="1234440" y="2606040"/>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Confirma que tu propia CA de laboratorio (lab-ca.crt, generada en el alistamiento, paso 3) existe y que el certificado del sitio (server.crt) quedó firmado con ella. Resultado esperado: ls lab-ca.crt server.crt server.key muestra los tres archivos.</a:t>
            </a:r>
            <a:endParaRPr lang="en-US" sz="1300" dirty="0"/>
          </a:p>
        </p:txBody>
      </p:sp>
      <p:sp>
        <p:nvSpPr>
          <p:cNvPr id="12" name="Shape 10"/>
          <p:cNvSpPr/>
          <p:nvPr/>
        </p:nvSpPr>
        <p:spPr>
          <a:xfrm>
            <a:off x="640080" y="3182112"/>
            <a:ext cx="384048" cy="384048"/>
          </a:xfrm>
          <a:prstGeom prst="ellipse">
            <a:avLst/>
          </a:prstGeom>
          <a:solidFill>
            <a:srgbClr val="E2231A"/>
          </a:solidFill>
          <a:ln/>
        </p:spPr>
      </p:sp>
      <p:sp>
        <p:nvSpPr>
          <p:cNvPr id="13" name="Text 11"/>
          <p:cNvSpPr/>
          <p:nvPr/>
        </p:nvSpPr>
        <p:spPr>
          <a:xfrm>
            <a:off x="640080" y="3182112"/>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4" name="Text 12"/>
          <p:cNvSpPr/>
          <p:nvPr/>
        </p:nvSpPr>
        <p:spPr>
          <a:xfrm>
            <a:off x="1234440" y="3136392"/>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Confirma que ese certificado CA se importará ÚNICAMENTE en el perfil de Firefox de laboratorio, nunca en el perfil personal, cuando llegue el momento de las prácticas HTTPS (Sesiones 2, 6 y 7).</a:t>
            </a:r>
            <a:endParaRPr lang="en-US" sz="1300" dirty="0"/>
          </a:p>
        </p:txBody>
      </p:sp>
      <p:sp>
        <p:nvSpPr>
          <p:cNvPr id="15" name="Shape 13"/>
          <p:cNvSpPr/>
          <p:nvPr/>
        </p:nvSpPr>
        <p:spPr>
          <a:xfrm>
            <a:off x="640080" y="3712464"/>
            <a:ext cx="384048" cy="384048"/>
          </a:xfrm>
          <a:prstGeom prst="ellipse">
            <a:avLst/>
          </a:prstGeom>
          <a:solidFill>
            <a:srgbClr val="E2231A"/>
          </a:solidFill>
          <a:ln/>
        </p:spPr>
      </p:sp>
      <p:sp>
        <p:nvSpPr>
          <p:cNvPr id="16" name="Text 14"/>
          <p:cNvSpPr/>
          <p:nvPr/>
        </p:nvSpPr>
        <p:spPr>
          <a:xfrm>
            <a:off x="640080" y="3712464"/>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7" name="Text 15"/>
          <p:cNvSpPr/>
          <p:nvPr/>
        </p:nvSpPr>
        <p:spPr>
          <a:xfrm>
            <a:off x="1234440" y="3666744"/>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Confirma que existe el repositorio Git académico con información ficticia para el laboratorio de repositorios expuestos (Sesión 5). Resultado esperado: puedes listar su historial con git log --oneline --all.</a:t>
            </a:r>
            <a:endParaRPr lang="en-US" sz="1300" dirty="0"/>
          </a:p>
        </p:txBody>
      </p:sp>
      <p:sp>
        <p:nvSpPr>
          <p:cNvPr id="18" name="Shape 16"/>
          <p:cNvSpPr/>
          <p:nvPr/>
        </p:nvSpPr>
        <p:spPr>
          <a:xfrm>
            <a:off x="640080" y="4242816"/>
            <a:ext cx="384048" cy="384048"/>
          </a:xfrm>
          <a:prstGeom prst="ellipse">
            <a:avLst/>
          </a:prstGeom>
          <a:solidFill>
            <a:srgbClr val="E2231A"/>
          </a:solidFill>
          <a:ln/>
        </p:spPr>
      </p:sp>
      <p:sp>
        <p:nvSpPr>
          <p:cNvPr id="19" name="Text 17"/>
          <p:cNvSpPr/>
          <p:nvPr/>
        </p:nvSpPr>
        <p:spPr>
          <a:xfrm>
            <a:off x="640080" y="4242816"/>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4</a:t>
            </a:r>
            <a:endParaRPr lang="en-US" sz="1400" dirty="0"/>
          </a:p>
        </p:txBody>
      </p:sp>
      <p:sp>
        <p:nvSpPr>
          <p:cNvPr id="20" name="Text 18"/>
          <p:cNvSpPr/>
          <p:nvPr/>
        </p:nvSpPr>
        <p:spPr>
          <a:xfrm>
            <a:off x="1234440" y="4197096"/>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Crea un directorio para guardar tus evidencias y reportes de todo el curso, ej. mkdir ~/evidencias_curso. Resultado esperado: el directorio existe y ahí guardarás capturas, hashes y reportes de las 8 sesiones.</a:t>
            </a:r>
            <a:endParaRPr lang="en-US" sz="1300" dirty="0"/>
          </a:p>
        </p:txBody>
      </p:sp>
      <p:sp>
        <p:nvSpPr>
          <p:cNvPr id="21" name="Shape 19"/>
          <p:cNvSpPr/>
          <p:nvPr/>
        </p:nvSpPr>
        <p:spPr>
          <a:xfrm>
            <a:off x="640080" y="4773168"/>
            <a:ext cx="384048" cy="384048"/>
          </a:xfrm>
          <a:prstGeom prst="ellipse">
            <a:avLst/>
          </a:prstGeom>
          <a:solidFill>
            <a:srgbClr val="E2231A"/>
          </a:solidFill>
          <a:ln/>
        </p:spPr>
      </p:sp>
      <p:sp>
        <p:nvSpPr>
          <p:cNvPr id="22" name="Text 20"/>
          <p:cNvSpPr/>
          <p:nvPr/>
        </p:nvSpPr>
        <p:spPr>
          <a:xfrm>
            <a:off x="640080" y="4773168"/>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5</a:t>
            </a:r>
            <a:endParaRPr lang="en-US" sz="1400" dirty="0"/>
          </a:p>
        </p:txBody>
      </p:sp>
      <p:sp>
        <p:nvSpPr>
          <p:cNvPr id="23" name="Text 21"/>
          <p:cNvSpPr/>
          <p:nvPr/>
        </p:nvSpPr>
        <p:spPr>
          <a:xfrm>
            <a:off x="1234440" y="4727448"/>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Cuando todo lo anterior esté confirmado, toma (o pide al instructor que confirme) un snapshot limpio de VirtualBox. Resultado esperado: snapshot creado, listo para restaurar si algo se daña más adelante en el curso.</a:t>
            </a:r>
            <a:endParaRPr lang="en-US" sz="1300" dirty="0"/>
          </a:p>
        </p:txBody>
      </p:sp>
      <p:sp>
        <p:nvSpPr>
          <p:cNvPr id="24" name="Shape 22"/>
          <p:cNvSpPr/>
          <p:nvPr/>
        </p:nvSpPr>
        <p:spPr>
          <a:xfrm>
            <a:off x="548640" y="5623560"/>
            <a:ext cx="7680960" cy="685800"/>
          </a:xfrm>
          <a:prstGeom prst="roundRect">
            <a:avLst>
              <a:gd name="adj" fmla="val 10667"/>
            </a:avLst>
          </a:prstGeom>
          <a:solidFill>
            <a:srgbClr val="F7F5F4"/>
          </a:solidFill>
          <a:ln w="9525">
            <a:solidFill>
              <a:srgbClr val="E7E1DF"/>
            </a:solidFill>
            <a:prstDash val="solid"/>
          </a:ln>
        </p:spPr>
      </p:sp>
      <p:sp>
        <p:nvSpPr>
          <p:cNvPr id="25" name="Shape 23"/>
          <p:cNvSpPr/>
          <p:nvPr/>
        </p:nvSpPr>
        <p:spPr>
          <a:xfrm>
            <a:off x="548640" y="5623560"/>
            <a:ext cx="7680960" cy="64008"/>
          </a:xfrm>
          <a:prstGeom prst="rect">
            <a:avLst/>
          </a:prstGeom>
          <a:solidFill>
            <a:srgbClr val="E2231A"/>
          </a:solidFill>
          <a:ln/>
        </p:spPr>
      </p:sp>
      <p:sp>
        <p:nvSpPr>
          <p:cNvPr id="26" name="Text 24"/>
          <p:cNvSpPr/>
          <p:nvPr/>
        </p:nvSpPr>
        <p:spPr>
          <a:xfrm>
            <a:off x="777240" y="5623560"/>
            <a:ext cx="7223760" cy="685800"/>
          </a:xfrm>
          <a:prstGeom prst="rect">
            <a:avLst/>
          </a:prstGeom>
          <a:noFill/>
          <a:ln/>
        </p:spPr>
        <p:txBody>
          <a:bodyPr wrap="square" rtlCol="0" anchor="ctr"/>
          <a:lstStyle/>
          <a:p>
            <a:pPr indent="0" marL="0">
              <a:buNone/>
            </a:pPr>
            <a:r>
              <a:rPr lang="en-US" sz="1200" b="1" dirty="0">
                <a:solidFill>
                  <a:srgbClr val="E2231A"/>
                </a:solidFill>
                <a:latin typeface="Roboto" pitchFamily="34" charset="0"/>
                <a:ea typeface="Roboto" pitchFamily="34" charset="-122"/>
                <a:cs typeface="Roboto" pitchFamily="34" charset="-120"/>
              </a:rPr>
              <a:t>Entregable:  </a:t>
            </a:r>
            <a:pPr indent="0" marL="0">
              <a:buNone/>
            </a:pPr>
            <a:r>
              <a:rPr lang="en-US" sz="1200" dirty="0">
                <a:solidFill>
                  <a:srgbClr val="1A1A1A"/>
                </a:solidFill>
                <a:latin typeface="Roboto" pitchFamily="34" charset="0"/>
                <a:ea typeface="Roboto" pitchFamily="34" charset="-122"/>
                <a:cs typeface="Roboto" pitchFamily="34" charset="-120"/>
              </a:rPr>
              <a:t>Los 5 elementos confirmados: CA y certificado propios verificados, manejo correcto de la CA, repositorio académico disponible, carpeta de evidencias creada, y snapshot limpio tomado.</a:t>
            </a:r>
            <a:endParaRPr lang="en-US" sz="1200" dirty="0"/>
          </a:p>
        </p:txBody>
      </p:sp>
      <p:sp>
        <p:nvSpPr>
          <p:cNvPr id="27" name="Shape 25"/>
          <p:cNvSpPr/>
          <p:nvPr/>
        </p:nvSpPr>
        <p:spPr>
          <a:xfrm>
            <a:off x="8412480" y="5623560"/>
            <a:ext cx="3200400" cy="685800"/>
          </a:xfrm>
          <a:prstGeom prst="roundRect">
            <a:avLst>
              <a:gd name="adj" fmla="val 10667"/>
            </a:avLst>
          </a:prstGeom>
          <a:solidFill>
            <a:srgbClr val="E2231A"/>
          </a:solidFill>
          <a:ln/>
        </p:spPr>
      </p:sp>
      <p:sp>
        <p:nvSpPr>
          <p:cNvPr id="28" name="Text 26"/>
          <p:cNvSpPr/>
          <p:nvPr/>
        </p:nvSpPr>
        <p:spPr>
          <a:xfrm>
            <a:off x="8412480" y="5623560"/>
            <a:ext cx="3200400" cy="685800"/>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10 min</a:t>
            </a:r>
            <a:endParaRPr lang="en-US" sz="1400" dirty="0"/>
          </a:p>
        </p:txBody>
      </p:sp>
      <p:sp>
        <p:nvSpPr>
          <p:cNvPr id="29" name="Shape 27"/>
          <p:cNvSpPr/>
          <p:nvPr/>
        </p:nvSpPr>
        <p:spPr>
          <a:xfrm rot="2700000">
            <a:off x="502920" y="6501384"/>
            <a:ext cx="82296" cy="82296"/>
          </a:xfrm>
          <a:prstGeom prst="rect">
            <a:avLst/>
          </a:prstGeom>
          <a:solidFill>
            <a:srgbClr val="E2231A"/>
          </a:solidFill>
          <a:ln/>
        </p:spPr>
      </p:sp>
      <p:sp>
        <p:nvSpPr>
          <p:cNvPr id="30" name="Text 28"/>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CHECKLIST LAB-READY (6/6) · CERTIFICADOS, REPOSITORIO Y SNAPSHOT</a:t>
            </a:r>
            <a:endParaRPr lang="en-US" sz="800" dirty="0"/>
          </a:p>
        </p:txBody>
      </p:sp>
      <p:sp>
        <p:nvSpPr>
          <p:cNvPr id="31" name="Text 29"/>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32</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DEMOSTRACIÓN GUIADA · EN VIVO SOBRE KALI</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Comandos Linux en vivo</a:t>
            </a:r>
            <a:endParaRPr lang="en-US" sz="2500" dirty="0"/>
          </a:p>
        </p:txBody>
      </p:sp>
      <p:sp>
        <p:nvSpPr>
          <p:cNvPr id="6" name="Text 4"/>
          <p:cNvSpPr/>
          <p:nvPr/>
        </p:nvSpPr>
        <p:spPr>
          <a:xfrm>
            <a:off x="548640" y="1600200"/>
            <a:ext cx="11064240" cy="365760"/>
          </a:xfrm>
          <a:prstGeom prst="rect">
            <a:avLst/>
          </a:prstGeom>
          <a:noFill/>
          <a:ln/>
        </p:spPr>
        <p:txBody>
          <a:bodyPr wrap="square" rtlCol="0" anchor="ctr"/>
          <a:lstStyle/>
          <a:p>
            <a:pPr indent="0" marL="0">
              <a:buNone/>
            </a:pPr>
            <a:r>
              <a:rPr lang="en-US" sz="1300" dirty="0">
                <a:solidFill>
                  <a:srgbClr val="6B6B6B"/>
                </a:solidFill>
                <a:latin typeface="Roboto" pitchFamily="34" charset="0"/>
                <a:ea typeface="Roboto" pitchFamily="34" charset="-122"/>
                <a:cs typeface="Roboto" pitchFamily="34" charset="-120"/>
              </a:rPr>
              <a:t>Ejecutar cada comando en la VM y explicar la salida línea por línea antes de pasar al siguiente.</a:t>
            </a:r>
            <a:endParaRPr lang="en-US" sz="1300" dirty="0"/>
          </a:p>
        </p:txBody>
      </p:sp>
      <p:sp>
        <p:nvSpPr>
          <p:cNvPr id="7" name="Shape 5"/>
          <p:cNvSpPr/>
          <p:nvPr/>
        </p:nvSpPr>
        <p:spPr>
          <a:xfrm>
            <a:off x="548640" y="2103120"/>
            <a:ext cx="11064240" cy="566928"/>
          </a:xfrm>
          <a:prstGeom prst="roundRect">
            <a:avLst>
              <a:gd name="adj" fmla="val 8065"/>
            </a:avLst>
          </a:prstGeom>
          <a:solidFill>
            <a:srgbClr val="1A1A1A"/>
          </a:solidFill>
          <a:ln/>
        </p:spPr>
      </p:sp>
      <p:sp>
        <p:nvSpPr>
          <p:cNvPr id="8" name="Shape 6"/>
          <p:cNvSpPr/>
          <p:nvPr/>
        </p:nvSpPr>
        <p:spPr>
          <a:xfrm>
            <a:off x="548640" y="2103120"/>
            <a:ext cx="54864" cy="566928"/>
          </a:xfrm>
          <a:prstGeom prst="rect">
            <a:avLst/>
          </a:prstGeom>
          <a:solidFill>
            <a:srgbClr val="E2231A"/>
          </a:solidFill>
          <a:ln/>
        </p:spPr>
      </p:sp>
      <p:sp>
        <p:nvSpPr>
          <p:cNvPr id="9" name="Text 7"/>
          <p:cNvSpPr/>
          <p:nvPr/>
        </p:nvSpPr>
        <p:spPr>
          <a:xfrm>
            <a:off x="822960" y="2103120"/>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ip a</a:t>
            </a:r>
            <a:endParaRPr lang="en-US" sz="1300" dirty="0"/>
          </a:p>
        </p:txBody>
      </p:sp>
      <p:sp>
        <p:nvSpPr>
          <p:cNvPr id="10" name="Text 8"/>
          <p:cNvSpPr/>
          <p:nvPr/>
        </p:nvSpPr>
        <p:spPr>
          <a:xfrm>
            <a:off x="6949440" y="2103120"/>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Identificar la interfaz NAT y su IP</a:t>
            </a:r>
            <a:endParaRPr lang="en-US" sz="1100" dirty="0"/>
          </a:p>
        </p:txBody>
      </p:sp>
      <p:sp>
        <p:nvSpPr>
          <p:cNvPr id="11" name="Shape 9"/>
          <p:cNvSpPr/>
          <p:nvPr/>
        </p:nvSpPr>
        <p:spPr>
          <a:xfrm>
            <a:off x="548640" y="2798064"/>
            <a:ext cx="11064240" cy="566928"/>
          </a:xfrm>
          <a:prstGeom prst="roundRect">
            <a:avLst>
              <a:gd name="adj" fmla="val 8065"/>
            </a:avLst>
          </a:prstGeom>
          <a:solidFill>
            <a:srgbClr val="1A1A1A"/>
          </a:solidFill>
          <a:ln/>
        </p:spPr>
      </p:sp>
      <p:sp>
        <p:nvSpPr>
          <p:cNvPr id="12" name="Shape 10"/>
          <p:cNvSpPr/>
          <p:nvPr/>
        </p:nvSpPr>
        <p:spPr>
          <a:xfrm>
            <a:off x="548640" y="2798064"/>
            <a:ext cx="54864" cy="566928"/>
          </a:xfrm>
          <a:prstGeom prst="rect">
            <a:avLst/>
          </a:prstGeom>
          <a:solidFill>
            <a:srgbClr val="E2231A"/>
          </a:solidFill>
          <a:ln/>
        </p:spPr>
      </p:sp>
      <p:sp>
        <p:nvSpPr>
          <p:cNvPr id="13" name="Text 11"/>
          <p:cNvSpPr/>
          <p:nvPr/>
        </p:nvSpPr>
        <p:spPr>
          <a:xfrm>
            <a:off x="822960" y="2798064"/>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ping -c 4 1.1.1.1</a:t>
            </a:r>
            <a:endParaRPr lang="en-US" sz="1300" dirty="0"/>
          </a:p>
        </p:txBody>
      </p:sp>
      <p:sp>
        <p:nvSpPr>
          <p:cNvPr id="14" name="Text 12"/>
          <p:cNvSpPr/>
          <p:nvPr/>
        </p:nvSpPr>
        <p:spPr>
          <a:xfrm>
            <a:off x="6949440" y="2798064"/>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Verificar conectividad por IP</a:t>
            </a:r>
            <a:endParaRPr lang="en-US" sz="1100" dirty="0"/>
          </a:p>
        </p:txBody>
      </p:sp>
      <p:sp>
        <p:nvSpPr>
          <p:cNvPr id="15" name="Shape 13"/>
          <p:cNvSpPr/>
          <p:nvPr/>
        </p:nvSpPr>
        <p:spPr>
          <a:xfrm>
            <a:off x="548640" y="3493008"/>
            <a:ext cx="11064240" cy="566928"/>
          </a:xfrm>
          <a:prstGeom prst="roundRect">
            <a:avLst>
              <a:gd name="adj" fmla="val 8065"/>
            </a:avLst>
          </a:prstGeom>
          <a:solidFill>
            <a:srgbClr val="1A1A1A"/>
          </a:solidFill>
          <a:ln/>
        </p:spPr>
      </p:sp>
      <p:sp>
        <p:nvSpPr>
          <p:cNvPr id="16" name="Shape 14"/>
          <p:cNvSpPr/>
          <p:nvPr/>
        </p:nvSpPr>
        <p:spPr>
          <a:xfrm>
            <a:off x="548640" y="3493008"/>
            <a:ext cx="54864" cy="566928"/>
          </a:xfrm>
          <a:prstGeom prst="rect">
            <a:avLst/>
          </a:prstGeom>
          <a:solidFill>
            <a:srgbClr val="E2231A"/>
          </a:solidFill>
          <a:ln/>
        </p:spPr>
      </p:sp>
      <p:sp>
        <p:nvSpPr>
          <p:cNvPr id="17" name="Text 15"/>
          <p:cNvSpPr/>
          <p:nvPr/>
        </p:nvSpPr>
        <p:spPr>
          <a:xfrm>
            <a:off x="822960" y="3493008"/>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ss -tulpn</a:t>
            </a:r>
            <a:endParaRPr lang="en-US" sz="1300" dirty="0"/>
          </a:p>
        </p:txBody>
      </p:sp>
      <p:sp>
        <p:nvSpPr>
          <p:cNvPr id="18" name="Text 16"/>
          <p:cNvSpPr/>
          <p:nvPr/>
        </p:nvSpPr>
        <p:spPr>
          <a:xfrm>
            <a:off x="6949440" y="3493008"/>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Puertos/servicios locales en escucha</a:t>
            </a:r>
            <a:endParaRPr lang="en-US" sz="1100" dirty="0"/>
          </a:p>
        </p:txBody>
      </p:sp>
      <p:sp>
        <p:nvSpPr>
          <p:cNvPr id="19" name="Shape 17"/>
          <p:cNvSpPr/>
          <p:nvPr/>
        </p:nvSpPr>
        <p:spPr>
          <a:xfrm>
            <a:off x="548640" y="4187952"/>
            <a:ext cx="11064240" cy="566928"/>
          </a:xfrm>
          <a:prstGeom prst="roundRect">
            <a:avLst>
              <a:gd name="adj" fmla="val 8065"/>
            </a:avLst>
          </a:prstGeom>
          <a:solidFill>
            <a:srgbClr val="1A1A1A"/>
          </a:solidFill>
          <a:ln/>
        </p:spPr>
      </p:sp>
      <p:sp>
        <p:nvSpPr>
          <p:cNvPr id="20" name="Shape 18"/>
          <p:cNvSpPr/>
          <p:nvPr/>
        </p:nvSpPr>
        <p:spPr>
          <a:xfrm>
            <a:off x="548640" y="4187952"/>
            <a:ext cx="54864" cy="566928"/>
          </a:xfrm>
          <a:prstGeom prst="rect">
            <a:avLst/>
          </a:prstGeom>
          <a:solidFill>
            <a:srgbClr val="E2231A"/>
          </a:solidFill>
          <a:ln/>
        </p:spPr>
      </p:sp>
      <p:sp>
        <p:nvSpPr>
          <p:cNvPr id="21" name="Text 19"/>
          <p:cNvSpPr/>
          <p:nvPr/>
        </p:nvSpPr>
        <p:spPr>
          <a:xfrm>
            <a:off x="822960" y="4187952"/>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ps aux | head</a:t>
            </a:r>
            <a:endParaRPr lang="en-US" sz="1300" dirty="0"/>
          </a:p>
        </p:txBody>
      </p:sp>
      <p:sp>
        <p:nvSpPr>
          <p:cNvPr id="22" name="Text 20"/>
          <p:cNvSpPr/>
          <p:nvPr/>
        </p:nvSpPr>
        <p:spPr>
          <a:xfrm>
            <a:off x="6949440" y="4187952"/>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Procesos activos del sistema</a:t>
            </a:r>
            <a:endParaRPr lang="en-US" sz="1100" dirty="0"/>
          </a:p>
        </p:txBody>
      </p:sp>
      <p:sp>
        <p:nvSpPr>
          <p:cNvPr id="23" name="Shape 21"/>
          <p:cNvSpPr/>
          <p:nvPr/>
        </p:nvSpPr>
        <p:spPr>
          <a:xfrm>
            <a:off x="548640" y="4882896"/>
            <a:ext cx="11064240" cy="566928"/>
          </a:xfrm>
          <a:prstGeom prst="roundRect">
            <a:avLst>
              <a:gd name="adj" fmla="val 8065"/>
            </a:avLst>
          </a:prstGeom>
          <a:solidFill>
            <a:srgbClr val="1A1A1A"/>
          </a:solidFill>
          <a:ln/>
        </p:spPr>
      </p:sp>
      <p:sp>
        <p:nvSpPr>
          <p:cNvPr id="24" name="Shape 22"/>
          <p:cNvSpPr/>
          <p:nvPr/>
        </p:nvSpPr>
        <p:spPr>
          <a:xfrm>
            <a:off x="548640" y="4882896"/>
            <a:ext cx="54864" cy="566928"/>
          </a:xfrm>
          <a:prstGeom prst="rect">
            <a:avLst/>
          </a:prstGeom>
          <a:solidFill>
            <a:srgbClr val="E2231A"/>
          </a:solidFill>
          <a:ln/>
        </p:spPr>
      </p:sp>
      <p:sp>
        <p:nvSpPr>
          <p:cNvPr id="25" name="Text 23"/>
          <p:cNvSpPr/>
          <p:nvPr/>
        </p:nvSpPr>
        <p:spPr>
          <a:xfrm>
            <a:off x="822960" y="4882896"/>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curl -v http://example.com</a:t>
            </a:r>
            <a:endParaRPr lang="en-US" sz="1300" dirty="0"/>
          </a:p>
        </p:txBody>
      </p:sp>
      <p:sp>
        <p:nvSpPr>
          <p:cNvPr id="26" name="Text 24"/>
          <p:cNvSpPr/>
          <p:nvPr/>
        </p:nvSpPr>
        <p:spPr>
          <a:xfrm>
            <a:off x="6949440" y="4882896"/>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Ver una solicitud HTTP completa</a:t>
            </a:r>
            <a:endParaRPr lang="en-US" sz="1100" dirty="0"/>
          </a:p>
        </p:txBody>
      </p:sp>
      <p:sp>
        <p:nvSpPr>
          <p:cNvPr id="27" name="Shape 25"/>
          <p:cNvSpPr/>
          <p:nvPr/>
        </p:nvSpPr>
        <p:spPr>
          <a:xfrm rot="2700000">
            <a:off x="502920" y="6501384"/>
            <a:ext cx="82296" cy="82296"/>
          </a:xfrm>
          <a:prstGeom prst="rect">
            <a:avLst/>
          </a:prstGeom>
          <a:solidFill>
            <a:srgbClr val="E2231A"/>
          </a:solidFill>
          <a:ln/>
        </p:spPr>
      </p:sp>
      <p:sp>
        <p:nvSpPr>
          <p:cNvPr id="28" name="Text 26"/>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DEMOSTRACIÓN GUIADA · EN VIVO SOBRE KALI</a:t>
            </a:r>
            <a:endParaRPr lang="en-US" sz="800" dirty="0"/>
          </a:p>
        </p:txBody>
      </p:sp>
      <p:sp>
        <p:nvSpPr>
          <p:cNvPr id="29" name="Text 27"/>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33</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DEMOSTRACIÓN GUIADA · EN VIVO SOBRE KALI</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Carpeta de evidencia y verificación de integridad</a:t>
            </a:r>
            <a:endParaRPr lang="en-US" sz="2500" dirty="0"/>
          </a:p>
        </p:txBody>
      </p:sp>
      <p:sp>
        <p:nvSpPr>
          <p:cNvPr id="6" name="Text 4"/>
          <p:cNvSpPr/>
          <p:nvPr/>
        </p:nvSpPr>
        <p:spPr>
          <a:xfrm>
            <a:off x="548640" y="1600200"/>
            <a:ext cx="11064240" cy="365760"/>
          </a:xfrm>
          <a:prstGeom prst="rect">
            <a:avLst/>
          </a:prstGeom>
          <a:noFill/>
          <a:ln/>
        </p:spPr>
        <p:txBody>
          <a:bodyPr wrap="square" rtlCol="0" anchor="ctr"/>
          <a:lstStyle/>
          <a:p>
            <a:pPr indent="0" marL="0">
              <a:buNone/>
            </a:pPr>
            <a:r>
              <a:rPr lang="en-US" sz="1300" dirty="0">
                <a:solidFill>
                  <a:srgbClr val="6B6B6B"/>
                </a:solidFill>
                <a:latin typeface="Roboto" pitchFamily="34" charset="0"/>
                <a:ea typeface="Roboto" pitchFamily="34" charset="-122"/>
                <a:cs typeface="Roboto" pitchFamily="34" charset="-120"/>
              </a:rPr>
              <a:t>Repetir en vivo el procedimiento presentado conceptualmente en la diapositiva 10.</a:t>
            </a:r>
            <a:endParaRPr lang="en-US" sz="1300" dirty="0"/>
          </a:p>
        </p:txBody>
      </p:sp>
      <p:sp>
        <p:nvSpPr>
          <p:cNvPr id="7" name="Shape 5"/>
          <p:cNvSpPr/>
          <p:nvPr/>
        </p:nvSpPr>
        <p:spPr>
          <a:xfrm>
            <a:off x="548640" y="2103120"/>
            <a:ext cx="11064240" cy="566928"/>
          </a:xfrm>
          <a:prstGeom prst="roundRect">
            <a:avLst>
              <a:gd name="adj" fmla="val 8065"/>
            </a:avLst>
          </a:prstGeom>
          <a:solidFill>
            <a:srgbClr val="1A1A1A"/>
          </a:solidFill>
          <a:ln/>
        </p:spPr>
      </p:sp>
      <p:sp>
        <p:nvSpPr>
          <p:cNvPr id="8" name="Shape 6"/>
          <p:cNvSpPr/>
          <p:nvPr/>
        </p:nvSpPr>
        <p:spPr>
          <a:xfrm>
            <a:off x="548640" y="2103120"/>
            <a:ext cx="54864" cy="566928"/>
          </a:xfrm>
          <a:prstGeom prst="rect">
            <a:avLst/>
          </a:prstGeom>
          <a:solidFill>
            <a:srgbClr val="E2231A"/>
          </a:solidFill>
          <a:ln/>
        </p:spPr>
      </p:sp>
      <p:sp>
        <p:nvSpPr>
          <p:cNvPr id="9" name="Text 7"/>
          <p:cNvSpPr/>
          <p:nvPr/>
        </p:nvSpPr>
        <p:spPr>
          <a:xfrm>
            <a:off x="822960" y="2103120"/>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mkdir ~/evidencia_demo</a:t>
            </a:r>
            <a:endParaRPr lang="en-US" sz="1300" dirty="0"/>
          </a:p>
        </p:txBody>
      </p:sp>
      <p:sp>
        <p:nvSpPr>
          <p:cNvPr id="10" name="Text 8"/>
          <p:cNvSpPr/>
          <p:nvPr/>
        </p:nvSpPr>
        <p:spPr>
          <a:xfrm>
            <a:off x="6949440" y="2103120"/>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Crear carpeta de evidencia</a:t>
            </a:r>
            <a:endParaRPr lang="en-US" sz="1100" dirty="0"/>
          </a:p>
        </p:txBody>
      </p:sp>
      <p:sp>
        <p:nvSpPr>
          <p:cNvPr id="11" name="Shape 9"/>
          <p:cNvSpPr/>
          <p:nvPr/>
        </p:nvSpPr>
        <p:spPr>
          <a:xfrm>
            <a:off x="548640" y="2798064"/>
            <a:ext cx="11064240" cy="566928"/>
          </a:xfrm>
          <a:prstGeom prst="roundRect">
            <a:avLst>
              <a:gd name="adj" fmla="val 8065"/>
            </a:avLst>
          </a:prstGeom>
          <a:solidFill>
            <a:srgbClr val="1A1A1A"/>
          </a:solidFill>
          <a:ln/>
        </p:spPr>
      </p:sp>
      <p:sp>
        <p:nvSpPr>
          <p:cNvPr id="12" name="Shape 10"/>
          <p:cNvSpPr/>
          <p:nvPr/>
        </p:nvSpPr>
        <p:spPr>
          <a:xfrm>
            <a:off x="548640" y="2798064"/>
            <a:ext cx="54864" cy="566928"/>
          </a:xfrm>
          <a:prstGeom prst="rect">
            <a:avLst/>
          </a:prstGeom>
          <a:solidFill>
            <a:srgbClr val="E2231A"/>
          </a:solidFill>
          <a:ln/>
        </p:spPr>
      </p:sp>
      <p:sp>
        <p:nvSpPr>
          <p:cNvPr id="13" name="Text 11"/>
          <p:cNvSpPr/>
          <p:nvPr/>
        </p:nvSpPr>
        <p:spPr>
          <a:xfrm>
            <a:off x="822960" y="2798064"/>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curl -s http://example.com -o pagina.html</a:t>
            </a:r>
            <a:endParaRPr lang="en-US" sz="1300" dirty="0"/>
          </a:p>
        </p:txBody>
      </p:sp>
      <p:sp>
        <p:nvSpPr>
          <p:cNvPr id="14" name="Text 12"/>
          <p:cNvSpPr/>
          <p:nvPr/>
        </p:nvSpPr>
        <p:spPr>
          <a:xfrm>
            <a:off x="6949440" y="2798064"/>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Guardar un recurso como evidencia</a:t>
            </a:r>
            <a:endParaRPr lang="en-US" sz="1100" dirty="0"/>
          </a:p>
        </p:txBody>
      </p:sp>
      <p:sp>
        <p:nvSpPr>
          <p:cNvPr id="15" name="Shape 13"/>
          <p:cNvSpPr/>
          <p:nvPr/>
        </p:nvSpPr>
        <p:spPr>
          <a:xfrm>
            <a:off x="548640" y="3493008"/>
            <a:ext cx="11064240" cy="566928"/>
          </a:xfrm>
          <a:prstGeom prst="roundRect">
            <a:avLst>
              <a:gd name="adj" fmla="val 8065"/>
            </a:avLst>
          </a:prstGeom>
          <a:solidFill>
            <a:srgbClr val="1A1A1A"/>
          </a:solidFill>
          <a:ln/>
        </p:spPr>
      </p:sp>
      <p:sp>
        <p:nvSpPr>
          <p:cNvPr id="16" name="Shape 14"/>
          <p:cNvSpPr/>
          <p:nvPr/>
        </p:nvSpPr>
        <p:spPr>
          <a:xfrm>
            <a:off x="548640" y="3493008"/>
            <a:ext cx="54864" cy="566928"/>
          </a:xfrm>
          <a:prstGeom prst="rect">
            <a:avLst/>
          </a:prstGeom>
          <a:solidFill>
            <a:srgbClr val="E2231A"/>
          </a:solidFill>
          <a:ln/>
        </p:spPr>
      </p:sp>
      <p:sp>
        <p:nvSpPr>
          <p:cNvPr id="17" name="Text 15"/>
          <p:cNvSpPr/>
          <p:nvPr/>
        </p:nvSpPr>
        <p:spPr>
          <a:xfrm>
            <a:off x="822960" y="3493008"/>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sha256sum pagina.html</a:t>
            </a:r>
            <a:endParaRPr lang="en-US" sz="1300" dirty="0"/>
          </a:p>
        </p:txBody>
      </p:sp>
      <p:sp>
        <p:nvSpPr>
          <p:cNvPr id="18" name="Text 16"/>
          <p:cNvSpPr/>
          <p:nvPr/>
        </p:nvSpPr>
        <p:spPr>
          <a:xfrm>
            <a:off x="6949440" y="3493008"/>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Calcular la huella de integridad</a:t>
            </a:r>
            <a:endParaRPr lang="en-US" sz="1100" dirty="0"/>
          </a:p>
        </p:txBody>
      </p:sp>
      <p:sp>
        <p:nvSpPr>
          <p:cNvPr id="19" name="Shape 17"/>
          <p:cNvSpPr/>
          <p:nvPr/>
        </p:nvSpPr>
        <p:spPr>
          <a:xfrm>
            <a:off x="548640" y="4187952"/>
            <a:ext cx="11064240" cy="566928"/>
          </a:xfrm>
          <a:prstGeom prst="roundRect">
            <a:avLst>
              <a:gd name="adj" fmla="val 8065"/>
            </a:avLst>
          </a:prstGeom>
          <a:solidFill>
            <a:srgbClr val="1A1A1A"/>
          </a:solidFill>
          <a:ln/>
        </p:spPr>
      </p:sp>
      <p:sp>
        <p:nvSpPr>
          <p:cNvPr id="20" name="Shape 18"/>
          <p:cNvSpPr/>
          <p:nvPr/>
        </p:nvSpPr>
        <p:spPr>
          <a:xfrm>
            <a:off x="548640" y="4187952"/>
            <a:ext cx="54864" cy="566928"/>
          </a:xfrm>
          <a:prstGeom prst="rect">
            <a:avLst/>
          </a:prstGeom>
          <a:solidFill>
            <a:srgbClr val="E2231A"/>
          </a:solidFill>
          <a:ln/>
        </p:spPr>
      </p:sp>
      <p:sp>
        <p:nvSpPr>
          <p:cNvPr id="21" name="Text 19"/>
          <p:cNvSpPr/>
          <p:nvPr/>
        </p:nvSpPr>
        <p:spPr>
          <a:xfrm>
            <a:off x="822960" y="4187952"/>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sha256sum pagina.html</a:t>
            </a:r>
            <a:endParaRPr lang="en-US" sz="1300" dirty="0"/>
          </a:p>
        </p:txBody>
      </p:sp>
      <p:sp>
        <p:nvSpPr>
          <p:cNvPr id="22" name="Text 20"/>
          <p:cNvSpPr/>
          <p:nvPr/>
        </p:nvSpPr>
        <p:spPr>
          <a:xfrm>
            <a:off x="6949440" y="4187952"/>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Repetir para mostrar que el hash no cambia</a:t>
            </a:r>
            <a:endParaRPr lang="en-US" sz="1100" dirty="0"/>
          </a:p>
        </p:txBody>
      </p:sp>
      <p:sp>
        <p:nvSpPr>
          <p:cNvPr id="23" name="Shape 21"/>
          <p:cNvSpPr/>
          <p:nvPr/>
        </p:nvSpPr>
        <p:spPr>
          <a:xfrm rot="2700000">
            <a:off x="502920" y="6501384"/>
            <a:ext cx="82296" cy="82296"/>
          </a:xfrm>
          <a:prstGeom prst="rect">
            <a:avLst/>
          </a:prstGeom>
          <a:solidFill>
            <a:srgbClr val="E2231A"/>
          </a:solidFill>
          <a:ln/>
        </p:spPr>
      </p:sp>
      <p:sp>
        <p:nvSpPr>
          <p:cNvPr id="24" name="Text 22"/>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DEMOSTRACIÓN GUIADA · EN VIVO SOBRE KALI</a:t>
            </a:r>
            <a:endParaRPr lang="en-US" sz="800" dirty="0"/>
          </a:p>
        </p:txBody>
      </p:sp>
      <p:sp>
        <p:nvSpPr>
          <p:cNvPr id="25" name="Text 23"/>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34</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COMPROBACIÓN RÁPIDA</a:t>
            </a:r>
            <a:endParaRPr lang="en-US" sz="1150" dirty="0"/>
          </a:p>
        </p:txBody>
      </p:sp>
      <p:sp>
        <p:nvSpPr>
          <p:cNvPr id="5" name="Text 3"/>
          <p:cNvSpPr/>
          <p:nvPr/>
        </p:nvSpPr>
        <p:spPr>
          <a:xfrm>
            <a:off x="548640" y="749808"/>
            <a:ext cx="10332720" cy="1234440"/>
          </a:xfrm>
          <a:prstGeom prst="rect">
            <a:avLst/>
          </a:prstGeom>
          <a:noFill/>
          <a:ln/>
        </p:spPr>
        <p:txBody>
          <a:bodyPr wrap="square" rtlCol="0" anchor="t"/>
          <a:lstStyle/>
          <a:p>
            <a:pPr indent="0" marL="0">
              <a:buNone/>
            </a:pPr>
            <a:r>
              <a:rPr lang="en-US" sz="2000" b="1" dirty="0">
                <a:solidFill>
                  <a:srgbClr val="1A1A1A"/>
                </a:solidFill>
                <a:latin typeface="Roboto" pitchFamily="34" charset="0"/>
                <a:ea typeface="Roboto" pitchFamily="34" charset="-122"/>
                <a:cs typeface="Roboto" pitchFamily="34" charset="-120"/>
              </a:rPr>
              <a:t>Si alguien modifica un solo carácter del archivo pagina.html después de calcular su sha256sum, ¿qué ocurre con el hash?</a:t>
            </a:r>
            <a:endParaRPr lang="en-US" sz="2000" dirty="0"/>
          </a:p>
        </p:txBody>
      </p:sp>
      <p:sp>
        <p:nvSpPr>
          <p:cNvPr id="6" name="Shape 4"/>
          <p:cNvSpPr/>
          <p:nvPr/>
        </p:nvSpPr>
        <p:spPr>
          <a:xfrm>
            <a:off x="548640" y="2240280"/>
            <a:ext cx="5349240" cy="1371600"/>
          </a:xfrm>
          <a:prstGeom prst="roundRect">
            <a:avLst>
              <a:gd name="adj" fmla="val 6000"/>
            </a:avLst>
          </a:prstGeom>
          <a:solidFill>
            <a:srgbClr val="F7F5F4"/>
          </a:solidFill>
          <a:ln w="9525">
            <a:solidFill>
              <a:srgbClr val="E7E1DF"/>
            </a:solidFill>
            <a:prstDash val="solid"/>
          </a:ln>
        </p:spPr>
      </p:sp>
      <p:sp>
        <p:nvSpPr>
          <p:cNvPr id="7" name="Shape 5"/>
          <p:cNvSpPr/>
          <p:nvPr/>
        </p:nvSpPr>
        <p:spPr>
          <a:xfrm>
            <a:off x="777240" y="2468880"/>
            <a:ext cx="420624" cy="420624"/>
          </a:xfrm>
          <a:prstGeom prst="ellipse">
            <a:avLst/>
          </a:prstGeom>
          <a:solidFill>
            <a:srgbClr val="E2231A"/>
          </a:solidFill>
          <a:ln/>
        </p:spPr>
      </p:sp>
      <p:sp>
        <p:nvSpPr>
          <p:cNvPr id="8" name="Text 6"/>
          <p:cNvSpPr/>
          <p:nvPr/>
        </p:nvSpPr>
        <p:spPr>
          <a:xfrm>
            <a:off x="777240" y="2468880"/>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A</a:t>
            </a:r>
            <a:endParaRPr lang="en-US" sz="1500" dirty="0"/>
          </a:p>
        </p:txBody>
      </p:sp>
      <p:sp>
        <p:nvSpPr>
          <p:cNvPr id="9" name="Text 7"/>
          <p:cNvSpPr/>
          <p:nvPr/>
        </p:nvSpPr>
        <p:spPr>
          <a:xfrm>
            <a:off x="1371600" y="2377440"/>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A)  El hash permanece exactamente igual, porque sha256sum solo revisa el tamaño del archivo.</a:t>
            </a:r>
            <a:endParaRPr lang="en-US" sz="1250" dirty="0"/>
          </a:p>
        </p:txBody>
      </p:sp>
      <p:sp>
        <p:nvSpPr>
          <p:cNvPr id="10" name="Shape 8"/>
          <p:cNvSpPr/>
          <p:nvPr/>
        </p:nvSpPr>
        <p:spPr>
          <a:xfrm>
            <a:off x="6217920" y="2240280"/>
            <a:ext cx="5349240" cy="1371600"/>
          </a:xfrm>
          <a:prstGeom prst="roundRect">
            <a:avLst>
              <a:gd name="adj" fmla="val 6000"/>
            </a:avLst>
          </a:prstGeom>
          <a:solidFill>
            <a:srgbClr val="F7F5F4"/>
          </a:solidFill>
          <a:ln w="9525">
            <a:solidFill>
              <a:srgbClr val="E7E1DF"/>
            </a:solidFill>
            <a:prstDash val="solid"/>
          </a:ln>
        </p:spPr>
      </p:sp>
      <p:sp>
        <p:nvSpPr>
          <p:cNvPr id="11" name="Shape 9"/>
          <p:cNvSpPr/>
          <p:nvPr/>
        </p:nvSpPr>
        <p:spPr>
          <a:xfrm>
            <a:off x="6446520" y="2468880"/>
            <a:ext cx="420624" cy="420624"/>
          </a:xfrm>
          <a:prstGeom prst="ellipse">
            <a:avLst/>
          </a:prstGeom>
          <a:solidFill>
            <a:srgbClr val="E2231A"/>
          </a:solidFill>
          <a:ln/>
        </p:spPr>
      </p:sp>
      <p:sp>
        <p:nvSpPr>
          <p:cNvPr id="12" name="Text 10"/>
          <p:cNvSpPr/>
          <p:nvPr/>
        </p:nvSpPr>
        <p:spPr>
          <a:xfrm>
            <a:off x="6446520" y="2468880"/>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B</a:t>
            </a:r>
            <a:endParaRPr lang="en-US" sz="1500" dirty="0"/>
          </a:p>
        </p:txBody>
      </p:sp>
      <p:sp>
        <p:nvSpPr>
          <p:cNvPr id="13" name="Text 11"/>
          <p:cNvSpPr/>
          <p:nvPr/>
        </p:nvSpPr>
        <p:spPr>
          <a:xfrm>
            <a:off x="7040880" y="2377440"/>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B)  El hash cambia por completo, aunque el cambio en el archivo haya sido mínimo.</a:t>
            </a:r>
            <a:endParaRPr lang="en-US" sz="1250" dirty="0"/>
          </a:p>
        </p:txBody>
      </p:sp>
      <p:sp>
        <p:nvSpPr>
          <p:cNvPr id="14" name="Shape 12"/>
          <p:cNvSpPr/>
          <p:nvPr/>
        </p:nvSpPr>
        <p:spPr>
          <a:xfrm>
            <a:off x="548640" y="3867912"/>
            <a:ext cx="5349240" cy="1371600"/>
          </a:xfrm>
          <a:prstGeom prst="roundRect">
            <a:avLst>
              <a:gd name="adj" fmla="val 6000"/>
            </a:avLst>
          </a:prstGeom>
          <a:solidFill>
            <a:srgbClr val="F7F5F4"/>
          </a:solidFill>
          <a:ln w="9525">
            <a:solidFill>
              <a:srgbClr val="E7E1DF"/>
            </a:solidFill>
            <a:prstDash val="solid"/>
          </a:ln>
        </p:spPr>
      </p:sp>
      <p:sp>
        <p:nvSpPr>
          <p:cNvPr id="15" name="Shape 13"/>
          <p:cNvSpPr/>
          <p:nvPr/>
        </p:nvSpPr>
        <p:spPr>
          <a:xfrm>
            <a:off x="777240" y="4096512"/>
            <a:ext cx="420624" cy="420624"/>
          </a:xfrm>
          <a:prstGeom prst="ellipse">
            <a:avLst/>
          </a:prstGeom>
          <a:solidFill>
            <a:srgbClr val="E2231A"/>
          </a:solidFill>
          <a:ln/>
        </p:spPr>
      </p:sp>
      <p:sp>
        <p:nvSpPr>
          <p:cNvPr id="16" name="Text 14"/>
          <p:cNvSpPr/>
          <p:nvPr/>
        </p:nvSpPr>
        <p:spPr>
          <a:xfrm>
            <a:off x="777240" y="4096512"/>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C</a:t>
            </a:r>
            <a:endParaRPr lang="en-US" sz="1500" dirty="0"/>
          </a:p>
        </p:txBody>
      </p:sp>
      <p:sp>
        <p:nvSpPr>
          <p:cNvPr id="17" name="Text 15"/>
          <p:cNvSpPr/>
          <p:nvPr/>
        </p:nvSpPr>
        <p:spPr>
          <a:xfrm>
            <a:off x="1371600" y="4005072"/>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C)  El hash cambia solo un poco, de forma proporcional al cambio realizado.</a:t>
            </a:r>
            <a:endParaRPr lang="en-US" sz="1250" dirty="0"/>
          </a:p>
        </p:txBody>
      </p:sp>
      <p:sp>
        <p:nvSpPr>
          <p:cNvPr id="18" name="Shape 16"/>
          <p:cNvSpPr/>
          <p:nvPr/>
        </p:nvSpPr>
        <p:spPr>
          <a:xfrm>
            <a:off x="6217920" y="3867912"/>
            <a:ext cx="5349240" cy="1371600"/>
          </a:xfrm>
          <a:prstGeom prst="roundRect">
            <a:avLst>
              <a:gd name="adj" fmla="val 6000"/>
            </a:avLst>
          </a:prstGeom>
          <a:solidFill>
            <a:srgbClr val="F7F5F4"/>
          </a:solidFill>
          <a:ln w="9525">
            <a:solidFill>
              <a:srgbClr val="E7E1DF"/>
            </a:solidFill>
            <a:prstDash val="solid"/>
          </a:ln>
        </p:spPr>
      </p:sp>
      <p:sp>
        <p:nvSpPr>
          <p:cNvPr id="19" name="Shape 17"/>
          <p:cNvSpPr/>
          <p:nvPr/>
        </p:nvSpPr>
        <p:spPr>
          <a:xfrm>
            <a:off x="6446520" y="4096512"/>
            <a:ext cx="420624" cy="420624"/>
          </a:xfrm>
          <a:prstGeom prst="ellipse">
            <a:avLst/>
          </a:prstGeom>
          <a:solidFill>
            <a:srgbClr val="E2231A"/>
          </a:solidFill>
          <a:ln/>
        </p:spPr>
      </p:sp>
      <p:sp>
        <p:nvSpPr>
          <p:cNvPr id="20" name="Text 18"/>
          <p:cNvSpPr/>
          <p:nvPr/>
        </p:nvSpPr>
        <p:spPr>
          <a:xfrm>
            <a:off x="6446520" y="4096512"/>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D</a:t>
            </a:r>
            <a:endParaRPr lang="en-US" sz="1500" dirty="0"/>
          </a:p>
        </p:txBody>
      </p:sp>
      <p:sp>
        <p:nvSpPr>
          <p:cNvPr id="21" name="Text 19"/>
          <p:cNvSpPr/>
          <p:nvPr/>
        </p:nvSpPr>
        <p:spPr>
          <a:xfrm>
            <a:off x="7040880" y="4005072"/>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D)  sha256sum detecta el cambio automáticamente y bloquea el archivo modificado.</a:t>
            </a:r>
            <a:endParaRPr lang="en-US" sz="1250" dirty="0"/>
          </a:p>
        </p:txBody>
      </p:sp>
      <p:sp>
        <p:nvSpPr>
          <p:cNvPr id="22" name="Text 20"/>
          <p:cNvSpPr/>
          <p:nvPr/>
        </p:nvSpPr>
        <p:spPr>
          <a:xfrm>
            <a:off x="548640" y="5541264"/>
            <a:ext cx="11064240" cy="365760"/>
          </a:xfrm>
          <a:prstGeom prst="rect">
            <a:avLst/>
          </a:prstGeom>
          <a:noFill/>
          <a:ln/>
        </p:spPr>
        <p:txBody>
          <a:bodyPr wrap="square" rtlCol="0" anchor="ctr"/>
          <a:lstStyle/>
          <a:p>
            <a:pPr indent="0" marL="0">
              <a:buNone/>
            </a:pPr>
            <a:r>
              <a:rPr lang="en-US" sz="1150" i="1" dirty="0">
                <a:solidFill>
                  <a:srgbClr val="6B6B6B"/>
                </a:solidFill>
                <a:latin typeface="Roboto" pitchFamily="34" charset="0"/>
                <a:ea typeface="Roboto" pitchFamily="34" charset="-122"/>
                <a:cs typeface="Roboto" pitchFamily="34" charset="-120"/>
              </a:rPr>
              <a:t>Elige tu respuesta antes de que el instructor revele la correcta.</a:t>
            </a:r>
            <a:endParaRPr lang="en-US" sz="1150" dirty="0"/>
          </a:p>
        </p:txBody>
      </p:sp>
      <p:sp>
        <p:nvSpPr>
          <p:cNvPr id="23" name="Shape 21"/>
          <p:cNvSpPr/>
          <p:nvPr/>
        </p:nvSpPr>
        <p:spPr>
          <a:xfrm rot="2700000">
            <a:off x="502920" y="6501384"/>
            <a:ext cx="82296" cy="82296"/>
          </a:xfrm>
          <a:prstGeom prst="rect">
            <a:avLst/>
          </a:prstGeom>
          <a:solidFill>
            <a:srgbClr val="E2231A"/>
          </a:solidFill>
          <a:ln/>
        </p:spPr>
      </p:sp>
      <p:sp>
        <p:nvSpPr>
          <p:cNvPr id="24" name="Text 22"/>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COMPROBACIÓN RÁPIDA</a:t>
            </a:r>
            <a:endParaRPr lang="en-US" sz="800" dirty="0"/>
          </a:p>
        </p:txBody>
      </p:sp>
      <p:sp>
        <p:nvSpPr>
          <p:cNvPr id="25" name="Text 23"/>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35</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E2231A"/>
        </a:solidFill>
      </p:bgPr>
    </p:bg>
    <p:spTree>
      <p:nvGrpSpPr>
        <p:cNvPr id="1" name=""/>
        <p:cNvGrpSpPr/>
        <p:nvPr/>
      </p:nvGrpSpPr>
      <p:grpSpPr>
        <a:xfrm>
          <a:off x="0" y="0"/>
          <a:ext cx="0" cy="0"/>
          <a:chOff x="0" y="0"/>
          <a:chExt cx="0" cy="0"/>
        </a:xfrm>
      </p:grpSpPr>
      <p:sp>
        <p:nvSpPr>
          <p:cNvPr id="2" name="Shape 0"/>
          <p:cNvSpPr/>
          <p:nvPr/>
        </p:nvSpPr>
        <p:spPr>
          <a:xfrm>
            <a:off x="9692640" y="3840480"/>
            <a:ext cx="4937760" cy="4937760"/>
          </a:xfrm>
          <a:prstGeom prst="ellipse">
            <a:avLst/>
          </a:prstGeom>
          <a:solidFill>
            <a:srgbClr val="A81810">
              <a:alpha val="70000"/>
            </a:srgbClr>
          </a:solidFill>
          <a:ln/>
        </p:spPr>
      </p:sp>
      <p:sp>
        <p:nvSpPr>
          <p:cNvPr id="3" name="Shape 1"/>
          <p:cNvSpPr/>
          <p:nvPr/>
        </p:nvSpPr>
        <p:spPr>
          <a:xfrm>
            <a:off x="-1097280" y="-1097280"/>
            <a:ext cx="2377440" cy="2377440"/>
          </a:xfrm>
          <a:prstGeom prst="ellipse">
            <a:avLst/>
          </a:prstGeom>
          <a:solidFill>
            <a:srgbClr val="A81810">
              <a:alpha val="70000"/>
            </a:srgbClr>
          </a:solidFill>
          <a:ln/>
        </p:spPr>
      </p:sp>
      <p:sp>
        <p:nvSpPr>
          <p:cNvPr id="4" name="Text 2"/>
          <p:cNvSpPr/>
          <p:nvPr/>
        </p:nvSpPr>
        <p:spPr>
          <a:xfrm>
            <a:off x="914400" y="2606040"/>
            <a:ext cx="9144000" cy="365760"/>
          </a:xfrm>
          <a:prstGeom prst="rect">
            <a:avLst/>
          </a:prstGeom>
          <a:noFill/>
          <a:ln/>
        </p:spPr>
        <p:txBody>
          <a:bodyPr wrap="square" rtlCol="0" anchor="ctr"/>
          <a:lstStyle/>
          <a:p>
            <a:pPr indent="0" marL="0">
              <a:buNone/>
            </a:pPr>
            <a:r>
              <a:rPr lang="en-US" sz="1300" b="1" spc="150" kern="0" dirty="0">
                <a:solidFill>
                  <a:srgbClr val="FEB126"/>
                </a:solidFill>
                <a:latin typeface="Roboto" pitchFamily="34" charset="0"/>
                <a:ea typeface="Roboto" pitchFamily="34" charset="-122"/>
                <a:cs typeface="Roboto" pitchFamily="34" charset="-120"/>
              </a:rPr>
              <a:t>PAUSA</a:t>
            </a:r>
            <a:endParaRPr lang="en-US" sz="1300" dirty="0"/>
          </a:p>
        </p:txBody>
      </p:sp>
      <p:sp>
        <p:nvSpPr>
          <p:cNvPr id="5" name="Text 3"/>
          <p:cNvSpPr/>
          <p:nvPr/>
        </p:nvSpPr>
        <p:spPr>
          <a:xfrm>
            <a:off x="914400" y="2971800"/>
            <a:ext cx="9875520" cy="1188720"/>
          </a:xfrm>
          <a:prstGeom prst="rect">
            <a:avLst/>
          </a:prstGeom>
          <a:noFill/>
          <a:ln/>
        </p:spPr>
        <p:txBody>
          <a:bodyPr wrap="square" rtlCol="0" anchor="ctr"/>
          <a:lstStyle/>
          <a:p>
            <a:pPr indent="0" marL="0">
              <a:buNone/>
            </a:pPr>
            <a:r>
              <a:rPr lang="en-US" sz="3400" b="1" dirty="0">
                <a:solidFill>
                  <a:srgbClr val="FFFFFF"/>
                </a:solidFill>
                <a:latin typeface="Roboto" pitchFamily="34" charset="0"/>
                <a:ea typeface="Roboto" pitchFamily="34" charset="-122"/>
                <a:cs typeface="Roboto" pitchFamily="34" charset="-120"/>
              </a:rPr>
              <a:t>15 minutos</a:t>
            </a:r>
            <a:endParaRPr lang="en-US" sz="3400" dirty="0"/>
          </a:p>
        </p:txBody>
      </p:sp>
      <p:sp>
        <p:nvSpPr>
          <p:cNvPr id="6" name="Text 4"/>
          <p:cNvSpPr/>
          <p:nvPr/>
        </p:nvSpPr>
        <p:spPr>
          <a:xfrm>
            <a:off x="914400" y="4069080"/>
            <a:ext cx="8961120" cy="640080"/>
          </a:xfrm>
          <a:prstGeom prst="rect">
            <a:avLst/>
          </a:prstGeom>
          <a:noFill/>
          <a:ln/>
        </p:spPr>
        <p:txBody>
          <a:bodyPr wrap="square" rtlCol="0" anchor="ctr"/>
          <a:lstStyle/>
          <a:p>
            <a:pPr indent="0" marL="0">
              <a:buNone/>
            </a:pPr>
            <a:r>
              <a:rPr lang="en-US" sz="1500" dirty="0">
                <a:solidFill>
                  <a:srgbClr val="FBDAD8"/>
                </a:solidFill>
                <a:latin typeface="Roboto" pitchFamily="34" charset="0"/>
                <a:ea typeface="Roboto" pitchFamily="34" charset="-122"/>
                <a:cs typeface="Roboto" pitchFamily="34" charset="-120"/>
              </a:rPr>
              <a:t>Al volver: ejercicio de aplicación en parejas o grupos pequeños.</a:t>
            </a:r>
            <a:endParaRPr lang="en-US" sz="1500" dirty="0"/>
          </a:p>
        </p:txBody>
      </p:sp>
      <p:sp>
        <p:nvSpPr>
          <p:cNvPr id="7" name="Shape 5"/>
          <p:cNvSpPr/>
          <p:nvPr/>
        </p:nvSpPr>
        <p:spPr>
          <a:xfrm rot="2700000">
            <a:off x="502920" y="6501384"/>
            <a:ext cx="82296" cy="82296"/>
          </a:xfrm>
          <a:prstGeom prst="rect">
            <a:avLst/>
          </a:prstGeom>
          <a:solidFill>
            <a:srgbClr val="FFFFFF"/>
          </a:solidFill>
          <a:ln/>
        </p:spPr>
      </p:sp>
      <p:sp>
        <p:nvSpPr>
          <p:cNvPr id="8" name="Text 6"/>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F4D9D7"/>
                </a:solidFill>
                <a:latin typeface="Roboto" pitchFamily="34" charset="0"/>
                <a:ea typeface="Roboto" pitchFamily="34" charset="-122"/>
                <a:cs typeface="Roboto" pitchFamily="34" charset="-120"/>
              </a:rPr>
              <a:t>BACCI · CAPACITACIÓN EN CIBERDEFENSA Y CIBERSEGURIDAD · 40 HORAS</a:t>
            </a:r>
            <a:endParaRPr lang="en-US" sz="800" dirty="0"/>
          </a:p>
        </p:txBody>
      </p:sp>
      <p:sp>
        <p:nvSpPr>
          <p:cNvPr id="9" name="Text 7"/>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FFFFFF"/>
                </a:solidFill>
                <a:latin typeface="Roboto" pitchFamily="34" charset="0"/>
                <a:ea typeface="Roboto" pitchFamily="34" charset="-122"/>
                <a:cs typeface="Roboto" pitchFamily="34" charset="-120"/>
              </a:rPr>
              <a:t>36</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APLICACIÓN · ACTIVIDAD PARTICIPATIVA</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Ejercicio: mapa de activos y flujo de una solicitud web</a:t>
            </a:r>
            <a:endParaRPr lang="en-US" sz="2500" dirty="0"/>
          </a:p>
        </p:txBody>
      </p:sp>
      <p:sp>
        <p:nvSpPr>
          <p:cNvPr id="6" name="Shape 4"/>
          <p:cNvSpPr/>
          <p:nvPr/>
        </p:nvSpPr>
        <p:spPr>
          <a:xfrm>
            <a:off x="548640" y="1645920"/>
            <a:ext cx="11064240" cy="777240"/>
          </a:xfrm>
          <a:prstGeom prst="roundRect">
            <a:avLst>
              <a:gd name="adj" fmla="val 9412"/>
            </a:avLst>
          </a:prstGeom>
          <a:solidFill>
            <a:srgbClr val="FCEBEA"/>
          </a:solidFill>
          <a:ln/>
        </p:spPr>
      </p:sp>
      <p:sp>
        <p:nvSpPr>
          <p:cNvPr id="7" name="Shape 5"/>
          <p:cNvSpPr/>
          <p:nvPr/>
        </p:nvSpPr>
        <p:spPr>
          <a:xfrm>
            <a:off x="548640" y="1645920"/>
            <a:ext cx="54864" cy="777240"/>
          </a:xfrm>
          <a:prstGeom prst="rect">
            <a:avLst/>
          </a:prstGeom>
          <a:solidFill>
            <a:srgbClr val="E2231A"/>
          </a:solidFill>
          <a:ln/>
        </p:spPr>
      </p:sp>
      <p:sp>
        <p:nvSpPr>
          <p:cNvPr id="8" name="Text 6"/>
          <p:cNvSpPr/>
          <p:nvPr/>
        </p:nvSpPr>
        <p:spPr>
          <a:xfrm>
            <a:off x="822960" y="1645920"/>
            <a:ext cx="10515600" cy="777240"/>
          </a:xfrm>
          <a:prstGeom prst="rect">
            <a:avLst/>
          </a:prstGeom>
          <a:noFill/>
          <a:ln/>
        </p:spPr>
        <p:txBody>
          <a:bodyPr wrap="square" rtlCol="0" anchor="ctr"/>
          <a:lstStyle/>
          <a:p>
            <a:pPr indent="0" marL="0">
              <a:buNone/>
            </a:pPr>
            <a:r>
              <a:rPr lang="en-US" sz="1300" b="1" dirty="0">
                <a:solidFill>
                  <a:srgbClr val="E2231A"/>
                </a:solidFill>
                <a:latin typeface="Roboto" pitchFamily="34" charset="0"/>
                <a:ea typeface="Roboto" pitchFamily="34" charset="-122"/>
                <a:cs typeface="Roboto" pitchFamily="34" charset="-120"/>
              </a:rPr>
              <a:t>Objetivo del ejercicio:  </a:t>
            </a:r>
            <a:pPr indent="0" marL="0">
              <a:buNone/>
            </a:pPr>
            <a:r>
              <a:rPr lang="en-US" sz="1300" dirty="0">
                <a:solidFill>
                  <a:srgbClr val="1A1A1A"/>
                </a:solidFill>
                <a:latin typeface="Roboto" pitchFamily="34" charset="0"/>
                <a:ea typeface="Roboto" pitchFamily="34" charset="-122"/>
                <a:cs typeface="Roboto" pitchFamily="34" charset="-120"/>
              </a:rPr>
              <a:t>Aplicar en un caso simple los conceptos de activo, mapa de activos y el flujo DNS→IP→TCP→TLS→HTTP vistos hoy.</a:t>
            </a:r>
            <a:endParaRPr lang="en-US" sz="1300" dirty="0"/>
          </a:p>
        </p:txBody>
      </p:sp>
      <p:sp>
        <p:nvSpPr>
          <p:cNvPr id="9" name="Shape 7"/>
          <p:cNvSpPr/>
          <p:nvPr/>
        </p:nvSpPr>
        <p:spPr>
          <a:xfrm>
            <a:off x="640080" y="2651760"/>
            <a:ext cx="384048" cy="384048"/>
          </a:xfrm>
          <a:prstGeom prst="ellipse">
            <a:avLst/>
          </a:prstGeom>
          <a:solidFill>
            <a:srgbClr val="E2231A"/>
          </a:solidFill>
          <a:ln/>
        </p:spPr>
      </p:sp>
      <p:sp>
        <p:nvSpPr>
          <p:cNvPr id="10" name="Text 8"/>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11" name="Text 9"/>
          <p:cNvSpPr/>
          <p:nvPr/>
        </p:nvSpPr>
        <p:spPr>
          <a:xfrm>
            <a:off x="1234440" y="2606040"/>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0-5 — Formen 4 parejas (grupo de 8 participantes) y reciban el caso controlado del instructor: un portal institucional de ejemplo con un dominio principal, un subdominio de correo y una API (no es un sitio externo real).</a:t>
            </a:r>
            <a:endParaRPr lang="en-US" sz="1300" dirty="0"/>
          </a:p>
        </p:txBody>
      </p:sp>
      <p:sp>
        <p:nvSpPr>
          <p:cNvPr id="12" name="Shape 10"/>
          <p:cNvSpPr/>
          <p:nvPr/>
        </p:nvSpPr>
        <p:spPr>
          <a:xfrm>
            <a:off x="640080" y="3182112"/>
            <a:ext cx="384048" cy="384048"/>
          </a:xfrm>
          <a:prstGeom prst="ellipse">
            <a:avLst/>
          </a:prstGeom>
          <a:solidFill>
            <a:srgbClr val="E2231A"/>
          </a:solidFill>
          <a:ln/>
        </p:spPr>
      </p:sp>
      <p:sp>
        <p:nvSpPr>
          <p:cNvPr id="13" name="Text 11"/>
          <p:cNvSpPr/>
          <p:nvPr/>
        </p:nvSpPr>
        <p:spPr>
          <a:xfrm>
            <a:off x="640080" y="3182112"/>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4" name="Text 12"/>
          <p:cNvSpPr/>
          <p:nvPr/>
        </p:nvSpPr>
        <p:spPr>
          <a:xfrm>
            <a:off x="1234440" y="3136392"/>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5-12 — Listen al menos 3 activos visibles del caso (ej. el dominio principal, el subdominio de correo, el endpoint de la API).</a:t>
            </a:r>
            <a:endParaRPr lang="en-US" sz="1300" dirty="0"/>
          </a:p>
        </p:txBody>
      </p:sp>
      <p:sp>
        <p:nvSpPr>
          <p:cNvPr id="15" name="Shape 13"/>
          <p:cNvSpPr/>
          <p:nvPr/>
        </p:nvSpPr>
        <p:spPr>
          <a:xfrm>
            <a:off x="640080" y="3712464"/>
            <a:ext cx="384048" cy="384048"/>
          </a:xfrm>
          <a:prstGeom prst="ellipse">
            <a:avLst/>
          </a:prstGeom>
          <a:solidFill>
            <a:srgbClr val="E2231A"/>
          </a:solidFill>
          <a:ln/>
        </p:spPr>
      </p:sp>
      <p:sp>
        <p:nvSpPr>
          <p:cNvPr id="16" name="Text 14"/>
          <p:cNvSpPr/>
          <p:nvPr/>
        </p:nvSpPr>
        <p:spPr>
          <a:xfrm>
            <a:off x="640080" y="3712464"/>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7" name="Text 15"/>
          <p:cNvSpPr/>
          <p:nvPr/>
        </p:nvSpPr>
        <p:spPr>
          <a:xfrm>
            <a:off x="1234440" y="3666744"/>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12-18 — Para cada activo listado, indiquen si es propio de la organización o podría ser operado por un tercero (nube/CDN), retomando el criterio de la diapositiva 16.</a:t>
            </a:r>
            <a:endParaRPr lang="en-US" sz="1300" dirty="0"/>
          </a:p>
        </p:txBody>
      </p:sp>
      <p:sp>
        <p:nvSpPr>
          <p:cNvPr id="18" name="Shape 16"/>
          <p:cNvSpPr/>
          <p:nvPr/>
        </p:nvSpPr>
        <p:spPr>
          <a:xfrm>
            <a:off x="640080" y="4242816"/>
            <a:ext cx="384048" cy="384048"/>
          </a:xfrm>
          <a:prstGeom prst="ellipse">
            <a:avLst/>
          </a:prstGeom>
          <a:solidFill>
            <a:srgbClr val="E2231A"/>
          </a:solidFill>
          <a:ln/>
        </p:spPr>
      </p:sp>
      <p:sp>
        <p:nvSpPr>
          <p:cNvPr id="19" name="Text 17"/>
          <p:cNvSpPr/>
          <p:nvPr/>
        </p:nvSpPr>
        <p:spPr>
          <a:xfrm>
            <a:off x="640080" y="4242816"/>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4</a:t>
            </a:r>
            <a:endParaRPr lang="en-US" sz="1400" dirty="0"/>
          </a:p>
        </p:txBody>
      </p:sp>
      <p:sp>
        <p:nvSpPr>
          <p:cNvPr id="20" name="Text 18"/>
          <p:cNvSpPr/>
          <p:nvPr/>
        </p:nvSpPr>
        <p:spPr>
          <a:xfrm>
            <a:off x="1234440" y="4197096"/>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18-27 — Dibujen el flujo DNS → IP → TCP → TLS → HTTP Request → HTTP Response aplicado al activo principal del caso.</a:t>
            </a:r>
            <a:endParaRPr lang="en-US" sz="1300" dirty="0"/>
          </a:p>
        </p:txBody>
      </p:sp>
      <p:sp>
        <p:nvSpPr>
          <p:cNvPr id="21" name="Shape 19"/>
          <p:cNvSpPr/>
          <p:nvPr/>
        </p:nvSpPr>
        <p:spPr>
          <a:xfrm>
            <a:off x="640080" y="4773168"/>
            <a:ext cx="384048" cy="384048"/>
          </a:xfrm>
          <a:prstGeom prst="ellipse">
            <a:avLst/>
          </a:prstGeom>
          <a:solidFill>
            <a:srgbClr val="E2231A"/>
          </a:solidFill>
          <a:ln/>
        </p:spPr>
      </p:sp>
      <p:sp>
        <p:nvSpPr>
          <p:cNvPr id="22" name="Text 20"/>
          <p:cNvSpPr/>
          <p:nvPr/>
        </p:nvSpPr>
        <p:spPr>
          <a:xfrm>
            <a:off x="640080" y="4773168"/>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5</a:t>
            </a:r>
            <a:endParaRPr lang="en-US" sz="1400" dirty="0"/>
          </a:p>
        </p:txBody>
      </p:sp>
      <p:sp>
        <p:nvSpPr>
          <p:cNvPr id="23" name="Text 21"/>
          <p:cNvSpPr/>
          <p:nvPr/>
        </p:nvSpPr>
        <p:spPr>
          <a:xfrm>
            <a:off x="1234440" y="4727448"/>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27-30 — Anoten en la bitácora una duda o punto que no les quedó claro, para la socialización.</a:t>
            </a:r>
            <a:endParaRPr lang="en-US" sz="1300" dirty="0"/>
          </a:p>
        </p:txBody>
      </p:sp>
      <p:sp>
        <p:nvSpPr>
          <p:cNvPr id="24" name="Shape 22"/>
          <p:cNvSpPr/>
          <p:nvPr/>
        </p:nvSpPr>
        <p:spPr>
          <a:xfrm>
            <a:off x="548640" y="5623560"/>
            <a:ext cx="7680960" cy="685800"/>
          </a:xfrm>
          <a:prstGeom prst="roundRect">
            <a:avLst>
              <a:gd name="adj" fmla="val 10667"/>
            </a:avLst>
          </a:prstGeom>
          <a:solidFill>
            <a:srgbClr val="F7F5F4"/>
          </a:solidFill>
          <a:ln w="9525">
            <a:solidFill>
              <a:srgbClr val="E7E1DF"/>
            </a:solidFill>
            <a:prstDash val="solid"/>
          </a:ln>
        </p:spPr>
      </p:sp>
      <p:sp>
        <p:nvSpPr>
          <p:cNvPr id="25" name="Shape 23"/>
          <p:cNvSpPr/>
          <p:nvPr/>
        </p:nvSpPr>
        <p:spPr>
          <a:xfrm>
            <a:off x="548640" y="5623560"/>
            <a:ext cx="7680960" cy="64008"/>
          </a:xfrm>
          <a:prstGeom prst="rect">
            <a:avLst/>
          </a:prstGeom>
          <a:solidFill>
            <a:srgbClr val="E2231A"/>
          </a:solidFill>
          <a:ln/>
        </p:spPr>
      </p:sp>
      <p:sp>
        <p:nvSpPr>
          <p:cNvPr id="26" name="Text 24"/>
          <p:cNvSpPr/>
          <p:nvPr/>
        </p:nvSpPr>
        <p:spPr>
          <a:xfrm>
            <a:off x="777240" y="5623560"/>
            <a:ext cx="7223760" cy="685800"/>
          </a:xfrm>
          <a:prstGeom prst="rect">
            <a:avLst/>
          </a:prstGeom>
          <a:noFill/>
          <a:ln/>
        </p:spPr>
        <p:txBody>
          <a:bodyPr wrap="square" rtlCol="0" anchor="ctr"/>
          <a:lstStyle/>
          <a:p>
            <a:pPr indent="0" marL="0">
              <a:buNone/>
            </a:pPr>
            <a:r>
              <a:rPr lang="en-US" sz="1200" b="1" dirty="0">
                <a:solidFill>
                  <a:srgbClr val="E2231A"/>
                </a:solidFill>
                <a:latin typeface="Roboto" pitchFamily="34" charset="0"/>
                <a:ea typeface="Roboto" pitchFamily="34" charset="-122"/>
                <a:cs typeface="Roboto" pitchFamily="34" charset="-120"/>
              </a:rPr>
              <a:t>Entregable:  </a:t>
            </a:r>
            <a:pPr indent="0" marL="0">
              <a:buNone/>
            </a:pPr>
            <a:r>
              <a:rPr lang="en-US" sz="1200" dirty="0">
                <a:solidFill>
                  <a:srgbClr val="1A1A1A"/>
                </a:solidFill>
                <a:latin typeface="Roboto" pitchFamily="34" charset="0"/>
                <a:ea typeface="Roboto" pitchFamily="34" charset="-122"/>
                <a:cs typeface="Roboto" pitchFamily="34" charset="-120"/>
              </a:rPr>
              <a:t>Mapa de activos (mínimo 3, cada uno clasificado como propio o de tercero) + diagrama de flujo aplicado al caso, en la bitácora.</a:t>
            </a:r>
            <a:endParaRPr lang="en-US" sz="1200" dirty="0"/>
          </a:p>
        </p:txBody>
      </p:sp>
      <p:sp>
        <p:nvSpPr>
          <p:cNvPr id="27" name="Shape 25"/>
          <p:cNvSpPr/>
          <p:nvPr/>
        </p:nvSpPr>
        <p:spPr>
          <a:xfrm>
            <a:off x="8412480" y="5623560"/>
            <a:ext cx="3200400" cy="685800"/>
          </a:xfrm>
          <a:prstGeom prst="roundRect">
            <a:avLst>
              <a:gd name="adj" fmla="val 10667"/>
            </a:avLst>
          </a:prstGeom>
          <a:solidFill>
            <a:srgbClr val="E2231A"/>
          </a:solidFill>
          <a:ln/>
        </p:spPr>
      </p:sp>
      <p:sp>
        <p:nvSpPr>
          <p:cNvPr id="28" name="Text 26"/>
          <p:cNvSpPr/>
          <p:nvPr/>
        </p:nvSpPr>
        <p:spPr>
          <a:xfrm>
            <a:off x="8412480" y="5623560"/>
            <a:ext cx="3200400" cy="685800"/>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30 min</a:t>
            </a:r>
            <a:endParaRPr lang="en-US" sz="1400" dirty="0"/>
          </a:p>
        </p:txBody>
      </p:sp>
      <p:sp>
        <p:nvSpPr>
          <p:cNvPr id="29" name="Shape 27"/>
          <p:cNvSpPr/>
          <p:nvPr/>
        </p:nvSpPr>
        <p:spPr>
          <a:xfrm rot="2700000">
            <a:off x="502920" y="6501384"/>
            <a:ext cx="82296" cy="82296"/>
          </a:xfrm>
          <a:prstGeom prst="rect">
            <a:avLst/>
          </a:prstGeom>
          <a:solidFill>
            <a:srgbClr val="E2231A"/>
          </a:solidFill>
          <a:ln/>
        </p:spPr>
      </p:sp>
      <p:sp>
        <p:nvSpPr>
          <p:cNvPr id="30" name="Text 28"/>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APLICACIÓN · ACTIVIDAD PARTICIPATIVA</a:t>
            </a:r>
            <a:endParaRPr lang="en-US" sz="800" dirty="0"/>
          </a:p>
        </p:txBody>
      </p:sp>
      <p:sp>
        <p:nvSpPr>
          <p:cNvPr id="31" name="Text 29"/>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37</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E2231A"/>
        </a:solidFill>
      </p:bgPr>
    </p:bg>
    <p:spTree>
      <p:nvGrpSpPr>
        <p:cNvPr id="1" name=""/>
        <p:cNvGrpSpPr/>
        <p:nvPr/>
      </p:nvGrpSpPr>
      <p:grpSpPr>
        <a:xfrm>
          <a:off x="0" y="0"/>
          <a:ext cx="0" cy="0"/>
          <a:chOff x="0" y="0"/>
          <a:chExt cx="0" cy="0"/>
        </a:xfrm>
      </p:grpSpPr>
      <p:sp>
        <p:nvSpPr>
          <p:cNvPr id="2" name="Shape 0"/>
          <p:cNvSpPr/>
          <p:nvPr/>
        </p:nvSpPr>
        <p:spPr>
          <a:xfrm>
            <a:off x="9692640" y="3840480"/>
            <a:ext cx="4937760" cy="4937760"/>
          </a:xfrm>
          <a:prstGeom prst="ellipse">
            <a:avLst/>
          </a:prstGeom>
          <a:solidFill>
            <a:srgbClr val="A81810">
              <a:alpha val="70000"/>
            </a:srgbClr>
          </a:solidFill>
          <a:ln/>
        </p:spPr>
      </p:sp>
      <p:sp>
        <p:nvSpPr>
          <p:cNvPr id="3" name="Shape 1"/>
          <p:cNvSpPr/>
          <p:nvPr/>
        </p:nvSpPr>
        <p:spPr>
          <a:xfrm>
            <a:off x="-1097280" y="-1097280"/>
            <a:ext cx="2377440" cy="2377440"/>
          </a:xfrm>
          <a:prstGeom prst="ellipse">
            <a:avLst/>
          </a:prstGeom>
          <a:solidFill>
            <a:srgbClr val="A81810">
              <a:alpha val="70000"/>
            </a:srgbClr>
          </a:solidFill>
          <a:ln/>
        </p:spPr>
      </p:sp>
      <p:sp>
        <p:nvSpPr>
          <p:cNvPr id="4" name="Text 2"/>
          <p:cNvSpPr/>
          <p:nvPr/>
        </p:nvSpPr>
        <p:spPr>
          <a:xfrm>
            <a:off x="914400" y="2606040"/>
            <a:ext cx="9144000" cy="365760"/>
          </a:xfrm>
          <a:prstGeom prst="rect">
            <a:avLst/>
          </a:prstGeom>
          <a:noFill/>
          <a:ln/>
        </p:spPr>
        <p:txBody>
          <a:bodyPr wrap="square" rtlCol="0" anchor="ctr"/>
          <a:lstStyle/>
          <a:p>
            <a:pPr indent="0" marL="0">
              <a:buNone/>
            </a:pPr>
            <a:r>
              <a:rPr lang="en-US" sz="1300" b="1" spc="150" kern="0" dirty="0">
                <a:solidFill>
                  <a:srgbClr val="FEB126"/>
                </a:solidFill>
                <a:latin typeface="Roboto" pitchFamily="34" charset="0"/>
                <a:ea typeface="Roboto" pitchFamily="34" charset="-122"/>
                <a:cs typeface="Roboto" pitchFamily="34" charset="-120"/>
              </a:rPr>
              <a:t>TRABAJO EN GRUPO</a:t>
            </a:r>
            <a:endParaRPr lang="en-US" sz="1300" dirty="0"/>
          </a:p>
        </p:txBody>
      </p:sp>
      <p:sp>
        <p:nvSpPr>
          <p:cNvPr id="5" name="Text 3"/>
          <p:cNvSpPr/>
          <p:nvPr/>
        </p:nvSpPr>
        <p:spPr>
          <a:xfrm>
            <a:off x="914400" y="2971800"/>
            <a:ext cx="9875520" cy="1188720"/>
          </a:xfrm>
          <a:prstGeom prst="rect">
            <a:avLst/>
          </a:prstGeom>
          <a:noFill/>
          <a:ln/>
        </p:spPr>
        <p:txBody>
          <a:bodyPr wrap="square" rtlCol="0" anchor="ctr"/>
          <a:lstStyle/>
          <a:p>
            <a:pPr indent="0" marL="0">
              <a:buNone/>
            </a:pPr>
            <a:r>
              <a:rPr lang="en-US" sz="3400" b="1" dirty="0">
                <a:solidFill>
                  <a:srgbClr val="FFFFFF"/>
                </a:solidFill>
                <a:latin typeface="Roboto" pitchFamily="34" charset="0"/>
                <a:ea typeface="Roboto" pitchFamily="34" charset="-122"/>
                <a:cs typeface="Roboto" pitchFamily="34" charset="-120"/>
              </a:rPr>
              <a:t>30 minutos</a:t>
            </a:r>
            <a:endParaRPr lang="en-US" sz="3400" dirty="0"/>
          </a:p>
        </p:txBody>
      </p:sp>
      <p:sp>
        <p:nvSpPr>
          <p:cNvPr id="6" name="Text 4"/>
          <p:cNvSpPr/>
          <p:nvPr/>
        </p:nvSpPr>
        <p:spPr>
          <a:xfrm>
            <a:off x="914400" y="4069080"/>
            <a:ext cx="8961120" cy="640080"/>
          </a:xfrm>
          <a:prstGeom prst="rect">
            <a:avLst/>
          </a:prstGeom>
          <a:noFill/>
          <a:ln/>
        </p:spPr>
        <p:txBody>
          <a:bodyPr wrap="square" rtlCol="0" anchor="ctr"/>
          <a:lstStyle/>
          <a:p>
            <a:pPr indent="0" marL="0">
              <a:buNone/>
            </a:pPr>
            <a:r>
              <a:rPr lang="en-US" sz="1500" dirty="0">
                <a:solidFill>
                  <a:srgbClr val="FBDAD8"/>
                </a:solidFill>
                <a:latin typeface="Roboto" pitchFamily="34" charset="0"/>
                <a:ea typeface="Roboto" pitchFamily="34" charset="-122"/>
                <a:cs typeface="Roboto" pitchFamily="34" charset="-120"/>
              </a:rPr>
              <a:t>El instructor circula por el aula resolviendo dudas puntuales, sin adelantar la respuesta completa.</a:t>
            </a:r>
            <a:endParaRPr lang="en-US" sz="1500" dirty="0"/>
          </a:p>
        </p:txBody>
      </p:sp>
      <p:sp>
        <p:nvSpPr>
          <p:cNvPr id="7" name="Shape 5"/>
          <p:cNvSpPr/>
          <p:nvPr/>
        </p:nvSpPr>
        <p:spPr>
          <a:xfrm rot="2700000">
            <a:off x="502920" y="6501384"/>
            <a:ext cx="82296" cy="82296"/>
          </a:xfrm>
          <a:prstGeom prst="rect">
            <a:avLst/>
          </a:prstGeom>
          <a:solidFill>
            <a:srgbClr val="FFFFFF"/>
          </a:solidFill>
          <a:ln/>
        </p:spPr>
      </p:sp>
      <p:sp>
        <p:nvSpPr>
          <p:cNvPr id="8" name="Text 6"/>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F4D9D7"/>
                </a:solidFill>
                <a:latin typeface="Roboto" pitchFamily="34" charset="0"/>
                <a:ea typeface="Roboto" pitchFamily="34" charset="-122"/>
                <a:cs typeface="Roboto" pitchFamily="34" charset="-120"/>
              </a:rPr>
              <a:t>BACCI · CAPACITACIÓN EN CIBERDEFENSA Y CIBERSEGURIDAD · 40 HORAS</a:t>
            </a:r>
            <a:endParaRPr lang="en-US" sz="800" dirty="0"/>
          </a:p>
        </p:txBody>
      </p:sp>
      <p:sp>
        <p:nvSpPr>
          <p:cNvPr id="9" name="Text 7"/>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FFFFFF"/>
                </a:solidFill>
                <a:latin typeface="Roboto" pitchFamily="34" charset="0"/>
                <a:ea typeface="Roboto" pitchFamily="34" charset="-122"/>
                <a:cs typeface="Roboto" pitchFamily="34" charset="-120"/>
              </a:rPr>
              <a:t>38</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APLICACIÓN · SOCIALIZACIÓN</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Compartamos resultados</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2-3 parejas presentan su mapa de activos</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2-3 minutos cada una, sin necesidad de ser exhaustivos.</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El grupo comenta similitudes y diferencias</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¿Todos identificaron los mismos activos? ¿Por qué sí o no?</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El instructor cierra con la respuesta de referencia</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Conectando con el flujo DNS→IP→TCP→TLS→HTTP.</a:t>
            </a:r>
            <a:endParaRPr lang="en-US" sz="1250" dirty="0"/>
          </a:p>
        </p:txBody>
      </p:sp>
      <p:sp>
        <p:nvSpPr>
          <p:cNvPr id="18" name="Shape 16"/>
          <p:cNvSpPr/>
          <p:nvPr/>
        </p:nvSpPr>
        <p:spPr>
          <a:xfrm rot="2700000">
            <a:off x="502920" y="6501384"/>
            <a:ext cx="82296" cy="82296"/>
          </a:xfrm>
          <a:prstGeom prst="rect">
            <a:avLst/>
          </a:prstGeom>
          <a:solidFill>
            <a:srgbClr val="E2231A"/>
          </a:solidFill>
          <a:ln/>
        </p:spPr>
      </p:sp>
      <p:sp>
        <p:nvSpPr>
          <p:cNvPr id="19" name="Text 1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APLICACIÓN · SOCIALIZACIÓN</a:t>
            </a:r>
            <a:endParaRPr lang="en-US" sz="800" dirty="0"/>
          </a:p>
        </p:txBody>
      </p:sp>
      <p:sp>
        <p:nvSpPr>
          <p:cNvPr id="20" name="Text 1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39</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CIERRE · CONTROL DE SALIDA</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Antes de irnos: 3 aprendizajes + 1 duda</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¿Cuáles son los 3 aprendizajes clave que se llevan de hoy?</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Respuesta individual breve, oral o por formulario.</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¿Qué duda les queda pendiente?</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Se prioriza al inicio de la Sesión 2 si es recurrente.</a:t>
            </a:r>
            <a:endParaRPr lang="en-US" sz="1250" dirty="0"/>
          </a:p>
        </p:txBody>
      </p:sp>
      <p:sp>
        <p:nvSpPr>
          <p:cNvPr id="14" name="Shape 12"/>
          <p:cNvSpPr/>
          <p:nvPr/>
        </p:nvSpPr>
        <p:spPr>
          <a:xfrm>
            <a:off x="548640" y="5623560"/>
            <a:ext cx="11064240" cy="685800"/>
          </a:xfrm>
          <a:prstGeom prst="roundRect">
            <a:avLst>
              <a:gd name="adj" fmla="val 10667"/>
            </a:avLst>
          </a:prstGeom>
          <a:solidFill>
            <a:srgbClr val="FCEBEA"/>
          </a:solidFill>
          <a:ln/>
        </p:spPr>
      </p:sp>
      <p:sp>
        <p:nvSpPr>
          <p:cNvPr id="15" name="Shape 13"/>
          <p:cNvSpPr/>
          <p:nvPr/>
        </p:nvSpPr>
        <p:spPr>
          <a:xfrm>
            <a:off x="548640" y="5623560"/>
            <a:ext cx="54864" cy="685800"/>
          </a:xfrm>
          <a:prstGeom prst="rect">
            <a:avLst/>
          </a:prstGeom>
          <a:solidFill>
            <a:srgbClr val="E2231A"/>
          </a:solidFill>
          <a:ln/>
        </p:spPr>
      </p:sp>
      <p:sp>
        <p:nvSpPr>
          <p:cNvPr id="16" name="Text 14"/>
          <p:cNvSpPr/>
          <p:nvPr/>
        </p:nvSpPr>
        <p:spPr>
          <a:xfrm>
            <a:off x="822960" y="5623560"/>
            <a:ext cx="10607040" cy="685800"/>
          </a:xfrm>
          <a:prstGeom prst="rect">
            <a:avLst/>
          </a:prstGeom>
          <a:noFill/>
          <a:ln/>
        </p:spPr>
        <p:txBody>
          <a:bodyPr wrap="square" rtlCol="0" anchor="ctr"/>
          <a:lstStyle/>
          <a:p>
            <a:pPr indent="0" marL="0">
              <a:buNone/>
            </a:pPr>
            <a:r>
              <a:rPr lang="en-US" sz="1200" i="1" dirty="0">
                <a:solidFill>
                  <a:srgbClr val="7A0F0B"/>
                </a:solidFill>
                <a:latin typeface="Roboto" pitchFamily="34" charset="0"/>
                <a:ea typeface="Roboto" pitchFamily="34" charset="-122"/>
                <a:cs typeface="Roboto" pitchFamily="34" charset="-120"/>
              </a:rPr>
              <a:t>Control de salida previsto explícitamente en el documento fuente (Tabla 4): verificar tres aprendizajes clave y una duda pendiente, sin uso punitivo.</a:t>
            </a:r>
            <a:endParaRPr lang="en-US" sz="1200" dirty="0"/>
          </a:p>
        </p:txBody>
      </p:sp>
      <p:sp>
        <p:nvSpPr>
          <p:cNvPr id="17" name="Shape 15"/>
          <p:cNvSpPr/>
          <p:nvPr/>
        </p:nvSpPr>
        <p:spPr>
          <a:xfrm rot="2700000">
            <a:off x="502920" y="6501384"/>
            <a:ext cx="82296" cy="82296"/>
          </a:xfrm>
          <a:prstGeom prst="rect">
            <a:avLst/>
          </a:prstGeom>
          <a:solidFill>
            <a:srgbClr val="E2231A"/>
          </a:solidFill>
          <a:ln/>
        </p:spPr>
      </p:sp>
      <p:sp>
        <p:nvSpPr>
          <p:cNvPr id="18" name="Text 16"/>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CIERRE · CONTROL DE SALIDA</a:t>
            </a:r>
            <a:endParaRPr lang="en-US" sz="800" dirty="0"/>
          </a:p>
        </p:txBody>
      </p:sp>
      <p:sp>
        <p:nvSpPr>
          <p:cNvPr id="19" name="Text 17"/>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40</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148840"/>
          </a:xfrm>
          <a:prstGeom prst="rect">
            <a:avLst/>
          </a:prstGeom>
          <a:solidFill>
            <a:srgbClr val="E2231A"/>
          </a:solidFill>
          <a:ln/>
        </p:spPr>
      </p:sp>
      <p:sp>
        <p:nvSpPr>
          <p:cNvPr id="3" name="Shape 1"/>
          <p:cNvSpPr/>
          <p:nvPr/>
        </p:nvSpPr>
        <p:spPr>
          <a:xfrm>
            <a:off x="10607040" y="-1005840"/>
            <a:ext cx="2926080" cy="2926080"/>
          </a:xfrm>
          <a:prstGeom prst="ellipse">
            <a:avLst/>
          </a:prstGeom>
          <a:solidFill>
            <a:srgbClr val="A81810">
              <a:alpha val="70000"/>
            </a:srgbClr>
          </a:solidFill>
          <a:ln/>
        </p:spPr>
      </p:sp>
      <p:sp>
        <p:nvSpPr>
          <p:cNvPr id="4" name="Text 2"/>
          <p:cNvSpPr/>
          <p:nvPr/>
        </p:nvSpPr>
        <p:spPr>
          <a:xfrm>
            <a:off x="822960" y="502920"/>
            <a:ext cx="10058400" cy="365760"/>
          </a:xfrm>
          <a:prstGeom prst="rect">
            <a:avLst/>
          </a:prstGeom>
          <a:noFill/>
          <a:ln/>
        </p:spPr>
        <p:txBody>
          <a:bodyPr wrap="square" rtlCol="0" anchor="ctr"/>
          <a:lstStyle/>
          <a:p>
            <a:pPr indent="0" marL="0">
              <a:buNone/>
            </a:pPr>
            <a:r>
              <a:rPr lang="en-US" sz="1300" b="1" spc="150" kern="0" dirty="0">
                <a:solidFill>
                  <a:srgbClr val="FEB126"/>
                </a:solidFill>
                <a:latin typeface="Roboto" pitchFamily="34" charset="0"/>
                <a:ea typeface="Roboto" pitchFamily="34" charset="-122"/>
                <a:cs typeface="Roboto" pitchFamily="34" charset="-120"/>
              </a:rPr>
              <a:t>CIERRE DE LA SESIÓN 1</a:t>
            </a:r>
            <a:endParaRPr lang="en-US" sz="1300" dirty="0"/>
          </a:p>
        </p:txBody>
      </p:sp>
      <p:sp>
        <p:nvSpPr>
          <p:cNvPr id="5" name="Text 3"/>
          <p:cNvSpPr/>
          <p:nvPr/>
        </p:nvSpPr>
        <p:spPr>
          <a:xfrm>
            <a:off x="822960" y="868680"/>
            <a:ext cx="10241280" cy="1097280"/>
          </a:xfrm>
          <a:prstGeom prst="rect">
            <a:avLst/>
          </a:prstGeom>
          <a:noFill/>
          <a:ln/>
        </p:spPr>
        <p:txBody>
          <a:bodyPr wrap="square" rtlCol="0" anchor="ctr"/>
          <a:lstStyle/>
          <a:p>
            <a:pPr indent="0" marL="0">
              <a:buNone/>
            </a:pPr>
            <a:r>
              <a:rPr lang="en-US" sz="2700" b="1" dirty="0">
                <a:solidFill>
                  <a:srgbClr val="FFFFFF"/>
                </a:solidFill>
                <a:latin typeface="Roboto" pitchFamily="34" charset="0"/>
                <a:ea typeface="Roboto" pitchFamily="34" charset="-122"/>
                <a:cs typeface="Roboto" pitchFamily="34" charset="-120"/>
              </a:rPr>
              <a:t>Después del almuerzo: DNS, HTTP/HTTPS y TLS (Sesión 2)</a:t>
            </a:r>
            <a:endParaRPr lang="en-US" sz="2700" dirty="0"/>
          </a:p>
        </p:txBody>
      </p:sp>
      <p:sp>
        <p:nvSpPr>
          <p:cNvPr id="6" name="Shape 4"/>
          <p:cNvSpPr/>
          <p:nvPr/>
        </p:nvSpPr>
        <p:spPr>
          <a:xfrm>
            <a:off x="822960" y="2514600"/>
            <a:ext cx="10515600" cy="566928"/>
          </a:xfrm>
          <a:prstGeom prst="roundRect">
            <a:avLst>
              <a:gd name="adj" fmla="val 9677"/>
            </a:avLst>
          </a:prstGeom>
          <a:solidFill>
            <a:srgbClr val="F7F5F4"/>
          </a:solidFill>
          <a:ln/>
        </p:spPr>
      </p:sp>
      <p:sp>
        <p:nvSpPr>
          <p:cNvPr id="7" name="Shape 5"/>
          <p:cNvSpPr/>
          <p:nvPr/>
        </p:nvSpPr>
        <p:spPr>
          <a:xfrm>
            <a:off x="822960" y="2514600"/>
            <a:ext cx="54864" cy="566928"/>
          </a:xfrm>
          <a:prstGeom prst="rect">
            <a:avLst/>
          </a:prstGeom>
          <a:solidFill>
            <a:srgbClr val="E2231A"/>
          </a:solidFill>
          <a:ln/>
        </p:spPr>
      </p:sp>
      <p:sp>
        <p:nvSpPr>
          <p:cNvPr id="8" name="Text 6"/>
          <p:cNvSpPr/>
          <p:nvPr/>
        </p:nvSpPr>
        <p:spPr>
          <a:xfrm>
            <a:off x="1097280" y="2514600"/>
            <a:ext cx="10058400" cy="566928"/>
          </a:xfrm>
          <a:prstGeom prst="rect">
            <a:avLst/>
          </a:prstGeom>
          <a:noFill/>
          <a:ln/>
        </p:spPr>
        <p:txBody>
          <a:bodyPr wrap="square" rtlCol="0" anchor="ctr"/>
          <a:lstStyle/>
          <a:p>
            <a:pPr indent="0" marL="0">
              <a:buNone/>
            </a:pPr>
            <a:r>
              <a:rPr lang="en-US" sz="1350" dirty="0">
                <a:solidFill>
                  <a:srgbClr val="1A1A1A"/>
                </a:solidFill>
                <a:latin typeface="Roboto" pitchFamily="34" charset="0"/>
                <a:ea typeface="Roboto" pitchFamily="34" charset="-122"/>
                <a:cs typeface="Roboto" pitchFamily="34" charset="-120"/>
              </a:rPr>
              <a:t>Jerarquía DNS, tipos de registro y resolución de nombres</a:t>
            </a:r>
            <a:endParaRPr lang="en-US" sz="1350" dirty="0"/>
          </a:p>
        </p:txBody>
      </p:sp>
      <p:sp>
        <p:nvSpPr>
          <p:cNvPr id="9" name="Shape 7"/>
          <p:cNvSpPr/>
          <p:nvPr/>
        </p:nvSpPr>
        <p:spPr>
          <a:xfrm>
            <a:off x="822960" y="3191256"/>
            <a:ext cx="10515600" cy="566928"/>
          </a:xfrm>
          <a:prstGeom prst="roundRect">
            <a:avLst>
              <a:gd name="adj" fmla="val 9677"/>
            </a:avLst>
          </a:prstGeom>
          <a:solidFill>
            <a:srgbClr val="F7F5F4"/>
          </a:solidFill>
          <a:ln/>
        </p:spPr>
      </p:sp>
      <p:sp>
        <p:nvSpPr>
          <p:cNvPr id="10" name="Shape 8"/>
          <p:cNvSpPr/>
          <p:nvPr/>
        </p:nvSpPr>
        <p:spPr>
          <a:xfrm>
            <a:off x="822960" y="3191256"/>
            <a:ext cx="54864" cy="566928"/>
          </a:xfrm>
          <a:prstGeom prst="rect">
            <a:avLst/>
          </a:prstGeom>
          <a:solidFill>
            <a:srgbClr val="E2231A"/>
          </a:solidFill>
          <a:ln/>
        </p:spPr>
      </p:sp>
      <p:sp>
        <p:nvSpPr>
          <p:cNvPr id="11" name="Text 9"/>
          <p:cNvSpPr/>
          <p:nvPr/>
        </p:nvSpPr>
        <p:spPr>
          <a:xfrm>
            <a:off x="1097280" y="3191256"/>
            <a:ext cx="10058400" cy="566928"/>
          </a:xfrm>
          <a:prstGeom prst="rect">
            <a:avLst/>
          </a:prstGeom>
          <a:noFill/>
          <a:ln/>
        </p:spPr>
        <p:txBody>
          <a:bodyPr wrap="square" rtlCol="0" anchor="ctr"/>
          <a:lstStyle/>
          <a:p>
            <a:pPr indent="0" marL="0">
              <a:buNone/>
            </a:pPr>
            <a:r>
              <a:rPr lang="en-US" sz="1350" dirty="0">
                <a:solidFill>
                  <a:srgbClr val="1A1A1A"/>
                </a:solidFill>
                <a:latin typeface="Roboto" pitchFamily="34" charset="0"/>
                <a:ea typeface="Roboto" pitchFamily="34" charset="-122"/>
                <a:cs typeface="Roboto" pitchFamily="34" charset="-120"/>
              </a:rPr>
              <a:t>Estructura completa de una solicitud y respuesta HTTP</a:t>
            </a:r>
            <a:endParaRPr lang="en-US" sz="1350" dirty="0"/>
          </a:p>
        </p:txBody>
      </p:sp>
      <p:sp>
        <p:nvSpPr>
          <p:cNvPr id="12" name="Shape 10"/>
          <p:cNvSpPr/>
          <p:nvPr/>
        </p:nvSpPr>
        <p:spPr>
          <a:xfrm>
            <a:off x="822960" y="3867912"/>
            <a:ext cx="10515600" cy="566928"/>
          </a:xfrm>
          <a:prstGeom prst="roundRect">
            <a:avLst>
              <a:gd name="adj" fmla="val 9677"/>
            </a:avLst>
          </a:prstGeom>
          <a:solidFill>
            <a:srgbClr val="F7F5F4"/>
          </a:solidFill>
          <a:ln/>
        </p:spPr>
      </p:sp>
      <p:sp>
        <p:nvSpPr>
          <p:cNvPr id="13" name="Shape 11"/>
          <p:cNvSpPr/>
          <p:nvPr/>
        </p:nvSpPr>
        <p:spPr>
          <a:xfrm>
            <a:off x="822960" y="3867912"/>
            <a:ext cx="54864" cy="566928"/>
          </a:xfrm>
          <a:prstGeom prst="rect">
            <a:avLst/>
          </a:prstGeom>
          <a:solidFill>
            <a:srgbClr val="E2231A"/>
          </a:solidFill>
          <a:ln/>
        </p:spPr>
      </p:sp>
      <p:sp>
        <p:nvSpPr>
          <p:cNvPr id="14" name="Text 12"/>
          <p:cNvSpPr/>
          <p:nvPr/>
        </p:nvSpPr>
        <p:spPr>
          <a:xfrm>
            <a:off x="1097280" y="3867912"/>
            <a:ext cx="10058400" cy="566928"/>
          </a:xfrm>
          <a:prstGeom prst="rect">
            <a:avLst/>
          </a:prstGeom>
          <a:noFill/>
          <a:ln/>
        </p:spPr>
        <p:txBody>
          <a:bodyPr wrap="square" rtlCol="0" anchor="ctr"/>
          <a:lstStyle/>
          <a:p>
            <a:pPr indent="0" marL="0">
              <a:buNone/>
            </a:pPr>
            <a:r>
              <a:rPr lang="en-US" sz="1350" dirty="0">
                <a:solidFill>
                  <a:srgbClr val="1A1A1A"/>
                </a:solidFill>
                <a:latin typeface="Roboto" pitchFamily="34" charset="0"/>
                <a:ea typeface="Roboto" pitchFamily="34" charset="-122"/>
                <a:cs typeface="Roboto" pitchFamily="34" charset="-120"/>
              </a:rPr>
              <a:t>TLS, certificados digitales y por qué el navegador confía (o no) en un sitio</a:t>
            </a:r>
            <a:endParaRPr lang="en-US" sz="1350" dirty="0"/>
          </a:p>
        </p:txBody>
      </p:sp>
      <p:sp>
        <p:nvSpPr>
          <p:cNvPr id="15" name="Shape 13"/>
          <p:cNvSpPr/>
          <p:nvPr/>
        </p:nvSpPr>
        <p:spPr>
          <a:xfrm>
            <a:off x="822960" y="4544568"/>
            <a:ext cx="10515600" cy="566928"/>
          </a:xfrm>
          <a:prstGeom prst="roundRect">
            <a:avLst>
              <a:gd name="adj" fmla="val 9677"/>
            </a:avLst>
          </a:prstGeom>
          <a:solidFill>
            <a:srgbClr val="F7F5F4"/>
          </a:solidFill>
          <a:ln/>
        </p:spPr>
      </p:sp>
      <p:sp>
        <p:nvSpPr>
          <p:cNvPr id="16" name="Shape 14"/>
          <p:cNvSpPr/>
          <p:nvPr/>
        </p:nvSpPr>
        <p:spPr>
          <a:xfrm>
            <a:off x="822960" y="4544568"/>
            <a:ext cx="54864" cy="566928"/>
          </a:xfrm>
          <a:prstGeom prst="rect">
            <a:avLst/>
          </a:prstGeom>
          <a:solidFill>
            <a:srgbClr val="E2231A"/>
          </a:solidFill>
          <a:ln/>
        </p:spPr>
      </p:sp>
      <p:sp>
        <p:nvSpPr>
          <p:cNvPr id="17" name="Text 15"/>
          <p:cNvSpPr/>
          <p:nvPr/>
        </p:nvSpPr>
        <p:spPr>
          <a:xfrm>
            <a:off x="1097280" y="4544568"/>
            <a:ext cx="10058400" cy="566928"/>
          </a:xfrm>
          <a:prstGeom prst="rect">
            <a:avLst/>
          </a:prstGeom>
          <a:noFill/>
          <a:ln/>
        </p:spPr>
        <p:txBody>
          <a:bodyPr wrap="square" rtlCol="0" anchor="ctr"/>
          <a:lstStyle/>
          <a:p>
            <a:pPr indent="0" marL="0">
              <a:buNone/>
            </a:pPr>
            <a:r>
              <a:rPr lang="en-US" sz="1350" dirty="0">
                <a:solidFill>
                  <a:srgbClr val="1A1A1A"/>
                </a:solidFill>
                <a:latin typeface="Roboto" pitchFamily="34" charset="0"/>
                <a:ea typeface="Roboto" pitchFamily="34" charset="-122"/>
                <a:cs typeface="Roboto" pitchFamily="34" charset="-120"/>
              </a:rPr>
              <a:t>Laboratorio 1: lectura de flujo web completo, aplicando lo visto hoy — y el ambiente ya quedó verificado con el checklist LAB-READY</a:t>
            </a:r>
            <a:endParaRPr lang="en-US" sz="1350" dirty="0"/>
          </a:p>
        </p:txBody>
      </p:sp>
      <p:sp>
        <p:nvSpPr>
          <p:cNvPr id="18" name="Text 16"/>
          <p:cNvSpPr/>
          <p:nvPr/>
        </p:nvSpPr>
        <p:spPr>
          <a:xfrm>
            <a:off x="822960" y="5358384"/>
            <a:ext cx="10332720" cy="548640"/>
          </a:xfrm>
          <a:prstGeom prst="rect">
            <a:avLst/>
          </a:prstGeom>
          <a:noFill/>
          <a:ln/>
        </p:spPr>
        <p:txBody>
          <a:bodyPr wrap="square" rtlCol="0" anchor="ctr"/>
          <a:lstStyle/>
          <a:p>
            <a:pPr indent="0" marL="0">
              <a:buNone/>
            </a:pPr>
            <a:r>
              <a:rPr lang="en-US" sz="1400" i="1" dirty="0">
                <a:solidFill>
                  <a:srgbClr val="E2231A"/>
                </a:solidFill>
                <a:latin typeface="Roboto" pitchFamily="34" charset="0"/>
                <a:ea typeface="Roboto" pitchFamily="34" charset="-122"/>
                <a:cs typeface="Roboto" pitchFamily="34" charset="-120"/>
              </a:rPr>
              <a:t>Almuerzo — la Sesión 2 retoma después, el mismo Día 1 (el horario exacto depende de cuánto se haya extendido la mañana).</a:t>
            </a:r>
            <a:endParaRPr lang="en-US" sz="1400" dirty="0"/>
          </a:p>
        </p:txBody>
      </p:sp>
      <p:sp>
        <p:nvSpPr>
          <p:cNvPr id="19" name="Text 17"/>
          <p:cNvSpPr/>
          <p:nvPr/>
        </p:nvSpPr>
        <p:spPr>
          <a:xfrm>
            <a:off x="11475720" y="6473952"/>
            <a:ext cx="457200" cy="274320"/>
          </a:xfrm>
          <a:prstGeom prst="rect">
            <a:avLst/>
          </a:prstGeom>
          <a:noFill/>
          <a:ln/>
        </p:spPr>
        <p:txBody>
          <a:bodyPr wrap="square" rtlCol="0" anchor="ctr"/>
          <a:lstStyle/>
          <a:p>
            <a:pPr algn="r" indent="0" marL="0">
              <a:buNone/>
            </a:pPr>
            <a:r>
              <a:rPr lang="en-US" sz="900" dirty="0">
                <a:solidFill>
                  <a:srgbClr val="E2231A"/>
                </a:solidFill>
                <a:latin typeface="Roboto" pitchFamily="34" charset="0"/>
                <a:ea typeface="Roboto" pitchFamily="34" charset="-122"/>
                <a:cs typeface="Roboto" pitchFamily="34" charset="-120"/>
              </a:rPr>
              <a:t>41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1 — Fundamentos, ética y alcance autorizado</dc:title>
  <dc:subject>PptxGenJS Presentation</dc:subject>
  <dc:creator>REDNEET — Capacitación 40 horas CENAC Telemática</dc:creator>
  <cp:lastModifiedBy>REDNEET — Capacitación 40 horas CENAC Telemática</cp:lastModifiedBy>
  <cp:revision>1</cp:revision>
  <dcterms:created xsi:type="dcterms:W3CDTF">2026-08-17T17:55:07Z</dcterms:created>
  <dcterms:modified xsi:type="dcterms:W3CDTF">2026-08-17T17:55:07Z</dcterms:modified>
</cp:coreProperties>
</file>